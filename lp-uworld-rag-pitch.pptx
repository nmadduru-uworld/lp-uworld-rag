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tokens</c:v>
                </c:pt>
              </c:strCache>
            </c:strRef>
          </c:tx>
          <c:spPr>
            <a:solidFill>
              <a:srgbClr val="2F7D5C"/>
            </a:solidFill>
            <a:effectLst/>
          </c:spPr>
          <c:invertIfNegative val="0"/>
          <c:dLbls>
            <c:numFmt formatCode="#,##0" sourceLinked="0"/>
            <c:txPr>
              <a:bodyPr/>
              <a:lstStyle/>
              <a:p>
                <a:pPr>
                  <a:defRPr b="1" i="0" strike="noStrike" sz="1400" u="none">
                    <a:solidFill>
                      <a:srgbClr val="EDEEE7"/>
                    </a:solidFill>
                    <a:latin typeface="Consolas"/>
                  </a:defRPr>
                </a:pPr>
              </a:p>
            </c:txPr>
            <c:showLegendKey val="0"/>
            <c:showVal val="1"/>
            <c:showCatName val="0"/>
            <c:showSerName val="0"/>
            <c:showPercent val="0"/>
            <c:showBubbleSize val="0"/>
            <c:showLeaderLines val="0"/>
          </c:dLbls>
          <c:dPt>
            <c:idx val="0"/>
            <c:invertIfNegative val="0"/>
            <c:bubble3D val="0"/>
            <c:spPr>
              <a:solidFill>
                <a:srgbClr val="2F7D5C"/>
              </a:solidFill>
              <a:effectLst/>
            </c:spPr>
          </c:dPt>
          <c:dPt>
            <c:idx val="1"/>
            <c:invertIfNegative val="0"/>
            <c:bubble3D val="0"/>
            <c:spPr>
              <a:solidFill>
                <a:srgbClr val="B23B3B"/>
              </a:solidFill>
              <a:effectLst/>
            </c:spPr>
          </c:dPt>
          <c:cat>
            <c:multiLvlStrRef>
              <c:f>Sheet1!$A$2:$A$3</c:f>
              <c:multiLvlStrCache>
                <c:ptCount val="2"/>
                <c:lvl>
                  <c:pt idx="0">
                    <c:v>With RAG
(one query)</c:v>
                  </c:pt>
                  <c:pt idx="1">
                    <c:v>Without RAG
(read by hand)</c:v>
                  </c:pt>
                </c:lvl>
              </c:multiLvlStrCache>
            </c:multiLvlStrRef>
          </c:cat>
          <c:val>
            <c:numRef>
              <c:f>Sheet1!$B$2:$B$3</c:f>
              <c:numCache>
                <c:formatCode>General</c:formatCode>
                <c:ptCount val="2"/>
                <c:pt idx="0">
                  <c:v>704</c:v>
                </c:pt>
                <c:pt idx="1">
                  <c:v>15999</c:v>
                </c:pt>
              </c:numCache>
            </c:numRef>
          </c:val>
        </c:ser>
        <c:dLbls>
          <c:numFmt formatCode="#,##0" sourceLinked="0"/>
          <c:txPr>
            <a:bodyPr/>
            <a:lstStyle/>
            <a:p>
              <a:pPr>
                <a:defRPr b="1" i="0" strike="noStrike" sz="1400" u="none">
                  <a:solidFill>
                    <a:srgbClr val="EDEEE7"/>
                  </a:solidFill>
                  <a:latin typeface="Consolas"/>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DEEE7"/>
                </a:solidFill>
                <a:latin typeface="Calibri"/>
              </a:defRPr>
            </a:pPr>
            <a:endParaRPr lang="en-US"/>
          </a:p>
        </c:txPr>
        <c:crossAx val="2094734552"/>
        <c:crosses val="autoZero"/>
        <c:auto val="1"/>
        <c:lblAlgn val="ctr"/>
        <c:noMultiLvlLbl val="1"/>
      </c:catAx>
      <c:valAx>
        <c:axId val="2094734552"/>
        <c:scaling>
          <c:orientation val="minMax"/>
          <c:max val="18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payload tokens</c:v>
                </c:pt>
              </c:strCache>
            </c:strRef>
          </c:tx>
          <c:spPr>
            <a:solidFill>
              <a:srgbClr val="0F8A80"/>
            </a:solidFill>
            <a:effectLst/>
          </c:spPr>
          <c:invertIfNegative val="0"/>
          <c:dLbls>
            <c:numFmt formatCode="#,##0" sourceLinked="0"/>
            <c:txPr>
              <a:bodyPr/>
              <a:lstStyle/>
              <a:p>
                <a:pPr>
                  <a:defRPr b="1" i="0" strike="noStrike" sz="1300" u="none">
                    <a:solidFill>
                      <a:srgbClr val="1A1F1C"/>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Bug fix
chase one endpoint</c:v>
                  </c:pt>
                  <c:pt idx="1">
                    <c:v>Enhancement
keep siblings consistent</c:v>
                  </c:pt>
                  <c:pt idx="2">
                    <c:v>New feature
scope end-to-end</c:v>
                  </c:pt>
                </c:lvl>
              </c:multiLvlStrCache>
            </c:multiLvlStrRef>
          </c:cat>
          <c:val>
            <c:numRef>
              <c:f>Sheet1!$B$2:$B$4</c:f>
              <c:numCache>
                <c:formatCode>General</c:formatCode>
                <c:ptCount val="3"/>
                <c:pt idx="0">
                  <c:v>456</c:v>
                </c:pt>
                <c:pt idx="1">
                  <c:v>1264</c:v>
                </c:pt>
                <c:pt idx="2">
                  <c:v>2590</c:v>
                </c:pt>
              </c:numCache>
            </c:numRef>
          </c:val>
        </c:ser>
        <c:dLbls>
          <c:numFmt formatCode="#,##0" sourceLinked="0"/>
          <c:txPr>
            <a:bodyPr/>
            <a:lstStyle/>
            <a:p>
              <a:pPr>
                <a:defRPr b="1" i="0" strike="noStrike" sz="1300" u="none">
                  <a:solidFill>
                    <a:srgbClr val="1A1F1C"/>
                  </a:solidFill>
                  <a:latin typeface="Consola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55"/>
                </a:solidFill>
                <a:latin typeface="Calibri"/>
              </a:defRPr>
            </a:pPr>
            <a:endParaRPr lang="en-US"/>
          </a:p>
        </c:txPr>
        <c:crossAx val="2094734552"/>
        <c:crosses val="autoZero"/>
        <c:auto val="1"/>
        <c:lblAlgn val="ctr"/>
        <c:noMultiLvlLbl val="1"/>
      </c:catAx>
      <c:valAx>
        <c:axId val="2094734552"/>
        <c:scaling>
          <c:orientation val="minMax"/>
          <c:max val="3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8A907F"/>
            </a:solidFill>
            <a:effectLst/>
          </c:spPr>
          <c:invertIfNegative val="0"/>
          <c:dLbls>
            <c:numFmt formatCode="#,##0" sourceLinked="0"/>
            <c:txPr>
              <a:bodyPr/>
              <a:lstStyle/>
              <a:p>
                <a:pPr>
                  <a:defRPr b="0" i="0" strike="noStrike" sz="1000" u="none">
                    <a:solidFill>
                      <a:srgbClr val="1A1F1C"/>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deep_query payload</c:v>
                  </c:pt>
                  <c:pt idx="1">
                    <c:v>Docs retrieval</c:v>
                  </c:pt>
                  <c:pt idx="2">
                    <c:v>Reports code eval</c:v>
                  </c:pt>
                </c:lvl>
              </c:multiLvlStrCache>
            </c:multiLvlStrRef>
          </c:cat>
          <c:val>
            <c:numRef>
              <c:f>Sheet1!$B$2:$B$4</c:f>
              <c:numCache>
                <c:formatCode>General</c:formatCode>
                <c:ptCount val="3"/>
                <c:pt idx="0">
                  <c:v>14339</c:v>
                </c:pt>
                <c:pt idx="1">
                  <c:v>33973</c:v>
                </c:pt>
                <c:pt idx="2">
                  <c:v>20948</c:v>
                </c:pt>
              </c:numCache>
            </c:numRef>
          </c:val>
        </c:ser>
        <c:ser>
          <c:idx val="1"/>
          <c:order val="1"/>
          <c:tx>
            <c:strRef>
              <c:f>Sheet1!$C$1</c:f>
              <c:strCache>
                <c:ptCount val="1"/>
                <c:pt idx="0">
                  <c:v>After</c:v>
                </c:pt>
              </c:strCache>
            </c:strRef>
          </c:tx>
          <c:spPr>
            <a:solidFill>
              <a:srgbClr val="5B57A6"/>
            </a:solidFill>
            <a:effectLst/>
          </c:spPr>
          <c:invertIfNegative val="0"/>
          <c:dLbls>
            <c:numFmt formatCode="#,##0" sourceLinked="0"/>
            <c:txPr>
              <a:bodyPr/>
              <a:lstStyle/>
              <a:p>
                <a:pPr>
                  <a:defRPr b="0" i="0" strike="noStrike" sz="1000" u="none">
                    <a:solidFill>
                      <a:srgbClr val="1A1F1C"/>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deep_query payload</c:v>
                  </c:pt>
                  <c:pt idx="1">
                    <c:v>Docs retrieval</c:v>
                  </c:pt>
                  <c:pt idx="2">
                    <c:v>Reports code eval</c:v>
                  </c:pt>
                </c:lvl>
              </c:multiLvlStrCache>
            </c:multiLvlStrRef>
          </c:cat>
          <c:val>
            <c:numRef>
              <c:f>Sheet1!$C$2:$C$4</c:f>
              <c:numCache>
                <c:formatCode>General</c:formatCode>
                <c:ptCount val="3"/>
                <c:pt idx="0">
                  <c:v>2938</c:v>
                </c:pt>
                <c:pt idx="1">
                  <c:v>9959</c:v>
                </c:pt>
                <c:pt idx="2">
                  <c:v>13992</c:v>
                </c:pt>
              </c:numCache>
            </c:numRef>
          </c:val>
        </c:ser>
        <c:dLbls>
          <c:numFmt formatCode="#,##0" sourceLinked="0"/>
          <c:txPr>
            <a:bodyPr/>
            <a:lstStyle/>
            <a:p>
              <a:pPr>
                <a:defRPr b="0" i="0" strike="noStrike" sz="1000" u="none">
                  <a:solidFill>
                    <a:srgbClr val="1A1F1C"/>
                  </a:solidFill>
                  <a:latin typeface="Consolas"/>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55"/>
                </a:solidFill>
                <a:latin typeface="Calibri"/>
              </a:defRPr>
            </a:pPr>
            <a:endParaRPr lang="en-US"/>
          </a:p>
        </c:txPr>
        <c:crossAx val="2094734552"/>
        <c:crosses val="autoZero"/>
        <c:auto val="1"/>
        <c:lblAlgn val="ctr"/>
        <c:noMultiLvlLbl val="1"/>
      </c:catAx>
      <c:valAx>
        <c:axId val="2094734552"/>
        <c:scaling>
          <c:orientation val="minMax"/>
          <c:max val="38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A60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laude.ai/code/artifact/39523bd4-0462-4468-98cb-a8fc1d42c67e" TargetMode="External"/><Relationship Id="rId2" Type="http://schemas.openxmlformats.org/officeDocument/2006/relationships/hyperlink" Target="https://claude.ai/code/artifact/39523bd4-0462-4468-98cb-a8fc1d42c67e" TargetMode="External"/><Relationship Id="rId3" Type="http://schemas.openxmlformats.org/officeDocument/2006/relationships/hyperlink" Target="https://claude.ai/code/artifact/4e184a9a-2036-485c-9422-e2f4ee9373f3" TargetMode="External"/><Relationship Id="rId4" Type="http://schemas.openxmlformats.org/officeDocument/2006/relationships/hyperlink" Target="https://claude.ai/code/artifact/4e184a9a-2036-485c-9422-e2f4ee9373f3" TargetMode="External"/><Relationship Id="rId5" Type="http://schemas.openxmlformats.org/officeDocument/2006/relationships/hyperlink" Target="https://claude.ai/code/artifact/2e1b7262-1f8b-495a-a33b-22e4ef5fc062" TargetMode="External"/><Relationship Id="rId6" Type="http://schemas.openxmlformats.org/officeDocument/2006/relationships/hyperlink" Target="https://claude.ai/code/artifact/2e1b7262-1f8b-495a-a33b-22e4ef5fc062" TargetMode="External"/><Relationship Id="rId7" Type="http://schemas.openxmlformats.org/officeDocument/2006/relationships/hyperlink" Target="https://claude.ai/code/artifact/6c610430-8bbd-489c-a66c-44b2cdeaa562" TargetMode="External"/><Relationship Id="rId8" Type="http://schemas.openxmlformats.org/officeDocument/2006/relationships/hyperlink" Target="https://claude.ai/code/artifact/6c610430-8bbd-489c-a66c-44b2cdeaa562" TargetMode="External"/><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822960" y="2011680"/>
            <a:ext cx="10515600" cy="1828800"/>
          </a:xfrm>
          <a:prstGeom prst="rect">
            <a:avLst/>
          </a:prstGeom>
          <a:noFill/>
          <a:ln/>
        </p:spPr>
        <p:txBody>
          <a:bodyPr wrap="square" rtlCol="0" anchor="ctr"/>
          <a:lstStyle/>
          <a:p>
            <a:pPr indent="0" marL="0">
              <a:lnSpc>
                <a:spcPts val="4600"/>
              </a:lnSpc>
              <a:buNone/>
            </a:pPr>
            <a:r>
              <a:rPr lang="en-US" sz="4400" b="1" dirty="0">
                <a:solidFill>
                  <a:srgbClr val="EDEEE7"/>
                </a:solidFill>
                <a:latin typeface="Cambria" pitchFamily="34" charset="0"/>
                <a:ea typeface="Cambria" pitchFamily="34" charset="-122"/>
                <a:cs typeface="Cambria" pitchFamily="34" charset="-120"/>
              </a:rPr>
              <a:t>Ask once. Get the docs and the code that answer it.</a:t>
            </a:r>
            <a:endParaRPr lang="en-US" sz="4400" dirty="0"/>
          </a:p>
        </p:txBody>
      </p:sp>
      <p:sp>
        <p:nvSpPr>
          <p:cNvPr id="3" name="Text 1"/>
          <p:cNvSpPr/>
          <p:nvPr/>
        </p:nvSpPr>
        <p:spPr>
          <a:xfrm>
            <a:off x="841248" y="3886200"/>
            <a:ext cx="10424160" cy="548640"/>
          </a:xfrm>
          <a:prstGeom prst="rect">
            <a:avLst/>
          </a:prstGeom>
          <a:noFill/>
          <a:ln/>
        </p:spPr>
        <p:txBody>
          <a:bodyPr wrap="square" rtlCol="0" anchor="ctr"/>
          <a:lstStyle/>
          <a:p>
            <a:pPr indent="0" marL="0">
              <a:buNone/>
            </a:pPr>
            <a:r>
              <a:rPr lang="en-US" sz="1600" b="1" dirty="0">
                <a:solidFill>
                  <a:srgbClr val="0F8A80"/>
                </a:solidFill>
                <a:latin typeface="Consolas" pitchFamily="34" charset="0"/>
                <a:ea typeface="Consolas" pitchFamily="34" charset="-122"/>
                <a:cs typeface="Consolas" pitchFamily="34" charset="-120"/>
              </a:rPr>
              <a:t>lp-uworld-rag</a:t>
            </a:r>
            <a:pPr indent="0" marL="0">
              <a:buNone/>
            </a:pPr>
            <a:r>
              <a:rPr lang="en-US" sz="1600" dirty="0">
                <a:solidFill>
                  <a:srgbClr val="AEB4A5"/>
                </a:solidFill>
              </a:rPr>
              <a:t>   —   a retrieval system connecting the Learning Platform's Confluence docs to the actual source in each repo</a:t>
            </a:r>
            <a:endParaRPr lang="en-US" sz="1600" dirty="0"/>
          </a:p>
        </p:txBody>
      </p:sp>
      <p:sp>
        <p:nvSpPr>
          <p:cNvPr id="4" name="Text 2"/>
          <p:cNvSpPr/>
          <p:nvPr/>
        </p:nvSpPr>
        <p:spPr>
          <a:xfrm>
            <a:off x="841248" y="5943600"/>
            <a:ext cx="7315200" cy="320040"/>
          </a:xfrm>
          <a:prstGeom prst="rect">
            <a:avLst/>
          </a:prstGeom>
          <a:noFill/>
          <a:ln/>
        </p:spPr>
        <p:txBody>
          <a:bodyPr wrap="square" rtlCol="0" anchor="ctr"/>
          <a:lstStyle/>
          <a:p>
            <a:pPr indent="0" marL="0">
              <a:buNone/>
            </a:pPr>
            <a:r>
              <a:rPr lang="en-US" sz="1100" spc="100" kern="0" dirty="0">
                <a:solidFill>
                  <a:srgbClr val="AEB4A5"/>
                </a:solidFill>
                <a:latin typeface="Consolas" pitchFamily="34" charset="0"/>
                <a:ea typeface="Consolas" pitchFamily="34" charset="-122"/>
                <a:cs typeface="Consolas" pitchFamily="34" charset="-120"/>
              </a:rPr>
              <a:t>Engineering pitch · internal</a:t>
            </a:r>
            <a:endParaRPr lang="en-US" sz="1100" dirty="0"/>
          </a:p>
        </p:txBody>
      </p:sp>
      <p:sp>
        <p:nvSpPr>
          <p:cNvPr id="5" name="Shape 3"/>
          <p:cNvSpPr/>
          <p:nvPr/>
        </p:nvSpPr>
        <p:spPr>
          <a:xfrm>
            <a:off x="841248" y="5029200"/>
            <a:ext cx="182880" cy="182880"/>
          </a:xfrm>
          <a:prstGeom prst="ellipse">
            <a:avLst/>
          </a:prstGeom>
          <a:solidFill>
            <a:srgbClr val="B4892B"/>
          </a:solidFill>
          <a:ln/>
        </p:spPr>
      </p:sp>
      <p:sp>
        <p:nvSpPr>
          <p:cNvPr id="6" name="Shape 4"/>
          <p:cNvSpPr/>
          <p:nvPr/>
        </p:nvSpPr>
        <p:spPr>
          <a:xfrm>
            <a:off x="1152144" y="5029200"/>
            <a:ext cx="182880" cy="182880"/>
          </a:xfrm>
          <a:prstGeom prst="ellipse">
            <a:avLst/>
          </a:prstGeom>
          <a:solidFill>
            <a:srgbClr val="5B57A6"/>
          </a:solidFill>
          <a:ln/>
        </p:spPr>
      </p:sp>
      <p:sp>
        <p:nvSpPr>
          <p:cNvPr id="7" name="Shape 5"/>
          <p:cNvSpPr/>
          <p:nvPr/>
        </p:nvSpPr>
        <p:spPr>
          <a:xfrm>
            <a:off x="1463040" y="5029200"/>
            <a:ext cx="182880" cy="182880"/>
          </a:xfrm>
          <a:prstGeom prst="ellipse">
            <a:avLst/>
          </a:prstGeom>
          <a:solidFill>
            <a:srgbClr val="0F8A8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B23B3B"/>
                </a:solidFill>
                <a:latin typeface="Consolas" pitchFamily="34" charset="0"/>
                <a:ea typeface="Consolas" pitchFamily="34" charset="-122"/>
                <a:cs typeface="Consolas" pitchFamily="34" charset="-120"/>
              </a:rPr>
              <a:t>THE PROBLEM</a:t>
            </a:r>
            <a:endParaRPr lang="en-US" sz="1100" dirty="0"/>
          </a:p>
        </p:txBody>
      </p:sp>
      <p:sp>
        <p:nvSpPr>
          <p:cNvPr id="3" name="Text 1"/>
          <p:cNvSpPr/>
          <p:nvPr/>
        </p:nvSpPr>
        <p:spPr>
          <a:xfrm>
            <a:off x="502920" y="822960"/>
            <a:ext cx="11155680" cy="914400"/>
          </a:xfrm>
          <a:prstGeom prst="rect">
            <a:avLst/>
          </a:prstGeom>
          <a:noFill/>
          <a:ln/>
        </p:spPr>
        <p:txBody>
          <a:bodyPr wrap="square" rtlCol="0" anchor="ctr"/>
          <a:lstStyle/>
          <a:p>
            <a:pPr indent="0" marL="0">
              <a:buNone/>
            </a:pPr>
            <a:r>
              <a:rPr lang="en-US" sz="3200" b="1" dirty="0">
                <a:solidFill>
                  <a:srgbClr val="1A1F1C"/>
                </a:solidFill>
                <a:latin typeface="Cambria" pitchFamily="34" charset="0"/>
                <a:ea typeface="Cambria" pitchFamily="34" charset="-122"/>
                <a:cs typeface="Cambria" pitchFamily="34" charset="-120"/>
              </a:rPr>
              <a:t>Answers live in two places, and neither is searchable together</a:t>
            </a:r>
            <a:endParaRPr lang="en-US" sz="3200" dirty="0"/>
          </a:p>
        </p:txBody>
      </p:sp>
      <p:sp>
        <p:nvSpPr>
          <p:cNvPr id="4" name="Text 2"/>
          <p:cNvSpPr/>
          <p:nvPr/>
        </p:nvSpPr>
        <p:spPr>
          <a:xfrm>
            <a:off x="548640" y="1783080"/>
            <a:ext cx="10789920" cy="640080"/>
          </a:xfrm>
          <a:prstGeom prst="rect">
            <a:avLst/>
          </a:prstGeom>
          <a:noFill/>
          <a:ln/>
        </p:spPr>
        <p:txBody>
          <a:bodyPr wrap="square" rtlCol="0" anchor="ctr"/>
          <a:lstStyle/>
          <a:p>
            <a:pPr indent="0" marL="0">
              <a:buNone/>
            </a:pPr>
            <a:r>
              <a:rPr lang="en-US" sz="1600" dirty="0">
                <a:solidFill>
                  <a:srgbClr val="5A6055"/>
                </a:solidFill>
                <a:latin typeface="Calibri" pitchFamily="34" charset="0"/>
                <a:ea typeface="Calibri" pitchFamily="34" charset="-122"/>
                <a:cs typeface="Calibri" pitchFamily="34" charset="-120"/>
              </a:rPr>
              <a:t>To understand any endpoint you need its documentation (what it should do) and its code (what it actually does). Today those are split across Confluence and four C# projects.</a:t>
            </a:r>
            <a:endParaRPr lang="en-US" sz="1600" dirty="0"/>
          </a:p>
        </p:txBody>
      </p:sp>
      <p:sp>
        <p:nvSpPr>
          <p:cNvPr id="5" name="Shape 3"/>
          <p:cNvSpPr/>
          <p:nvPr/>
        </p:nvSpPr>
        <p:spPr>
          <a:xfrm>
            <a:off x="548640" y="2743200"/>
            <a:ext cx="5257800" cy="2743200"/>
          </a:xfrm>
          <a:prstGeom prst="roundRect">
            <a:avLst>
              <a:gd name="adj" fmla="val 2667"/>
            </a:avLst>
          </a:prstGeom>
          <a:solidFill>
            <a:srgbClr val="F1F3EE"/>
          </a:solidFill>
          <a:ln w="12700">
            <a:solidFill>
              <a:srgbClr val="E2E5DD"/>
            </a:solidFill>
            <a:prstDash val="solid"/>
          </a:ln>
        </p:spPr>
      </p:sp>
      <p:sp>
        <p:nvSpPr>
          <p:cNvPr id="6" name="Shape 4"/>
          <p:cNvSpPr/>
          <p:nvPr/>
        </p:nvSpPr>
        <p:spPr>
          <a:xfrm>
            <a:off x="914400" y="3063240"/>
            <a:ext cx="502920" cy="502920"/>
          </a:xfrm>
          <a:prstGeom prst="ellipse">
            <a:avLst/>
          </a:prstGeom>
          <a:solidFill>
            <a:srgbClr val="B23B3B"/>
          </a:solidFill>
          <a:ln/>
        </p:spPr>
      </p:sp>
      <p:sp>
        <p:nvSpPr>
          <p:cNvPr id="7" name="Text 5"/>
          <p:cNvSpPr/>
          <p:nvPr/>
        </p:nvSpPr>
        <p:spPr>
          <a:xfrm>
            <a:off x="914400" y="3063240"/>
            <a:ext cx="50292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8" name="Text 6"/>
          <p:cNvSpPr/>
          <p:nvPr/>
        </p:nvSpPr>
        <p:spPr>
          <a:xfrm>
            <a:off x="1600200" y="3108960"/>
            <a:ext cx="4023360" cy="457200"/>
          </a:xfrm>
          <a:prstGeom prst="rect">
            <a:avLst/>
          </a:prstGeom>
          <a:noFill/>
          <a:ln/>
        </p:spPr>
        <p:txBody>
          <a:bodyPr wrap="square" rtlCol="0" anchor="ctr"/>
          <a:lstStyle/>
          <a:p>
            <a:pPr indent="0" marL="0">
              <a:buNone/>
            </a:pPr>
            <a:r>
              <a:rPr lang="en-US" sz="1900" b="1" dirty="0">
                <a:solidFill>
                  <a:srgbClr val="B23B3B"/>
                </a:solidFill>
                <a:latin typeface="Cambria" pitchFamily="34" charset="0"/>
                <a:ea typeface="Cambria" pitchFamily="34" charset="-122"/>
                <a:cs typeface="Cambria" pitchFamily="34" charset="-120"/>
              </a:rPr>
              <a:t>Knowledge is scattered</a:t>
            </a:r>
            <a:endParaRPr lang="en-US" sz="1900" dirty="0"/>
          </a:p>
        </p:txBody>
      </p:sp>
      <p:sp>
        <p:nvSpPr>
          <p:cNvPr id="9" name="Text 7"/>
          <p:cNvSpPr/>
          <p:nvPr/>
        </p:nvSpPr>
        <p:spPr>
          <a:xfrm>
            <a:off x="932688" y="3840480"/>
            <a:ext cx="4572000" cy="1463040"/>
          </a:xfrm>
          <a:prstGeom prst="rect">
            <a:avLst/>
          </a:prstGeom>
          <a:noFill/>
          <a:ln/>
        </p:spPr>
        <p:txBody>
          <a:bodyPr wrap="square" rtlCol="0" anchor="ctr"/>
          <a:lstStyle/>
          <a:p>
            <a:pPr indent="0" marL="0">
              <a:lnSpc>
                <a:spcPts val="2000"/>
              </a:lnSpc>
              <a:buNone/>
            </a:pPr>
            <a:r>
              <a:rPr lang="en-US" sz="1450" dirty="0">
                <a:solidFill>
                  <a:srgbClr val="5A6055"/>
                </a:solidFill>
                <a:latin typeface="Calibri" pitchFamily="34" charset="0"/>
                <a:ea typeface="Calibri" pitchFamily="34" charset="-122"/>
                <a:cs typeface="Calibri" pitchFamily="34" charset="-120"/>
              </a:rPr>
              <a:t>A developer — or an AI agent — reads a Confluence page, greps four projects, then opens whole files to find the one method that matters. Every time.</a:t>
            </a:r>
            <a:endParaRPr lang="en-US" sz="1450" dirty="0"/>
          </a:p>
        </p:txBody>
      </p:sp>
      <p:sp>
        <p:nvSpPr>
          <p:cNvPr id="10" name="Shape 8"/>
          <p:cNvSpPr/>
          <p:nvPr/>
        </p:nvSpPr>
        <p:spPr>
          <a:xfrm>
            <a:off x="6172200" y="2743200"/>
            <a:ext cx="5257800" cy="2743200"/>
          </a:xfrm>
          <a:prstGeom prst="roundRect">
            <a:avLst>
              <a:gd name="adj" fmla="val 2667"/>
            </a:avLst>
          </a:prstGeom>
          <a:solidFill>
            <a:srgbClr val="F1F3EE"/>
          </a:solidFill>
          <a:ln w="12700">
            <a:solidFill>
              <a:srgbClr val="E2E5DD"/>
            </a:solidFill>
            <a:prstDash val="solid"/>
          </a:ln>
        </p:spPr>
      </p:sp>
      <p:sp>
        <p:nvSpPr>
          <p:cNvPr id="11" name="Shape 9"/>
          <p:cNvSpPr/>
          <p:nvPr/>
        </p:nvSpPr>
        <p:spPr>
          <a:xfrm>
            <a:off x="6537960" y="3063240"/>
            <a:ext cx="502920" cy="502920"/>
          </a:xfrm>
          <a:prstGeom prst="ellipse">
            <a:avLst/>
          </a:prstGeom>
          <a:solidFill>
            <a:srgbClr val="B23B3B"/>
          </a:solidFill>
          <a:ln/>
        </p:spPr>
      </p:sp>
      <p:sp>
        <p:nvSpPr>
          <p:cNvPr id="12" name="Text 10"/>
          <p:cNvSpPr/>
          <p:nvPr/>
        </p:nvSpPr>
        <p:spPr>
          <a:xfrm>
            <a:off x="6537960" y="3063240"/>
            <a:ext cx="50292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3" name="Text 11"/>
          <p:cNvSpPr/>
          <p:nvPr/>
        </p:nvSpPr>
        <p:spPr>
          <a:xfrm>
            <a:off x="7223760" y="3108960"/>
            <a:ext cx="4023360" cy="457200"/>
          </a:xfrm>
          <a:prstGeom prst="rect">
            <a:avLst/>
          </a:prstGeom>
          <a:noFill/>
          <a:ln/>
        </p:spPr>
        <p:txBody>
          <a:bodyPr wrap="square" rtlCol="0" anchor="ctr"/>
          <a:lstStyle/>
          <a:p>
            <a:pPr indent="0" marL="0">
              <a:buNone/>
            </a:pPr>
            <a:r>
              <a:rPr lang="en-US" sz="1900" b="1" dirty="0">
                <a:solidFill>
                  <a:srgbClr val="B23B3B"/>
                </a:solidFill>
                <a:latin typeface="Cambria" pitchFamily="34" charset="0"/>
                <a:ea typeface="Cambria" pitchFamily="34" charset="-122"/>
                <a:cs typeface="Cambria" pitchFamily="34" charset="-120"/>
              </a:rPr>
              <a:t>Every repo rebuilt the same tool</a:t>
            </a:r>
            <a:endParaRPr lang="en-US" sz="1900" dirty="0"/>
          </a:p>
        </p:txBody>
      </p:sp>
      <p:sp>
        <p:nvSpPr>
          <p:cNvPr id="14" name="Text 12"/>
          <p:cNvSpPr/>
          <p:nvPr/>
        </p:nvSpPr>
        <p:spPr>
          <a:xfrm>
            <a:off x="6556248" y="3840480"/>
            <a:ext cx="4572000" cy="1463040"/>
          </a:xfrm>
          <a:prstGeom prst="rect">
            <a:avLst/>
          </a:prstGeom>
          <a:noFill/>
          <a:ln/>
        </p:spPr>
        <p:txBody>
          <a:bodyPr wrap="square" rtlCol="0" anchor="ctr"/>
          <a:lstStyle/>
          <a:p>
            <a:pPr indent="0" marL="0">
              <a:lnSpc>
                <a:spcPts val="2000"/>
              </a:lnSpc>
              <a:buNone/>
            </a:pPr>
            <a:r>
              <a:rPr lang="en-US" sz="1450" dirty="0">
                <a:solidFill>
                  <a:srgbClr val="5A6055"/>
                </a:solidFill>
                <a:latin typeface="Calibri" pitchFamily="34" charset="0"/>
                <a:ea typeface="Calibri" pitchFamily="34" charset="-122"/>
                <a:cs typeface="Calibri" pitchFamily="34" charset="-120"/>
              </a:rPr>
              <a:t>A repo that wanted its code searchable shipped a full RAG tool in-tree — its own virtualenv, dependencies, ingestion code — cluttering the repo and drifting out of sync.</a:t>
            </a:r>
            <a:endParaRPr lang="en-US" sz="1450" dirty="0"/>
          </a:p>
        </p:txBody>
      </p:sp>
      <p:sp>
        <p:nvSpPr>
          <p:cNvPr id="15" name="Text 13"/>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6" name="Text 14"/>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0F8A80"/>
                </a:solidFill>
                <a:latin typeface="Consolas" pitchFamily="34" charset="0"/>
                <a:ea typeface="Consolas" pitchFamily="34" charset="-122"/>
                <a:cs typeface="Consolas" pitchFamily="34" charset="-120"/>
              </a:rPr>
              <a:t>THE SOLUTION, IN ONE PICTURE</a:t>
            </a:r>
            <a:endParaRPr lang="en-US" sz="1100" dirty="0"/>
          </a:p>
        </p:txBody>
      </p:sp>
      <p:sp>
        <p:nvSpPr>
          <p:cNvPr id="3" name="Text 1"/>
          <p:cNvSpPr/>
          <p:nvPr/>
        </p:nvSpPr>
        <p:spPr>
          <a:xfrm>
            <a:off x="502920" y="822960"/>
            <a:ext cx="11155680" cy="91440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One system: retrieve the docs, find the repo, retrieve the code</a:t>
            </a:r>
            <a:endParaRPr lang="en-US" sz="3000" dirty="0"/>
          </a:p>
        </p:txBody>
      </p:sp>
      <p:sp>
        <p:nvSpPr>
          <p:cNvPr id="4" name="Text 2"/>
          <p:cNvSpPr/>
          <p:nvPr/>
        </p:nvSpPr>
        <p:spPr>
          <a:xfrm>
            <a:off x="548640" y="1783080"/>
            <a:ext cx="10972800" cy="640080"/>
          </a:xfrm>
          <a:prstGeom prst="rect">
            <a:avLst/>
          </a:prstGeom>
          <a:noFill/>
          <a:ln/>
        </p:spPr>
        <p:txBody>
          <a:bodyPr wrap="square" rtlCol="0" anchor="ctr"/>
          <a:lstStyle/>
          <a:p>
            <a:pPr indent="0" marL="0">
              <a:buNone/>
            </a:pPr>
            <a:r>
              <a:rPr lang="en-US" sz="1550" dirty="0">
                <a:solidFill>
                  <a:srgbClr val="5A6055"/>
                </a:solidFill>
                <a:latin typeface="Calibri" pitchFamily="34" charset="0"/>
                <a:ea typeface="Calibri" pitchFamily="34" charset="-122"/>
                <a:cs typeface="Calibri" pitchFamily="34" charset="-120"/>
              </a:rPr>
              <a:t>Both sources are indexed once. A question flows through four stages and returns as a single answer carrying both the documentation and the real code it describes.</a:t>
            </a:r>
            <a:endParaRPr lang="en-US" sz="1550" dirty="0"/>
          </a:p>
        </p:txBody>
      </p:sp>
      <p:sp>
        <p:nvSpPr>
          <p:cNvPr id="5" name="Shape 3"/>
          <p:cNvSpPr/>
          <p:nvPr/>
        </p:nvSpPr>
        <p:spPr>
          <a:xfrm>
            <a:off x="548640" y="2697480"/>
            <a:ext cx="11064240" cy="868680"/>
          </a:xfrm>
          <a:prstGeom prst="roundRect">
            <a:avLst>
              <a:gd name="adj" fmla="val 6316"/>
            </a:avLst>
          </a:prstGeom>
          <a:solidFill>
            <a:srgbClr val="16201B"/>
          </a:solidFill>
          <a:ln/>
        </p:spPr>
      </p:sp>
      <p:sp>
        <p:nvSpPr>
          <p:cNvPr id="6" name="Text 4"/>
          <p:cNvSpPr/>
          <p:nvPr/>
        </p:nvSpPr>
        <p:spPr>
          <a:xfrm>
            <a:off x="822960" y="2697480"/>
            <a:ext cx="10515600" cy="868680"/>
          </a:xfrm>
          <a:prstGeom prst="rect">
            <a:avLst/>
          </a:prstGeom>
          <a:noFill/>
          <a:ln/>
        </p:spPr>
        <p:txBody>
          <a:bodyPr wrap="square" rtlCol="0" anchor="ctr"/>
          <a:lstStyle/>
          <a:p>
            <a:pPr indent="0" marL="0">
              <a:buNone/>
            </a:pPr>
            <a:r>
              <a:rPr lang="en-US" sz="1100" b="1" spc="100" kern="0" dirty="0">
                <a:solidFill>
                  <a:srgbClr val="D9A93A"/>
                </a:solidFill>
                <a:latin typeface="Consolas" pitchFamily="34" charset="0"/>
                <a:ea typeface="Consolas" pitchFamily="34" charset="-122"/>
                <a:cs typeface="Consolas" pitchFamily="34" charset="-120"/>
              </a:rPr>
              <a:t>Indexed once   </a:t>
            </a:r>
            <a:pPr indent="0" marL="0">
              <a:buNone/>
            </a:pPr>
            <a:r>
              <a:rPr lang="en-US" sz="1400" dirty="0">
                <a:solidFill>
                  <a:srgbClr val="EDEEE7"/>
                </a:solidFill>
                <a:latin typeface="Calibri" pitchFamily="34" charset="0"/>
                <a:ea typeface="Calibri" pitchFamily="34" charset="-122"/>
                <a:cs typeface="Calibri" pitchFamily="34" charset="-120"/>
              </a:rPr>
              <a:t>Confluence docs  +  each repo's code (ingested centrally — the repo needs no tool of its own)</a:t>
            </a:r>
            <a:endParaRPr lang="en-US" sz="1100" dirty="0"/>
          </a:p>
        </p:txBody>
      </p:sp>
      <p:sp>
        <p:nvSpPr>
          <p:cNvPr id="7" name="Shape 5"/>
          <p:cNvSpPr/>
          <p:nvPr/>
        </p:nvSpPr>
        <p:spPr>
          <a:xfrm>
            <a:off x="548640" y="3931920"/>
            <a:ext cx="2606040" cy="2103120"/>
          </a:xfrm>
          <a:prstGeom prst="roundRect">
            <a:avLst>
              <a:gd name="adj" fmla="val 3478"/>
            </a:avLst>
          </a:prstGeom>
          <a:solidFill>
            <a:srgbClr val="F1F3EE"/>
          </a:solidFill>
          <a:ln w="12700">
            <a:solidFill>
              <a:srgbClr val="E2E5DD"/>
            </a:solidFill>
            <a:prstDash val="solid"/>
          </a:ln>
        </p:spPr>
      </p:sp>
      <p:sp>
        <p:nvSpPr>
          <p:cNvPr id="8" name="Shape 6"/>
          <p:cNvSpPr/>
          <p:nvPr/>
        </p:nvSpPr>
        <p:spPr>
          <a:xfrm>
            <a:off x="822960" y="4206240"/>
            <a:ext cx="548640" cy="548640"/>
          </a:xfrm>
          <a:prstGeom prst="ellipse">
            <a:avLst/>
          </a:prstGeom>
          <a:solidFill>
            <a:srgbClr val="5B57A6"/>
          </a:solidFill>
          <a:ln/>
        </p:spPr>
      </p:sp>
      <p:sp>
        <p:nvSpPr>
          <p:cNvPr id="9" name="Text 7"/>
          <p:cNvSpPr/>
          <p:nvPr/>
        </p:nvSpPr>
        <p:spPr>
          <a:xfrm>
            <a:off x="822960"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777240"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Retrieve docs</a:t>
            </a:r>
            <a:endParaRPr lang="en-US" sz="1700" dirty="0"/>
          </a:p>
        </p:txBody>
      </p:sp>
      <p:sp>
        <p:nvSpPr>
          <p:cNvPr id="11" name="Text 9"/>
          <p:cNvSpPr/>
          <p:nvPr/>
        </p:nvSpPr>
        <p:spPr>
          <a:xfrm>
            <a:off x="777240"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Find the most relevant documentation</a:t>
            </a:r>
            <a:endParaRPr lang="en-US" sz="1250" dirty="0"/>
          </a:p>
        </p:txBody>
      </p:sp>
      <p:sp>
        <p:nvSpPr>
          <p:cNvPr id="12" name="Text 10"/>
          <p:cNvSpPr/>
          <p:nvPr/>
        </p:nvSpPr>
        <p:spPr>
          <a:xfrm>
            <a:off x="3136392" y="3931920"/>
            <a:ext cx="329184" cy="2103120"/>
          </a:xfrm>
          <a:prstGeom prst="rect">
            <a:avLst/>
          </a:prstGeom>
          <a:noFill/>
          <a:ln/>
        </p:spPr>
        <p:txBody>
          <a:bodyPr wrap="square" rtlCol="0" anchor="ctr"/>
          <a:lstStyle/>
          <a:p>
            <a:pPr algn="ctr" indent="0" marL="0">
              <a:buNone/>
            </a:pPr>
            <a:r>
              <a:rPr lang="en-US" sz="2000" dirty="0">
                <a:solidFill>
                  <a:srgbClr val="8A907F"/>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3447288" y="3931920"/>
            <a:ext cx="2606040" cy="2103120"/>
          </a:xfrm>
          <a:prstGeom prst="roundRect">
            <a:avLst>
              <a:gd name="adj" fmla="val 3478"/>
            </a:avLst>
          </a:prstGeom>
          <a:solidFill>
            <a:srgbClr val="F1F3EE"/>
          </a:solidFill>
          <a:ln w="12700">
            <a:solidFill>
              <a:srgbClr val="E2E5DD"/>
            </a:solidFill>
            <a:prstDash val="solid"/>
          </a:ln>
        </p:spPr>
      </p:sp>
      <p:sp>
        <p:nvSpPr>
          <p:cNvPr id="14" name="Shape 12"/>
          <p:cNvSpPr/>
          <p:nvPr/>
        </p:nvSpPr>
        <p:spPr>
          <a:xfrm>
            <a:off x="3721608" y="4206240"/>
            <a:ext cx="548640" cy="548640"/>
          </a:xfrm>
          <a:prstGeom prst="ellipse">
            <a:avLst/>
          </a:prstGeom>
          <a:solidFill>
            <a:srgbClr val="5B57A6"/>
          </a:solidFill>
          <a:ln/>
        </p:spPr>
      </p:sp>
      <p:sp>
        <p:nvSpPr>
          <p:cNvPr id="15" name="Text 13"/>
          <p:cNvSpPr/>
          <p:nvPr/>
        </p:nvSpPr>
        <p:spPr>
          <a:xfrm>
            <a:off x="3721608"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3675888"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Route</a:t>
            </a:r>
            <a:endParaRPr lang="en-US" sz="1700" dirty="0"/>
          </a:p>
        </p:txBody>
      </p:sp>
      <p:sp>
        <p:nvSpPr>
          <p:cNvPr id="17" name="Text 15"/>
          <p:cNvSpPr/>
          <p:nvPr/>
        </p:nvSpPr>
        <p:spPr>
          <a:xfrm>
            <a:off x="3675888"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Read which repo it's about — from the id, no guessing</a:t>
            </a:r>
            <a:endParaRPr lang="en-US" sz="1250" dirty="0"/>
          </a:p>
        </p:txBody>
      </p:sp>
      <p:sp>
        <p:nvSpPr>
          <p:cNvPr id="18" name="Text 16"/>
          <p:cNvSpPr/>
          <p:nvPr/>
        </p:nvSpPr>
        <p:spPr>
          <a:xfrm>
            <a:off x="6035040" y="3931920"/>
            <a:ext cx="329184" cy="2103120"/>
          </a:xfrm>
          <a:prstGeom prst="rect">
            <a:avLst/>
          </a:prstGeom>
          <a:noFill/>
          <a:ln/>
        </p:spPr>
        <p:txBody>
          <a:bodyPr wrap="square" rtlCol="0" anchor="ctr"/>
          <a:lstStyle/>
          <a:p>
            <a:pPr algn="ctr" indent="0" marL="0">
              <a:buNone/>
            </a:pPr>
            <a:r>
              <a:rPr lang="en-US" sz="2000" dirty="0">
                <a:solidFill>
                  <a:srgbClr val="8A907F"/>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345936" y="3931920"/>
            <a:ext cx="2606040" cy="2103120"/>
          </a:xfrm>
          <a:prstGeom prst="roundRect">
            <a:avLst>
              <a:gd name="adj" fmla="val 3478"/>
            </a:avLst>
          </a:prstGeom>
          <a:solidFill>
            <a:srgbClr val="F1F3EE"/>
          </a:solidFill>
          <a:ln w="12700">
            <a:solidFill>
              <a:srgbClr val="E2E5DD"/>
            </a:solidFill>
            <a:prstDash val="solid"/>
          </a:ln>
        </p:spPr>
      </p:sp>
      <p:sp>
        <p:nvSpPr>
          <p:cNvPr id="20" name="Shape 18"/>
          <p:cNvSpPr/>
          <p:nvPr/>
        </p:nvSpPr>
        <p:spPr>
          <a:xfrm>
            <a:off x="6620256" y="4206240"/>
            <a:ext cx="548640" cy="548640"/>
          </a:xfrm>
          <a:prstGeom prst="ellipse">
            <a:avLst/>
          </a:prstGeom>
          <a:solidFill>
            <a:srgbClr val="0F8A80"/>
          </a:solidFill>
          <a:ln/>
        </p:spPr>
      </p:sp>
      <p:sp>
        <p:nvSpPr>
          <p:cNvPr id="21" name="Text 19"/>
          <p:cNvSpPr/>
          <p:nvPr/>
        </p:nvSpPr>
        <p:spPr>
          <a:xfrm>
            <a:off x="6620256"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20"/>
          <p:cNvSpPr/>
          <p:nvPr/>
        </p:nvSpPr>
        <p:spPr>
          <a:xfrm>
            <a:off x="6574536"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Retrieve code</a:t>
            </a:r>
            <a:endParaRPr lang="en-US" sz="1700" dirty="0"/>
          </a:p>
        </p:txBody>
      </p:sp>
      <p:sp>
        <p:nvSpPr>
          <p:cNvPr id="23" name="Text 21"/>
          <p:cNvSpPr/>
          <p:nvPr/>
        </p:nvSpPr>
        <p:spPr>
          <a:xfrm>
            <a:off x="6574536"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Pull the actual methods from that repo</a:t>
            </a:r>
            <a:endParaRPr lang="en-US" sz="1250" dirty="0"/>
          </a:p>
        </p:txBody>
      </p:sp>
      <p:sp>
        <p:nvSpPr>
          <p:cNvPr id="24" name="Text 22"/>
          <p:cNvSpPr/>
          <p:nvPr/>
        </p:nvSpPr>
        <p:spPr>
          <a:xfrm>
            <a:off x="8933688" y="3931920"/>
            <a:ext cx="329184" cy="2103120"/>
          </a:xfrm>
          <a:prstGeom prst="rect">
            <a:avLst/>
          </a:prstGeom>
          <a:noFill/>
          <a:ln/>
        </p:spPr>
        <p:txBody>
          <a:bodyPr wrap="square" rtlCol="0" anchor="ctr"/>
          <a:lstStyle/>
          <a:p>
            <a:pPr algn="ctr" indent="0" marL="0">
              <a:buNone/>
            </a:pPr>
            <a:r>
              <a:rPr lang="en-US" sz="2000" dirty="0">
                <a:solidFill>
                  <a:srgbClr val="8A907F"/>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244584" y="3931920"/>
            <a:ext cx="2606040" cy="2103120"/>
          </a:xfrm>
          <a:prstGeom prst="roundRect">
            <a:avLst>
              <a:gd name="adj" fmla="val 3478"/>
            </a:avLst>
          </a:prstGeom>
          <a:solidFill>
            <a:srgbClr val="F1F3EE"/>
          </a:solidFill>
          <a:ln w="12700">
            <a:solidFill>
              <a:srgbClr val="E2E5DD"/>
            </a:solidFill>
            <a:prstDash val="solid"/>
          </a:ln>
        </p:spPr>
      </p:sp>
      <p:sp>
        <p:nvSpPr>
          <p:cNvPr id="26" name="Shape 24"/>
          <p:cNvSpPr/>
          <p:nvPr/>
        </p:nvSpPr>
        <p:spPr>
          <a:xfrm>
            <a:off x="9518904" y="4206240"/>
            <a:ext cx="548640" cy="548640"/>
          </a:xfrm>
          <a:prstGeom prst="ellipse">
            <a:avLst/>
          </a:prstGeom>
          <a:solidFill>
            <a:srgbClr val="2F7D5C"/>
          </a:solidFill>
          <a:ln/>
        </p:spPr>
      </p:sp>
      <p:sp>
        <p:nvSpPr>
          <p:cNvPr id="27" name="Text 25"/>
          <p:cNvSpPr/>
          <p:nvPr/>
        </p:nvSpPr>
        <p:spPr>
          <a:xfrm>
            <a:off x="9518904"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6"/>
          <p:cNvSpPr/>
          <p:nvPr/>
        </p:nvSpPr>
        <p:spPr>
          <a:xfrm>
            <a:off x="9473184"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Assemble</a:t>
            </a:r>
            <a:endParaRPr lang="en-US" sz="1700" dirty="0"/>
          </a:p>
        </p:txBody>
      </p:sp>
      <p:sp>
        <p:nvSpPr>
          <p:cNvPr id="29" name="Text 27"/>
          <p:cNvSpPr/>
          <p:nvPr/>
        </p:nvSpPr>
        <p:spPr>
          <a:xfrm>
            <a:off x="9473184"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One compact answer, shaped to a token budget</a:t>
            </a:r>
            <a:endParaRPr lang="en-US" sz="1250" dirty="0"/>
          </a:p>
        </p:txBody>
      </p:sp>
      <p:sp>
        <p:nvSpPr>
          <p:cNvPr id="30" name="Text 28"/>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31" name="Text 29"/>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100" b="1" spc="200" kern="0" dirty="0">
                <a:solidFill>
                  <a:srgbClr val="B4892B"/>
                </a:solidFill>
                <a:latin typeface="Consolas" pitchFamily="34" charset="0"/>
                <a:ea typeface="Consolas" pitchFamily="34" charset="-122"/>
                <a:cs typeface="Consolas" pitchFamily="34" charset="-120"/>
              </a:rPr>
              <a:t>CASE STUDY · A REAL BUG HUNT</a:t>
            </a:r>
            <a:endParaRPr lang="en-US" sz="1100" dirty="0"/>
          </a:p>
        </p:txBody>
      </p:sp>
      <p:sp>
        <p:nvSpPr>
          <p:cNvPr id="3" name="Text 1"/>
          <p:cNvSpPr/>
          <p:nvPr/>
        </p:nvSpPr>
        <p:spPr>
          <a:xfrm>
            <a:off x="502920" y="777240"/>
            <a:ext cx="11155680" cy="914400"/>
          </a:xfrm>
          <a:prstGeom prst="rect">
            <a:avLst/>
          </a:prstGeom>
          <a:noFill/>
          <a:ln/>
        </p:spPr>
        <p:txBody>
          <a:bodyPr wrap="square" rtlCol="0" anchor="ctr"/>
          <a:lstStyle/>
          <a:p>
            <a:pPr indent="0" marL="0">
              <a:buNone/>
            </a:pPr>
            <a:r>
              <a:rPr lang="en-US" sz="2500" b="1" i="1" dirty="0">
                <a:solidFill>
                  <a:srgbClr val="1A1F1C"/>
                </a:solidFill>
                <a:latin typeface="Cambria" pitchFamily="34" charset="0"/>
                <a:ea typeface="Cambria" pitchFamily="34" charset="-122"/>
                <a:cs typeface="Cambria" pitchFamily="34" charset="-120"/>
              </a:rPr>
              <a:t>“Why does faculty-led group-performance return null for a valid group id?”</a:t>
            </a:r>
            <a:endParaRPr lang="en-US" sz="2500" dirty="0"/>
          </a:p>
        </p:txBody>
      </p:sp>
      <p:sp>
        <p:nvSpPr>
          <p:cNvPr id="4" name="Shape 2"/>
          <p:cNvSpPr/>
          <p:nvPr/>
        </p:nvSpPr>
        <p:spPr>
          <a:xfrm>
            <a:off x="548640" y="1965960"/>
            <a:ext cx="457200" cy="457200"/>
          </a:xfrm>
          <a:prstGeom prst="ellipse">
            <a:avLst/>
          </a:prstGeom>
          <a:solidFill>
            <a:srgbClr val="5B57A6"/>
          </a:solidFill>
          <a:ln/>
        </p:spPr>
      </p:sp>
      <p:sp>
        <p:nvSpPr>
          <p:cNvPr id="5" name="Text 3"/>
          <p:cNvSpPr/>
          <p:nvPr/>
        </p:nvSpPr>
        <p:spPr>
          <a:xfrm>
            <a:off x="54864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143000" y="1947672"/>
            <a:ext cx="4389120" cy="32004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Docs hit</a:t>
            </a:r>
            <a:endParaRPr lang="en-US" sz="1500" dirty="0"/>
          </a:p>
        </p:txBody>
      </p:sp>
      <p:sp>
        <p:nvSpPr>
          <p:cNvPr id="7" name="Text 5"/>
          <p:cNvSpPr/>
          <p:nvPr/>
        </p:nvSpPr>
        <p:spPr>
          <a:xfrm>
            <a:off x="1143000" y="2258568"/>
            <a:ext cx="4572000" cy="640080"/>
          </a:xfrm>
          <a:prstGeom prst="rect">
            <a:avLst/>
          </a:prstGeom>
          <a:noFill/>
          <a:ln/>
        </p:spPr>
        <p:txBody>
          <a:bodyPr wrap="square" rtlCol="0" anchor="ctr"/>
          <a:lstStyle/>
          <a:p>
            <a:pPr indent="0" marL="0">
              <a:lnSpc>
                <a:spcPts val="1500"/>
              </a:lnSpc>
              <a:buNone/>
            </a:pPr>
            <a:r>
              <a:rPr lang="en-US" sz="1250" dirty="0">
                <a:solidFill>
                  <a:srgbClr val="5A6055"/>
                </a:solidFill>
                <a:latin typeface="Calibri" pitchFamily="34" charset="0"/>
                <a:ea typeface="Calibri" pitchFamily="34" charset="-122"/>
                <a:cs typeface="Calibri" pitchFamily="34" charset="-120"/>
              </a:rPr>
              <a:t>The endpoint's doc says id 0 is rejected — but is silent on a valid id with no data. Its Flow section cites the exact source lines.</a:t>
            </a:r>
            <a:endParaRPr lang="en-US" sz="1250" dirty="0"/>
          </a:p>
        </p:txBody>
      </p:sp>
      <p:sp>
        <p:nvSpPr>
          <p:cNvPr id="8" name="Shape 6"/>
          <p:cNvSpPr/>
          <p:nvPr/>
        </p:nvSpPr>
        <p:spPr>
          <a:xfrm>
            <a:off x="548640" y="2926080"/>
            <a:ext cx="457200" cy="457200"/>
          </a:xfrm>
          <a:prstGeom prst="ellipse">
            <a:avLst/>
          </a:prstGeom>
          <a:solidFill>
            <a:srgbClr val="5B57A6"/>
          </a:solidFill>
          <a:ln/>
        </p:spPr>
      </p:sp>
      <p:sp>
        <p:nvSpPr>
          <p:cNvPr id="9" name="Text 7"/>
          <p:cNvSpPr/>
          <p:nvPr/>
        </p:nvSpPr>
        <p:spPr>
          <a:xfrm>
            <a:off x="548640" y="29260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143000" y="2907792"/>
            <a:ext cx="4389120" cy="32004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Route</a:t>
            </a:r>
            <a:endParaRPr lang="en-US" sz="1500" dirty="0"/>
          </a:p>
        </p:txBody>
      </p:sp>
      <p:sp>
        <p:nvSpPr>
          <p:cNvPr id="11" name="Text 9"/>
          <p:cNvSpPr/>
          <p:nvPr/>
        </p:nvSpPr>
        <p:spPr>
          <a:xfrm>
            <a:off x="1143000" y="3218688"/>
            <a:ext cx="4572000" cy="640080"/>
          </a:xfrm>
          <a:prstGeom prst="rect">
            <a:avLst/>
          </a:prstGeom>
          <a:noFill/>
          <a:ln/>
        </p:spPr>
        <p:txBody>
          <a:bodyPr wrap="square" rtlCol="0" anchor="ctr"/>
          <a:lstStyle/>
          <a:p>
            <a:pPr indent="0" marL="0">
              <a:lnSpc>
                <a:spcPts val="1500"/>
              </a:lnSpc>
              <a:buNone/>
            </a:pPr>
            <a:r>
              <a:rPr lang="en-US" sz="1250" dirty="0">
                <a:solidFill>
                  <a:srgbClr val="5A6055"/>
                </a:solidFill>
                <a:latin typeface="Calibri" pitchFamily="34" charset="0"/>
                <a:ea typeface="Calibri" pitchFamily="34" charset="-122"/>
                <a:cs typeface="Calibri" pitchFamily="34" charset="-120"/>
              </a:rPr>
              <a:t>The id starts ep::reports:: → open the reports code index. No intent guessing.</a:t>
            </a:r>
            <a:endParaRPr lang="en-US" sz="1250" dirty="0"/>
          </a:p>
        </p:txBody>
      </p:sp>
      <p:sp>
        <p:nvSpPr>
          <p:cNvPr id="12" name="Shape 10"/>
          <p:cNvSpPr/>
          <p:nvPr/>
        </p:nvSpPr>
        <p:spPr>
          <a:xfrm>
            <a:off x="548640" y="3886200"/>
            <a:ext cx="457200" cy="457200"/>
          </a:xfrm>
          <a:prstGeom prst="ellipse">
            <a:avLst/>
          </a:prstGeom>
          <a:solidFill>
            <a:srgbClr val="0F8A80"/>
          </a:solidFill>
          <a:ln/>
        </p:spPr>
      </p:sp>
      <p:sp>
        <p:nvSpPr>
          <p:cNvPr id="13" name="Text 11"/>
          <p:cNvSpPr/>
          <p:nvPr/>
        </p:nvSpPr>
        <p:spPr>
          <a:xfrm>
            <a:off x="548640" y="38862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143000" y="3867912"/>
            <a:ext cx="4389120" cy="32004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Code hit</a:t>
            </a:r>
            <a:endParaRPr lang="en-US" sz="1500" dirty="0"/>
          </a:p>
        </p:txBody>
      </p:sp>
      <p:sp>
        <p:nvSpPr>
          <p:cNvPr id="15" name="Text 13"/>
          <p:cNvSpPr/>
          <p:nvPr/>
        </p:nvSpPr>
        <p:spPr>
          <a:xfrm>
            <a:off x="1143000" y="4178808"/>
            <a:ext cx="4572000" cy="640080"/>
          </a:xfrm>
          <a:prstGeom prst="rect">
            <a:avLst/>
          </a:prstGeom>
          <a:noFill/>
          <a:ln/>
        </p:spPr>
        <p:txBody>
          <a:bodyPr wrap="square" rtlCol="0" anchor="ctr"/>
          <a:lstStyle/>
          <a:p>
            <a:pPr indent="0" marL="0">
              <a:lnSpc>
                <a:spcPts val="1500"/>
              </a:lnSpc>
              <a:buNone/>
            </a:pPr>
            <a:r>
              <a:rPr lang="en-US" sz="1250" dirty="0">
                <a:solidFill>
                  <a:srgbClr val="5A6055"/>
                </a:solidFill>
                <a:latin typeface="Calibri" pitchFamily="34" charset="0"/>
                <a:ea typeface="Calibri" pitchFamily="34" charset="-122"/>
                <a:cs typeface="Calibri" pitchFamily="34" charset="-120"/>
              </a:rPr>
              <a:t>The top chunk is the controller method itself, pulled from the code store.</a:t>
            </a:r>
            <a:endParaRPr lang="en-US" sz="1250" dirty="0"/>
          </a:p>
        </p:txBody>
      </p:sp>
      <p:sp>
        <p:nvSpPr>
          <p:cNvPr id="16" name="Shape 14"/>
          <p:cNvSpPr/>
          <p:nvPr/>
        </p:nvSpPr>
        <p:spPr>
          <a:xfrm>
            <a:off x="6035040" y="1920240"/>
            <a:ext cx="5577840" cy="1783080"/>
          </a:xfrm>
          <a:prstGeom prst="roundRect">
            <a:avLst>
              <a:gd name="adj" fmla="val 3077"/>
            </a:avLst>
          </a:prstGeom>
          <a:solidFill>
            <a:srgbClr val="16201B"/>
          </a:solidFill>
          <a:ln/>
        </p:spPr>
      </p:sp>
      <p:sp>
        <p:nvSpPr>
          <p:cNvPr id="17" name="Text 15"/>
          <p:cNvSpPr/>
          <p:nvPr/>
        </p:nvSpPr>
        <p:spPr>
          <a:xfrm>
            <a:off x="6263640" y="2057400"/>
            <a:ext cx="5212080" cy="1554480"/>
          </a:xfrm>
          <a:prstGeom prst="rect">
            <a:avLst/>
          </a:prstGeom>
          <a:noFill/>
          <a:ln/>
        </p:spPr>
        <p:txBody>
          <a:bodyPr wrap="square" rtlCol="0" anchor="t"/>
          <a:lstStyle/>
          <a:p>
            <a:pPr indent="0" marL="0">
              <a:lnSpc>
                <a:spcPts val="1500"/>
              </a:lnSpc>
              <a:buNone/>
            </a:pPr>
            <a:r>
              <a:rPr lang="en-US" sz="1150" dirty="0">
                <a:solidFill>
                  <a:srgbClr val="AEB4A5"/>
                </a:solidFill>
                <a:latin typeface="Consolas" pitchFamily="34" charset="0"/>
                <a:ea typeface="Consolas" pitchFamily="34" charset="-122"/>
                <a:cs typeface="Consolas" pitchFamily="34" charset="-120"/>
              </a:rPr>
              <a:t>// FacultyLedPerformanceController.cs  (24–31)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public object GetFacultyLedGroupPerformance(req)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
</a:t>
            </a:r>
            <a:pPr indent="0" marL="0">
              <a:lnSpc>
                <a:spcPts val="1500"/>
              </a:lnSpc>
              <a:buNone/>
            </a:pPr>
            <a:r>
              <a:rPr lang="en-US" sz="1150" dirty="0">
                <a:solidFill>
                  <a:srgbClr val="9E9BE0"/>
                </a:solidFill>
                <a:latin typeface="Consolas" pitchFamily="34" charset="0"/>
                <a:ea typeface="Consolas" pitchFamily="34" charset="-122"/>
                <a:cs typeface="Consolas" pitchFamily="34" charset="-120"/>
              </a:rPr>
              <a:t>    if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(req.GroupId &lt; 1)
</a:t>
            </a:r>
            <a:pPr indent="0" marL="0">
              <a:lnSpc>
                <a:spcPts val="1500"/>
              </a:lnSpc>
              <a:buNone/>
            </a:pPr>
            <a:r>
              <a:rPr lang="en-US" sz="1150" dirty="0">
                <a:solidFill>
                  <a:srgbClr val="9E9BE0"/>
                </a:solidFill>
                <a:latin typeface="Consolas" pitchFamily="34" charset="0"/>
                <a:ea typeface="Consolas" pitchFamily="34" charset="-122"/>
                <a:cs typeface="Consolas" pitchFamily="34" charset="-120"/>
              </a:rPr>
              <a:t>        throw new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CustomException(...);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    return _service.Get...(req);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a:t>
            </a:r>
            <a:endParaRPr lang="en-US" sz="1150" dirty="0"/>
          </a:p>
        </p:txBody>
      </p:sp>
      <p:sp>
        <p:nvSpPr>
          <p:cNvPr id="18" name="Shape 16"/>
          <p:cNvSpPr/>
          <p:nvPr/>
        </p:nvSpPr>
        <p:spPr>
          <a:xfrm>
            <a:off x="6035040" y="3886200"/>
            <a:ext cx="5577840" cy="2148840"/>
          </a:xfrm>
          <a:prstGeom prst="roundRect">
            <a:avLst>
              <a:gd name="adj" fmla="val 2553"/>
            </a:avLst>
          </a:prstGeom>
          <a:solidFill>
            <a:srgbClr val="E4F2EA"/>
          </a:solidFill>
          <a:ln w="12700">
            <a:solidFill>
              <a:srgbClr val="BFE0CE"/>
            </a:solidFill>
            <a:prstDash val="solid"/>
          </a:ln>
        </p:spPr>
      </p:sp>
      <p:sp>
        <p:nvSpPr>
          <p:cNvPr id="19" name="Text 17"/>
          <p:cNvSpPr/>
          <p:nvPr/>
        </p:nvSpPr>
        <p:spPr>
          <a:xfrm>
            <a:off x="6263640" y="4023360"/>
            <a:ext cx="4572000" cy="274320"/>
          </a:xfrm>
          <a:prstGeom prst="rect">
            <a:avLst/>
          </a:prstGeom>
          <a:noFill/>
          <a:ln/>
        </p:spPr>
        <p:txBody>
          <a:bodyPr wrap="square" rtlCol="0" anchor="ctr"/>
          <a:lstStyle/>
          <a:p>
            <a:pPr indent="0" marL="0">
              <a:buNone/>
            </a:pPr>
            <a:r>
              <a:rPr lang="en-US" sz="1000" b="1" spc="100" kern="0" dirty="0">
                <a:solidFill>
                  <a:srgbClr val="2F7D5C"/>
                </a:solidFill>
                <a:latin typeface="Consolas" pitchFamily="34" charset="0"/>
                <a:ea typeface="Consolas" pitchFamily="34" charset="-122"/>
                <a:cs typeface="Consolas" pitchFamily="34" charset="-120"/>
              </a:rPr>
              <a:t>THE ANSWER</a:t>
            </a:r>
            <a:endParaRPr lang="en-US" sz="1000" dirty="0"/>
          </a:p>
        </p:txBody>
      </p:sp>
      <p:sp>
        <p:nvSpPr>
          <p:cNvPr id="20" name="Text 18"/>
          <p:cNvSpPr/>
          <p:nvPr/>
        </p:nvSpPr>
        <p:spPr>
          <a:xfrm>
            <a:off x="6263640" y="4343400"/>
            <a:ext cx="5166360" cy="1600200"/>
          </a:xfrm>
          <a:prstGeom prst="rect">
            <a:avLst/>
          </a:prstGeom>
          <a:noFill/>
          <a:ln/>
        </p:spPr>
        <p:txBody>
          <a:bodyPr wrap="square" rtlCol="0" anchor="ctr"/>
          <a:lstStyle/>
          <a:p>
            <a:pPr indent="0" marL="0">
              <a:lnSpc>
                <a:spcPts val="1700"/>
              </a:lnSpc>
              <a:buNone/>
            </a:pPr>
            <a:r>
              <a:rPr lang="en-US" sz="1300" dirty="0">
                <a:solidFill>
                  <a:srgbClr val="1F3D2E"/>
                </a:solidFill>
                <a:latin typeface="Calibri" pitchFamily="34" charset="0"/>
                <a:ea typeface="Calibri" pitchFamily="34" charset="-122"/>
                <a:cs typeface="Calibri" pitchFamily="34" charset="-120"/>
              </a:rPr>
              <a:t>The controller only rejects an id below 1. A valid id with no matching document isn't an error — it flows to the repository, which filters MongoDB and returns empty. There's no “does this group exist?” check, so “valid id, no data” and “real empty report” look identical. That's the null — and docs alone wouldn't show it, code alone wouldn't explain it.</a:t>
            </a:r>
            <a:endParaRPr lang="en-US" sz="1300" dirty="0"/>
          </a:p>
        </p:txBody>
      </p:sp>
      <p:sp>
        <p:nvSpPr>
          <p:cNvPr id="21" name="Text 19"/>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2" name="Text 20"/>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D9A93A"/>
                </a:solidFill>
                <a:latin typeface="Consolas" pitchFamily="34" charset="0"/>
                <a:ea typeface="Consolas" pitchFamily="34" charset="-122"/>
                <a:cs typeface="Consolas" pitchFamily="34" charset="-120"/>
              </a:rPr>
              <a:t>WHY THIS EXISTS · WITH RAG VS WITHOUT</a:t>
            </a:r>
            <a:endParaRPr lang="en-US" sz="1100" dirty="0"/>
          </a:p>
        </p:txBody>
      </p:sp>
      <p:sp>
        <p:nvSpPr>
          <p:cNvPr id="3" name="Text 1"/>
          <p:cNvSpPr/>
          <p:nvPr/>
        </p:nvSpPr>
        <p:spPr>
          <a:xfrm>
            <a:off x="502920" y="868680"/>
            <a:ext cx="10972800" cy="822960"/>
          </a:xfrm>
          <a:prstGeom prst="rect">
            <a:avLst/>
          </a:prstGeom>
          <a:noFill/>
          <a:ln/>
        </p:spPr>
        <p:txBody>
          <a:bodyPr wrap="square" rtlCol="0" anchor="ctr"/>
          <a:lstStyle/>
          <a:p>
            <a:pPr indent="0" marL="0">
              <a:buNone/>
            </a:pPr>
            <a:r>
              <a:rPr lang="en-US" sz="3200" b="1" dirty="0">
                <a:solidFill>
                  <a:srgbClr val="EDEEE7"/>
                </a:solidFill>
                <a:latin typeface="Cambria" pitchFamily="34" charset="0"/>
                <a:ea typeface="Cambria" pitchFamily="34" charset="-122"/>
                <a:cs typeface="Cambria" pitchFamily="34" charset="-120"/>
              </a:rPr>
              <a:t>Same answer, a fraction of the context</a:t>
            </a:r>
            <a:endParaRPr lang="en-US" sz="3200" dirty="0"/>
          </a:p>
        </p:txBody>
      </p:sp>
      <p:sp>
        <p:nvSpPr>
          <p:cNvPr id="4" name="Text 2"/>
          <p:cNvSpPr/>
          <p:nvPr/>
        </p:nvSpPr>
        <p:spPr>
          <a:xfrm>
            <a:off x="548640" y="1737360"/>
            <a:ext cx="7406640" cy="1005840"/>
          </a:xfrm>
          <a:prstGeom prst="rect">
            <a:avLst/>
          </a:prstGeom>
          <a:noFill/>
          <a:ln/>
        </p:spPr>
        <p:txBody>
          <a:bodyPr wrap="square" rtlCol="0" anchor="ctr"/>
          <a:lstStyle/>
          <a:p>
            <a:pPr indent="0" marL="0">
              <a:lnSpc>
                <a:spcPts val="2000"/>
              </a:lnSpc>
              <a:buNone/>
            </a:pPr>
            <a:r>
              <a:rPr lang="en-US" sz="1500" dirty="0">
                <a:solidFill>
                  <a:srgbClr val="AEB4A5"/>
                </a:solidFill>
                <a:latin typeface="Calibri" pitchFamily="34" charset="0"/>
                <a:ea typeface="Calibri" pitchFamily="34" charset="-122"/>
                <a:cs typeface="Calibri" pitchFamily="34" charset="-120"/>
              </a:rPr>
              <a:t>Answering that one question by hand means loading the Confluence page plus the controller, repository and entity source files into context. With the system, you get just the relevant chunks.</a:t>
            </a:r>
            <a:endParaRPr lang="en-US" sz="1500" dirty="0"/>
          </a:p>
        </p:txBody>
      </p:sp>
      <p:sp>
        <p:nvSpPr>
          <p:cNvPr id="5" name="Text 3"/>
          <p:cNvSpPr/>
          <p:nvPr/>
        </p:nvSpPr>
        <p:spPr>
          <a:xfrm>
            <a:off x="8138160" y="1600200"/>
            <a:ext cx="3474720" cy="1188720"/>
          </a:xfrm>
          <a:prstGeom prst="rect">
            <a:avLst/>
          </a:prstGeom>
          <a:noFill/>
          <a:ln/>
        </p:spPr>
        <p:txBody>
          <a:bodyPr wrap="square" rtlCol="0" anchor="ctr"/>
          <a:lstStyle/>
          <a:p>
            <a:pPr algn="ctr" indent="0" marL="0">
              <a:buNone/>
            </a:pPr>
            <a:r>
              <a:rPr lang="en-US" sz="6600" b="1" dirty="0">
                <a:solidFill>
                  <a:srgbClr val="D9A93A"/>
                </a:solidFill>
                <a:latin typeface="Cambria" pitchFamily="34" charset="0"/>
                <a:ea typeface="Cambria" pitchFamily="34" charset="-122"/>
                <a:cs typeface="Cambria" pitchFamily="34" charset="-120"/>
              </a:rPr>
              <a:t>22.7×</a:t>
            </a:r>
            <a:endParaRPr lang="en-US" sz="6600" dirty="0"/>
          </a:p>
        </p:txBody>
      </p:sp>
      <p:sp>
        <p:nvSpPr>
          <p:cNvPr id="6" name="Text 4"/>
          <p:cNvSpPr/>
          <p:nvPr/>
        </p:nvSpPr>
        <p:spPr>
          <a:xfrm>
            <a:off x="8138160" y="2743200"/>
            <a:ext cx="3474720" cy="365760"/>
          </a:xfrm>
          <a:prstGeom prst="rect">
            <a:avLst/>
          </a:prstGeom>
          <a:noFill/>
          <a:ln/>
        </p:spPr>
        <p:txBody>
          <a:bodyPr wrap="square" rtlCol="0" anchor="ctr"/>
          <a:lstStyle/>
          <a:p>
            <a:pPr algn="ctr" indent="0" marL="0">
              <a:buNone/>
            </a:pPr>
            <a:r>
              <a:rPr lang="en-US" sz="1300" dirty="0">
                <a:solidFill>
                  <a:srgbClr val="AEB4A5"/>
                </a:solidFill>
                <a:latin typeface="Calibri" pitchFamily="34" charset="0"/>
                <a:ea typeface="Calibri" pitchFamily="34" charset="-122"/>
                <a:cs typeface="Calibri" pitchFamily="34" charset="-120"/>
              </a:rPr>
              <a:t>less context for the same answer</a:t>
            </a:r>
            <a:endParaRPr lang="en-US" sz="1300" dirty="0"/>
          </a:p>
        </p:txBody>
      </p:sp>
      <p:graphicFrame>
        <p:nvGraphicFramePr>
          <p:cNvPr id="7" name="Chart 0" descr=""/>
          <p:cNvGraphicFramePr/>
          <p:nvPr/>
        </p:nvGraphicFramePr>
        <p:xfrm>
          <a:off x="548640" y="3108960"/>
          <a:ext cx="1106424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6172200"/>
            <a:ext cx="11064240" cy="320040"/>
          </a:xfrm>
          <a:prstGeom prst="rect">
            <a:avLst/>
          </a:prstGeom>
          <a:noFill/>
          <a:ln/>
        </p:spPr>
        <p:txBody>
          <a:bodyPr wrap="square" rtlCol="0" anchor="ctr"/>
          <a:lstStyle/>
          <a:p>
            <a:pPr algn="ctr" indent="0" marL="0">
              <a:buNone/>
            </a:pPr>
            <a:r>
              <a:rPr lang="en-US" sz="1200" dirty="0">
                <a:solidFill>
                  <a:srgbClr val="AEB4A5"/>
                </a:solidFill>
                <a:latin typeface="Consolas" pitchFamily="34" charset="0"/>
                <a:ea typeface="Consolas" pitchFamily="34" charset="-122"/>
                <a:cs typeface="Consolas" pitchFamily="34" charset="-120"/>
              </a:rPr>
              <a:t>704 tokens · 1 call          vs          15,999 tokens · 4 files opened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0F8A80"/>
                </a:solidFill>
                <a:latin typeface="Consolas" pitchFamily="34" charset="0"/>
                <a:ea typeface="Consolas" pitchFamily="34" charset="-122"/>
                <a:cs typeface="Consolas" pitchFamily="34" charset="-120"/>
              </a:rPr>
              <a:t>MEASURED · COST BY QUESTION TYPE</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Cost scales with the question — the way you'd want</a:t>
            </a:r>
            <a:endParaRPr lang="en-US" sz="3000" dirty="0"/>
          </a:p>
        </p:txBody>
      </p:sp>
      <p:sp>
        <p:nvSpPr>
          <p:cNvPr id="4" name="Text 2"/>
          <p:cNvSpPr/>
          <p:nvPr/>
        </p:nvSpPr>
        <p:spPr>
          <a:xfrm>
            <a:off x="548640" y="1737360"/>
            <a:ext cx="10972800" cy="73152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The system serves three kinds of question. A caller sizes retrieval to intent — narrow for a bug, wider to scope a feature — and the payload tracks it. One representative question each, measured live.</a:t>
            </a:r>
            <a:endParaRPr lang="en-US" sz="1500" dirty="0"/>
          </a:p>
        </p:txBody>
      </p:sp>
      <p:graphicFrame>
        <p:nvGraphicFramePr>
          <p:cNvPr id="5" name="Chart 0" descr=""/>
          <p:cNvGraphicFramePr/>
          <p:nvPr/>
        </p:nvGraphicFramePr>
        <p:xfrm>
          <a:off x="548640" y="2606040"/>
          <a:ext cx="704088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55280" y="2697480"/>
            <a:ext cx="3657600" cy="3383280"/>
          </a:xfrm>
          <a:prstGeom prst="roundRect">
            <a:avLst>
              <a:gd name="adj" fmla="val 2162"/>
            </a:avLst>
          </a:prstGeom>
          <a:solidFill>
            <a:srgbClr val="F1F3EE"/>
          </a:solidFill>
          <a:ln w="12700">
            <a:solidFill>
              <a:srgbClr val="E2E5DD"/>
            </a:solidFill>
            <a:prstDash val="solid"/>
          </a:ln>
        </p:spPr>
      </p:sp>
      <p:sp>
        <p:nvSpPr>
          <p:cNvPr id="7" name="Text 4"/>
          <p:cNvSpPr/>
          <p:nvPr/>
        </p:nvSpPr>
        <p:spPr>
          <a:xfrm>
            <a:off x="8183880" y="288036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Why it stays cheap</a:t>
            </a:r>
            <a:endParaRPr lang="en-US" sz="1600" dirty="0"/>
          </a:p>
        </p:txBody>
      </p:sp>
      <p:sp>
        <p:nvSpPr>
          <p:cNvPr id="8" name="Text 5"/>
          <p:cNvSpPr/>
          <p:nvPr/>
        </p:nvSpPr>
        <p:spPr>
          <a:xfrm>
            <a:off x="8183880" y="3291840"/>
            <a:ext cx="3246120" cy="2651760"/>
          </a:xfrm>
          <a:prstGeom prst="rect">
            <a:avLst/>
          </a:prstGeom>
          <a:noFill/>
          <a:ln/>
        </p:spPr>
        <p:txBody>
          <a:bodyPr wrap="square" rtlCol="0" anchor="t"/>
          <a:lstStyle/>
          <a:p>
            <a:pPr indent="0" marL="0">
              <a:lnSpc>
                <a:spcPts val="1700"/>
              </a:lnSpc>
              <a:buNone/>
            </a:pPr>
            <a:r>
              <a:rPr lang="en-US" sz="1300" b="1" dirty="0">
                <a:solidFill>
                  <a:srgbClr val="1A1F1C"/>
                </a:solidFill>
                <a:latin typeface="Calibri" pitchFamily="34" charset="0"/>
                <a:ea typeface="Calibri" pitchFamily="34" charset="-122"/>
                <a:cs typeface="Calibri" pitchFamily="34" charset="-120"/>
              </a:rPr>
              <a:t>The code half stays ~200 tokens in all three</a:t>
            </a:r>
            <a:pPr indent="0" marL="0">
              <a:lnSpc>
                <a:spcPts val="1700"/>
              </a:lnSpc>
              <a:buNone/>
            </a:pPr>
            <a:r>
              <a:rPr lang="en-US" sz="1300" dirty="0">
                <a:solidFill>
                  <a:srgbClr val="5A6055"/>
                </a:solidFill>
                <a:latin typeface="Calibri" pitchFamily="34" charset="0"/>
                <a:ea typeface="Calibri" pitchFamily="34" charset="-122"/>
                <a:cs typeface="Calibri" pitchFamily="34" charset="-120"/>
              </a:rPr>
              <a:t> — citation-first retrieval inlines only the top method and cites the rest.
</a:t>
            </a:r>
            <a:pPr indent="0" marL="0">
              <a:lnSpc>
                <a:spcPts val="1700"/>
              </a:lnSpc>
              <a:buNone/>
            </a:pPr>
            <a:r>
              <a:rPr lang="en-US" sz="1300" dirty="0">
                <a:solidFill>
                  <a:srgbClr val="5A6055"/>
                </a:solidFill>
                <a:latin typeface="Calibri" pitchFamily="34" charset="0"/>
                <a:ea typeface="Calibri" pitchFamily="34" charset="-122"/>
                <a:cs typeface="Calibri" pitchFamily="34" charset="-120"/>
              </a:rPr>
              <a:t>So growth is the documentation breadth a caller </a:t>
            </a:r>
            <a:pPr indent="0" marL="0">
              <a:lnSpc>
                <a:spcPts val="1700"/>
              </a:lnSpc>
              <a:buNone/>
            </a:pPr>
            <a:r>
              <a:rPr lang="en-US" sz="1300" i="1" dirty="0">
                <a:solidFill>
                  <a:srgbClr val="1A1F1C"/>
                </a:solidFill>
                <a:latin typeface="Calibri" pitchFamily="34" charset="0"/>
                <a:ea typeface="Calibri" pitchFamily="34" charset="-122"/>
                <a:cs typeface="Calibri" pitchFamily="34" charset="-120"/>
              </a:rPr>
              <a:t>explicitly asked for</a:t>
            </a:r>
            <a:pPr indent="0" marL="0">
              <a:lnSpc>
                <a:spcPts val="1700"/>
              </a:lnSpc>
              <a:buNone/>
            </a:pPr>
            <a:r>
              <a:rPr lang="en-US" sz="1300" dirty="0">
                <a:solidFill>
                  <a:srgbClr val="5A6055"/>
                </a:solidFill>
                <a:latin typeface="Calibri" pitchFamily="34" charset="0"/>
                <a:ea typeface="Calibri" pitchFamily="34" charset="-122"/>
                <a:cs typeface="Calibri" pitchFamily="34" charset="-120"/>
              </a:rPr>
              <a:t> — never runaway cost. Even the widest stays under 2.6k.</a:t>
            </a:r>
            <a:endParaRPr lang="en-US" sz="1300" dirty="0"/>
          </a:p>
        </p:txBody>
      </p:sp>
      <p:sp>
        <p:nvSpPr>
          <p:cNvPr id="9" name="Text 6"/>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0" name="Text 7"/>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5B57A6"/>
                </a:solidFill>
                <a:latin typeface="Consolas" pitchFamily="34" charset="0"/>
                <a:ea typeface="Consolas" pitchFamily="34" charset="-122"/>
                <a:cs typeface="Consolas" pitchFamily="34" charset="-120"/>
              </a:rPr>
              <a:t>MEASURED · THE PAYLOAD WAS THEN SQUEEZED</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Retrieve narrow, inline less, cap the rest</a:t>
            </a:r>
            <a:endParaRPr lang="en-US" sz="3000" dirty="0"/>
          </a:p>
        </p:txBody>
      </p:sp>
      <p:sp>
        <p:nvSpPr>
          <p:cNvPr id="4" name="Text 2"/>
          <p:cNvSpPr/>
          <p:nvPr/>
        </p:nvSpPr>
        <p:spPr>
          <a:xfrm>
            <a:off x="548640" y="1737360"/>
            <a:ext cx="10972800" cy="73152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A dedicated token-economy pass tuned how much each call returns — retrieve narrow first, inline only the top code chunks (cite the rest), drop weak hits, cap the payload. Recorded before → after:</a:t>
            </a:r>
            <a:endParaRPr lang="en-US" sz="1500" dirty="0"/>
          </a:p>
        </p:txBody>
      </p:sp>
      <p:graphicFrame>
        <p:nvGraphicFramePr>
          <p:cNvPr id="5" name="Chart 0" descr=""/>
          <p:cNvGraphicFramePr/>
          <p:nvPr/>
        </p:nvGraphicFramePr>
        <p:xfrm>
          <a:off x="548640" y="2651760"/>
          <a:ext cx="7863840" cy="3474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686800" y="2788920"/>
            <a:ext cx="2926080" cy="548640"/>
          </a:xfrm>
          <a:prstGeom prst="rect">
            <a:avLst/>
          </a:prstGeom>
          <a:noFill/>
          <a:ln/>
        </p:spPr>
        <p:txBody>
          <a:bodyPr wrap="square" rtlCol="0" anchor="ctr"/>
          <a:lstStyle/>
          <a:p>
            <a:pPr indent="0" marL="0">
              <a:buNone/>
            </a:pPr>
            <a:r>
              <a:rPr lang="en-US" sz="3400" b="1" dirty="0">
                <a:solidFill>
                  <a:srgbClr val="2F7D5C"/>
                </a:solidFill>
                <a:latin typeface="Cambria" pitchFamily="34" charset="0"/>
                <a:ea typeface="Cambria" pitchFamily="34" charset="-122"/>
                <a:cs typeface="Cambria" pitchFamily="34" charset="-120"/>
              </a:rPr>
              <a:t>−80%</a:t>
            </a:r>
            <a:endParaRPr lang="en-US" sz="3400" dirty="0"/>
          </a:p>
        </p:txBody>
      </p:sp>
      <p:sp>
        <p:nvSpPr>
          <p:cNvPr id="7" name="Text 4"/>
          <p:cNvSpPr/>
          <p:nvPr/>
        </p:nvSpPr>
        <p:spPr>
          <a:xfrm>
            <a:off x="8732520" y="3383280"/>
            <a:ext cx="2926080" cy="274320"/>
          </a:xfrm>
          <a:prstGeom prst="rect">
            <a:avLst/>
          </a:prstGeom>
          <a:noFill/>
          <a:ln/>
        </p:spPr>
        <p:txBody>
          <a:bodyPr wrap="square" rtlCol="0" anchor="ctr"/>
          <a:lstStyle/>
          <a:p>
            <a:pPr indent="0" marL="0">
              <a:buNone/>
            </a:pPr>
            <a:r>
              <a:rPr lang="en-US" sz="1200" dirty="0">
                <a:solidFill>
                  <a:srgbClr val="5A6055"/>
                </a:solidFill>
                <a:latin typeface="Calibri" pitchFamily="34" charset="0"/>
                <a:ea typeface="Calibri" pitchFamily="34" charset="-122"/>
                <a:cs typeface="Calibri" pitchFamily="34" charset="-120"/>
              </a:rPr>
              <a:t>deep_query</a:t>
            </a:r>
            <a:endParaRPr lang="en-US" sz="1200" dirty="0"/>
          </a:p>
        </p:txBody>
      </p:sp>
      <p:sp>
        <p:nvSpPr>
          <p:cNvPr id="8" name="Text 5"/>
          <p:cNvSpPr/>
          <p:nvPr/>
        </p:nvSpPr>
        <p:spPr>
          <a:xfrm>
            <a:off x="8686800" y="3886200"/>
            <a:ext cx="2926080" cy="548640"/>
          </a:xfrm>
          <a:prstGeom prst="rect">
            <a:avLst/>
          </a:prstGeom>
          <a:noFill/>
          <a:ln/>
        </p:spPr>
        <p:txBody>
          <a:bodyPr wrap="square" rtlCol="0" anchor="ctr"/>
          <a:lstStyle/>
          <a:p>
            <a:pPr indent="0" marL="0">
              <a:buNone/>
            </a:pPr>
            <a:r>
              <a:rPr lang="en-US" sz="3400" b="1" dirty="0">
                <a:solidFill>
                  <a:srgbClr val="2F7D5C"/>
                </a:solidFill>
                <a:latin typeface="Cambria" pitchFamily="34" charset="0"/>
                <a:ea typeface="Cambria" pitchFamily="34" charset="-122"/>
                <a:cs typeface="Cambria" pitchFamily="34" charset="-120"/>
              </a:rPr>
              <a:t>−71%</a:t>
            </a:r>
            <a:endParaRPr lang="en-US" sz="3400" dirty="0"/>
          </a:p>
        </p:txBody>
      </p:sp>
      <p:sp>
        <p:nvSpPr>
          <p:cNvPr id="9" name="Text 6"/>
          <p:cNvSpPr/>
          <p:nvPr/>
        </p:nvSpPr>
        <p:spPr>
          <a:xfrm>
            <a:off x="8732520" y="4480560"/>
            <a:ext cx="2926080" cy="274320"/>
          </a:xfrm>
          <a:prstGeom prst="rect">
            <a:avLst/>
          </a:prstGeom>
          <a:noFill/>
          <a:ln/>
        </p:spPr>
        <p:txBody>
          <a:bodyPr wrap="square" rtlCol="0" anchor="ctr"/>
          <a:lstStyle/>
          <a:p>
            <a:pPr indent="0" marL="0">
              <a:buNone/>
            </a:pPr>
            <a:r>
              <a:rPr lang="en-US" sz="1200" dirty="0">
                <a:solidFill>
                  <a:srgbClr val="5A6055"/>
                </a:solidFill>
                <a:latin typeface="Calibri" pitchFamily="34" charset="0"/>
                <a:ea typeface="Calibri" pitchFamily="34" charset="-122"/>
                <a:cs typeface="Calibri" pitchFamily="34" charset="-120"/>
              </a:rPr>
              <a:t>docs retrieval</a:t>
            </a:r>
            <a:endParaRPr lang="en-US" sz="1200" dirty="0"/>
          </a:p>
        </p:txBody>
      </p:sp>
      <p:sp>
        <p:nvSpPr>
          <p:cNvPr id="10" name="Text 7"/>
          <p:cNvSpPr/>
          <p:nvPr/>
        </p:nvSpPr>
        <p:spPr>
          <a:xfrm>
            <a:off x="8686800" y="4983480"/>
            <a:ext cx="2926080" cy="548640"/>
          </a:xfrm>
          <a:prstGeom prst="rect">
            <a:avLst/>
          </a:prstGeom>
          <a:noFill/>
          <a:ln/>
        </p:spPr>
        <p:txBody>
          <a:bodyPr wrap="square" rtlCol="0" anchor="ctr"/>
          <a:lstStyle/>
          <a:p>
            <a:pPr indent="0" marL="0">
              <a:buNone/>
            </a:pPr>
            <a:r>
              <a:rPr lang="en-US" sz="3400" b="1" dirty="0">
                <a:solidFill>
                  <a:srgbClr val="2F7D5C"/>
                </a:solidFill>
                <a:latin typeface="Cambria" pitchFamily="34" charset="0"/>
                <a:ea typeface="Cambria" pitchFamily="34" charset="-122"/>
                <a:cs typeface="Cambria" pitchFamily="34" charset="-120"/>
              </a:rPr>
              <a:t>−33%</a:t>
            </a:r>
            <a:endParaRPr lang="en-US" sz="3400" dirty="0"/>
          </a:p>
        </p:txBody>
      </p:sp>
      <p:sp>
        <p:nvSpPr>
          <p:cNvPr id="11" name="Text 8"/>
          <p:cNvSpPr/>
          <p:nvPr/>
        </p:nvSpPr>
        <p:spPr>
          <a:xfrm>
            <a:off x="8732520" y="5577840"/>
            <a:ext cx="2926080" cy="274320"/>
          </a:xfrm>
          <a:prstGeom prst="rect">
            <a:avLst/>
          </a:prstGeom>
          <a:noFill/>
          <a:ln/>
        </p:spPr>
        <p:txBody>
          <a:bodyPr wrap="square" rtlCol="0" anchor="ctr"/>
          <a:lstStyle/>
          <a:p>
            <a:pPr indent="0" marL="0">
              <a:buNone/>
            </a:pPr>
            <a:r>
              <a:rPr lang="en-US" sz="1200" dirty="0">
                <a:solidFill>
                  <a:srgbClr val="5A6055"/>
                </a:solidFill>
                <a:latin typeface="Calibri" pitchFamily="34" charset="0"/>
                <a:ea typeface="Calibri" pitchFamily="34" charset="-122"/>
                <a:cs typeface="Calibri" pitchFamily="34" charset="-120"/>
              </a:rPr>
              <a:t>reports eval</a:t>
            </a:r>
            <a:endParaRPr lang="en-US" sz="1200" dirty="0"/>
          </a:p>
        </p:txBody>
      </p:sp>
      <p:sp>
        <p:nvSpPr>
          <p:cNvPr id="12" name="Text 9"/>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3" name="Text 10"/>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2F7D5C"/>
                </a:solidFill>
                <a:latin typeface="Consolas" pitchFamily="34" charset="0"/>
                <a:ea typeface="Consolas" pitchFamily="34" charset="-122"/>
                <a:cs typeface="Consolas" pitchFamily="34" charset="-120"/>
              </a:rPr>
              <a:t>TRUST</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The savings didn't come from worse answers</a:t>
            </a:r>
            <a:endParaRPr lang="en-US" sz="3000" dirty="0"/>
          </a:p>
        </p:txBody>
      </p:sp>
      <p:sp>
        <p:nvSpPr>
          <p:cNvPr id="4" name="Text 2"/>
          <p:cNvSpPr/>
          <p:nvPr/>
        </p:nvSpPr>
        <p:spPr>
          <a:xfrm>
            <a:off x="548640" y="1737360"/>
            <a:ext cx="10972800" cy="45720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Every change was verified end-to-end before it shipped — a clean wipe-and-rebuild this week reproduced all of it.</a:t>
            </a:r>
            <a:endParaRPr lang="en-US" sz="1500" dirty="0"/>
          </a:p>
        </p:txBody>
      </p:sp>
      <p:sp>
        <p:nvSpPr>
          <p:cNvPr id="5" name="Shape 3"/>
          <p:cNvSpPr/>
          <p:nvPr/>
        </p:nvSpPr>
        <p:spPr>
          <a:xfrm>
            <a:off x="548640" y="2468880"/>
            <a:ext cx="5257800" cy="1554480"/>
          </a:xfrm>
          <a:prstGeom prst="roundRect">
            <a:avLst>
              <a:gd name="adj" fmla="val 4706"/>
            </a:avLst>
          </a:prstGeom>
          <a:solidFill>
            <a:srgbClr val="F1F3EE"/>
          </a:solidFill>
          <a:ln w="12700">
            <a:solidFill>
              <a:srgbClr val="E2E5DD"/>
            </a:solidFill>
            <a:prstDash val="solid"/>
          </a:ln>
        </p:spPr>
      </p:sp>
      <p:sp>
        <p:nvSpPr>
          <p:cNvPr id="6" name="Text 4"/>
          <p:cNvSpPr/>
          <p:nvPr/>
        </p:nvSpPr>
        <p:spPr>
          <a:xfrm>
            <a:off x="822960" y="269748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100%</a:t>
            </a:r>
            <a:endParaRPr lang="en-US" sz="3400" dirty="0"/>
          </a:p>
        </p:txBody>
      </p:sp>
      <p:sp>
        <p:nvSpPr>
          <p:cNvPr id="7" name="Text 5"/>
          <p:cNvSpPr/>
          <p:nvPr/>
        </p:nvSpPr>
        <p:spPr>
          <a:xfrm>
            <a:off x="2423160" y="269748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node-id parity</a:t>
            </a:r>
            <a:endParaRPr lang="en-US" sz="1600" dirty="0"/>
          </a:p>
        </p:txBody>
      </p:sp>
      <p:sp>
        <p:nvSpPr>
          <p:cNvPr id="8" name="Text 6"/>
          <p:cNvSpPr/>
          <p:nvPr/>
        </p:nvSpPr>
        <p:spPr>
          <a:xfrm>
            <a:off x="2423160" y="303580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The central engine re-ingested reports and produced identical chunk ids to the repo's old tool — proof the port is faithful.</a:t>
            </a:r>
            <a:endParaRPr lang="en-US" sz="1200" dirty="0"/>
          </a:p>
        </p:txBody>
      </p:sp>
      <p:sp>
        <p:nvSpPr>
          <p:cNvPr id="9" name="Shape 7"/>
          <p:cNvSpPr/>
          <p:nvPr/>
        </p:nvSpPr>
        <p:spPr>
          <a:xfrm>
            <a:off x="6172200" y="2468880"/>
            <a:ext cx="5257800" cy="1554480"/>
          </a:xfrm>
          <a:prstGeom prst="roundRect">
            <a:avLst>
              <a:gd name="adj" fmla="val 4706"/>
            </a:avLst>
          </a:prstGeom>
          <a:solidFill>
            <a:srgbClr val="F1F3EE"/>
          </a:solidFill>
          <a:ln w="12700">
            <a:solidFill>
              <a:srgbClr val="E2E5DD"/>
            </a:solidFill>
            <a:prstDash val="solid"/>
          </a:ln>
        </p:spPr>
      </p:sp>
      <p:sp>
        <p:nvSpPr>
          <p:cNvPr id="10" name="Text 8"/>
          <p:cNvSpPr/>
          <p:nvPr/>
        </p:nvSpPr>
        <p:spPr>
          <a:xfrm>
            <a:off x="6446520" y="269748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244</a:t>
            </a:r>
            <a:endParaRPr lang="en-US" sz="3400" dirty="0"/>
          </a:p>
        </p:txBody>
      </p:sp>
      <p:sp>
        <p:nvSpPr>
          <p:cNvPr id="11" name="Text 9"/>
          <p:cNvSpPr/>
          <p:nvPr/>
        </p:nvSpPr>
        <p:spPr>
          <a:xfrm>
            <a:off x="8046720" y="269748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code chunks</a:t>
            </a:r>
            <a:endParaRPr lang="en-US" sz="1600" dirty="0"/>
          </a:p>
        </p:txBody>
      </p:sp>
      <p:sp>
        <p:nvSpPr>
          <p:cNvPr id="12" name="Text 10"/>
          <p:cNvSpPr/>
          <p:nvPr/>
        </p:nvSpPr>
        <p:spPr>
          <a:xfrm>
            <a:off x="8046720" y="303580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Migrated by copying the existing vectors — zero re-embedding — then confirmed against a full rebuild.</a:t>
            </a:r>
            <a:endParaRPr lang="en-US" sz="1200" dirty="0"/>
          </a:p>
        </p:txBody>
      </p:sp>
      <p:sp>
        <p:nvSpPr>
          <p:cNvPr id="13" name="Shape 11"/>
          <p:cNvSpPr/>
          <p:nvPr/>
        </p:nvSpPr>
        <p:spPr>
          <a:xfrm>
            <a:off x="548640" y="4251960"/>
            <a:ext cx="5257800" cy="1554480"/>
          </a:xfrm>
          <a:prstGeom prst="roundRect">
            <a:avLst>
              <a:gd name="adj" fmla="val 4706"/>
            </a:avLst>
          </a:prstGeom>
          <a:solidFill>
            <a:srgbClr val="F1F3EE"/>
          </a:solidFill>
          <a:ln w="12700">
            <a:solidFill>
              <a:srgbClr val="E2E5DD"/>
            </a:solidFill>
            <a:prstDash val="solid"/>
          </a:ln>
        </p:spPr>
      </p:sp>
      <p:sp>
        <p:nvSpPr>
          <p:cNvPr id="14" name="Text 12"/>
          <p:cNvSpPr/>
          <p:nvPr/>
        </p:nvSpPr>
        <p:spPr>
          <a:xfrm>
            <a:off x="822960" y="448056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5 / 5</a:t>
            </a:r>
            <a:endParaRPr lang="en-US" sz="3400" dirty="0"/>
          </a:p>
        </p:txBody>
      </p:sp>
      <p:sp>
        <p:nvSpPr>
          <p:cNvPr id="15" name="Text 13"/>
          <p:cNvSpPr/>
          <p:nvPr/>
        </p:nvSpPr>
        <p:spPr>
          <a:xfrm>
            <a:off x="2423160" y="448056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eval tiers pass</a:t>
            </a:r>
            <a:endParaRPr lang="en-US" sz="1600" dirty="0"/>
          </a:p>
        </p:txBody>
      </p:sp>
      <p:sp>
        <p:nvSpPr>
          <p:cNvPr id="16" name="Text 14"/>
          <p:cNvSpPr/>
          <p:nvPr/>
        </p:nvSpPr>
        <p:spPr>
          <a:xfrm>
            <a:off x="2423160" y="481888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Metadata integrity, mapping, retrieval quality, expand, and orchestrator routing all green.</a:t>
            </a:r>
            <a:endParaRPr lang="en-US" sz="1200" dirty="0"/>
          </a:p>
        </p:txBody>
      </p:sp>
      <p:sp>
        <p:nvSpPr>
          <p:cNvPr id="17" name="Shape 15"/>
          <p:cNvSpPr/>
          <p:nvPr/>
        </p:nvSpPr>
        <p:spPr>
          <a:xfrm>
            <a:off x="6172200" y="4251960"/>
            <a:ext cx="5257800" cy="1554480"/>
          </a:xfrm>
          <a:prstGeom prst="roundRect">
            <a:avLst>
              <a:gd name="adj" fmla="val 4706"/>
            </a:avLst>
          </a:prstGeom>
          <a:solidFill>
            <a:srgbClr val="F1F3EE"/>
          </a:solidFill>
          <a:ln w="12700">
            <a:solidFill>
              <a:srgbClr val="E2E5DD"/>
            </a:solidFill>
            <a:prstDash val="solid"/>
          </a:ln>
        </p:spPr>
      </p:sp>
      <p:sp>
        <p:nvSpPr>
          <p:cNvPr id="18" name="Text 16"/>
          <p:cNvSpPr/>
          <p:nvPr/>
        </p:nvSpPr>
        <p:spPr>
          <a:xfrm>
            <a:off x="6446520" y="448056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0</a:t>
            </a:r>
            <a:endParaRPr lang="en-US" sz="3400" dirty="0"/>
          </a:p>
        </p:txBody>
      </p:sp>
      <p:sp>
        <p:nvSpPr>
          <p:cNvPr id="19" name="Text 17"/>
          <p:cNvSpPr/>
          <p:nvPr/>
        </p:nvSpPr>
        <p:spPr>
          <a:xfrm>
            <a:off x="8046720" y="448056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needless re-embeds</a:t>
            </a:r>
            <a:endParaRPr lang="en-US" sz="1600" dirty="0"/>
          </a:p>
        </p:txBody>
      </p:sp>
      <p:sp>
        <p:nvSpPr>
          <p:cNvPr id="20" name="Text 18"/>
          <p:cNvSpPr/>
          <p:nvPr/>
        </p:nvSpPr>
        <p:spPr>
          <a:xfrm>
            <a:off x="8046720" y="481888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Delta re-ingest is content-hash + prune: a re-run touches only files that actually changed.</a:t>
            </a:r>
            <a:endParaRPr lang="en-US" sz="1200" dirty="0"/>
          </a:p>
        </p:txBody>
      </p:sp>
      <p:sp>
        <p:nvSpPr>
          <p:cNvPr id="21" name="Text 19"/>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2" name="Text 20"/>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0F8A80"/>
                </a:solidFill>
                <a:latin typeface="Consolas" pitchFamily="34" charset="0"/>
                <a:ea typeface="Consolas" pitchFamily="34" charset="-122"/>
                <a:cs typeface="Consolas" pitchFamily="34" charset="-120"/>
              </a:rPr>
              <a:t>EXTENSIBILITY</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Onboarding a repo: one JSON and a path</a:t>
            </a:r>
            <a:endParaRPr lang="en-US" sz="3000" dirty="0"/>
          </a:p>
        </p:txBody>
      </p:sp>
      <p:sp>
        <p:nvSpPr>
          <p:cNvPr id="4" name="Text 2"/>
          <p:cNvSpPr/>
          <p:nvPr/>
        </p:nvSpPr>
        <p:spPr>
          <a:xfrm>
            <a:off x="548640" y="1737360"/>
            <a:ext cx="10972800" cy="54864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The ingestion engine lives in one shared project. Adding a repo doesn't add a tool to that repo — you describe it and point at its checkout.</a:t>
            </a:r>
            <a:endParaRPr lang="en-US" sz="1500" dirty="0"/>
          </a:p>
        </p:txBody>
      </p:sp>
      <p:sp>
        <p:nvSpPr>
          <p:cNvPr id="5" name="Shape 3"/>
          <p:cNvSpPr/>
          <p:nvPr/>
        </p:nvSpPr>
        <p:spPr>
          <a:xfrm>
            <a:off x="548640" y="2468880"/>
            <a:ext cx="3474720" cy="1691640"/>
          </a:xfrm>
          <a:prstGeom prst="roundRect">
            <a:avLst>
              <a:gd name="adj" fmla="val 4324"/>
            </a:avLst>
          </a:prstGeom>
          <a:solidFill>
            <a:srgbClr val="F1F3EE"/>
          </a:solidFill>
          <a:ln w="12700">
            <a:solidFill>
              <a:srgbClr val="E2E5DD"/>
            </a:solidFill>
            <a:prstDash val="solid"/>
          </a:ln>
        </p:spPr>
      </p:sp>
      <p:sp>
        <p:nvSpPr>
          <p:cNvPr id="6" name="Shape 4"/>
          <p:cNvSpPr/>
          <p:nvPr/>
        </p:nvSpPr>
        <p:spPr>
          <a:xfrm>
            <a:off x="822960" y="2697480"/>
            <a:ext cx="502920" cy="502920"/>
          </a:xfrm>
          <a:prstGeom prst="ellipse">
            <a:avLst/>
          </a:prstGeom>
          <a:solidFill>
            <a:srgbClr val="0F8A80"/>
          </a:solidFill>
          <a:ln/>
        </p:spPr>
      </p:sp>
      <p:sp>
        <p:nvSpPr>
          <p:cNvPr id="7" name="Text 5"/>
          <p:cNvSpPr/>
          <p:nvPr/>
        </p:nvSpPr>
        <p:spPr>
          <a:xfrm>
            <a:off x="82296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63040" y="2743200"/>
            <a:ext cx="2468880" cy="41148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Describe it</a:t>
            </a:r>
            <a:endParaRPr lang="en-US" sz="1500" dirty="0"/>
          </a:p>
        </p:txBody>
      </p:sp>
      <p:sp>
        <p:nvSpPr>
          <p:cNvPr id="9" name="Text 7"/>
          <p:cNvSpPr/>
          <p:nvPr/>
        </p:nvSpPr>
        <p:spPr>
          <a:xfrm>
            <a:off x="822960" y="3337560"/>
            <a:ext cx="2971800" cy="77724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repos/&lt;key&gt;/ingest.json — language, source folders, merged over shared defaults.</a:t>
            </a:r>
            <a:endParaRPr lang="en-US" sz="1200" dirty="0"/>
          </a:p>
        </p:txBody>
      </p:sp>
      <p:sp>
        <p:nvSpPr>
          <p:cNvPr id="10" name="Shape 8"/>
          <p:cNvSpPr/>
          <p:nvPr/>
        </p:nvSpPr>
        <p:spPr>
          <a:xfrm>
            <a:off x="4251960" y="2468880"/>
            <a:ext cx="3474720" cy="1691640"/>
          </a:xfrm>
          <a:prstGeom prst="roundRect">
            <a:avLst>
              <a:gd name="adj" fmla="val 4324"/>
            </a:avLst>
          </a:prstGeom>
          <a:solidFill>
            <a:srgbClr val="F1F3EE"/>
          </a:solidFill>
          <a:ln w="12700">
            <a:solidFill>
              <a:srgbClr val="E2E5DD"/>
            </a:solidFill>
            <a:prstDash val="solid"/>
          </a:ln>
        </p:spPr>
      </p:sp>
      <p:sp>
        <p:nvSpPr>
          <p:cNvPr id="11" name="Shape 9"/>
          <p:cNvSpPr/>
          <p:nvPr/>
        </p:nvSpPr>
        <p:spPr>
          <a:xfrm>
            <a:off x="4526280" y="2697480"/>
            <a:ext cx="502920" cy="502920"/>
          </a:xfrm>
          <a:prstGeom prst="ellipse">
            <a:avLst/>
          </a:prstGeom>
          <a:solidFill>
            <a:srgbClr val="0F8A80"/>
          </a:solidFill>
          <a:ln/>
        </p:spPr>
      </p:sp>
      <p:sp>
        <p:nvSpPr>
          <p:cNvPr id="12" name="Text 10"/>
          <p:cNvSpPr/>
          <p:nvPr/>
        </p:nvSpPr>
        <p:spPr>
          <a:xfrm>
            <a:off x="452628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5166360" y="2743200"/>
            <a:ext cx="2468880" cy="41148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Point at the checkout</a:t>
            </a:r>
            <a:endParaRPr lang="en-US" sz="1500" dirty="0"/>
          </a:p>
        </p:txBody>
      </p:sp>
      <p:sp>
        <p:nvSpPr>
          <p:cNvPr id="14" name="Text 12"/>
          <p:cNvSpPr/>
          <p:nvPr/>
        </p:nvSpPr>
        <p:spPr>
          <a:xfrm>
            <a:off x="4526280" y="3337560"/>
            <a:ext cx="2971800" cy="77724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One machine-local path in config.json. Everything else ships committed.</a:t>
            </a:r>
            <a:endParaRPr lang="en-US" sz="1200" dirty="0"/>
          </a:p>
        </p:txBody>
      </p:sp>
      <p:sp>
        <p:nvSpPr>
          <p:cNvPr id="15" name="Shape 13"/>
          <p:cNvSpPr/>
          <p:nvPr/>
        </p:nvSpPr>
        <p:spPr>
          <a:xfrm>
            <a:off x="7955280" y="2468880"/>
            <a:ext cx="3474720" cy="1691640"/>
          </a:xfrm>
          <a:prstGeom prst="roundRect">
            <a:avLst>
              <a:gd name="adj" fmla="val 4324"/>
            </a:avLst>
          </a:prstGeom>
          <a:solidFill>
            <a:srgbClr val="F1F3EE"/>
          </a:solidFill>
          <a:ln w="12700">
            <a:solidFill>
              <a:srgbClr val="E2E5DD"/>
            </a:solidFill>
            <a:prstDash val="solid"/>
          </a:ln>
        </p:spPr>
      </p:sp>
      <p:sp>
        <p:nvSpPr>
          <p:cNvPr id="16" name="Shape 14"/>
          <p:cNvSpPr/>
          <p:nvPr/>
        </p:nvSpPr>
        <p:spPr>
          <a:xfrm>
            <a:off x="8229600" y="2697480"/>
            <a:ext cx="502920" cy="502920"/>
          </a:xfrm>
          <a:prstGeom prst="ellipse">
            <a:avLst/>
          </a:prstGeom>
          <a:solidFill>
            <a:srgbClr val="0F8A80"/>
          </a:solidFill>
          <a:ln/>
        </p:spPr>
      </p:sp>
      <p:sp>
        <p:nvSpPr>
          <p:cNvPr id="17" name="Text 15"/>
          <p:cNvSpPr/>
          <p:nvPr/>
        </p:nvSpPr>
        <p:spPr>
          <a:xfrm>
            <a:off x="822960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869680" y="2743200"/>
            <a:ext cx="2468880" cy="41148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ingest-code --repo &lt;key&gt;</a:t>
            </a:r>
            <a:endParaRPr lang="en-US" sz="1500" dirty="0"/>
          </a:p>
        </p:txBody>
      </p:sp>
      <p:sp>
        <p:nvSpPr>
          <p:cNvPr id="19" name="Text 17"/>
          <p:cNvSpPr/>
          <p:nvPr/>
        </p:nvSpPr>
        <p:spPr>
          <a:xfrm>
            <a:off x="8229600" y="3337560"/>
            <a:ext cx="2971800" cy="77724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Builds its index; the orchestrator picks it up. --all does every repo at once.</a:t>
            </a:r>
            <a:endParaRPr lang="en-US" sz="1200" dirty="0"/>
          </a:p>
        </p:txBody>
      </p:sp>
      <p:sp>
        <p:nvSpPr>
          <p:cNvPr id="20" name="Text 18"/>
          <p:cNvSpPr/>
          <p:nvPr/>
        </p:nvSpPr>
        <p:spPr>
          <a:xfrm>
            <a:off x="548640" y="4434840"/>
            <a:ext cx="10972800" cy="365760"/>
          </a:xfrm>
          <a:prstGeom prst="rect">
            <a:avLst/>
          </a:prstGeom>
          <a:noFill/>
          <a:ln/>
        </p:spPr>
        <p:txBody>
          <a:bodyPr wrap="square" rtlCol="0" anchor="ctr"/>
          <a:lstStyle/>
          <a:p>
            <a:pPr indent="0" marL="0">
              <a:buNone/>
            </a:pPr>
            <a:r>
              <a:rPr lang="en-US" sz="1400" b="1" dirty="0">
                <a:solidFill>
                  <a:srgbClr val="1A1F1C"/>
                </a:solidFill>
                <a:latin typeface="Calibri" pitchFamily="34" charset="0"/>
                <a:ea typeface="Calibri" pitchFamily="34" charset="-122"/>
                <a:cs typeface="Calibri" pitchFamily="34" charset="-120"/>
              </a:rPr>
              <a:t>Need more than the defaults? Override just one piece — never by dragging a tool back in-tree:</a:t>
            </a:r>
            <a:endParaRPr lang="en-US" sz="1400" dirty="0"/>
          </a:p>
        </p:txBody>
      </p:sp>
      <p:sp>
        <p:nvSpPr>
          <p:cNvPr id="21" name="Shape 19"/>
          <p:cNvSpPr/>
          <p:nvPr/>
        </p:nvSpPr>
        <p:spPr>
          <a:xfrm>
            <a:off x="548640" y="4892040"/>
            <a:ext cx="11064240" cy="493776"/>
          </a:xfrm>
          <a:prstGeom prst="roundRect">
            <a:avLst>
              <a:gd name="adj" fmla="val 9259"/>
            </a:avLst>
          </a:prstGeom>
          <a:solidFill>
            <a:srgbClr val="E7EFEA"/>
          </a:solidFill>
          <a:ln/>
        </p:spPr>
      </p:sp>
      <p:sp>
        <p:nvSpPr>
          <p:cNvPr id="22" name="Text 20"/>
          <p:cNvSpPr/>
          <p:nvPr/>
        </p:nvSpPr>
        <p:spPr>
          <a:xfrm>
            <a:off x="685800" y="4892040"/>
            <a:ext cx="731520" cy="493776"/>
          </a:xfrm>
          <a:prstGeom prst="rect">
            <a:avLst/>
          </a:prstGeom>
          <a:noFill/>
          <a:ln/>
        </p:spPr>
        <p:txBody>
          <a:bodyPr wrap="square" rtlCol="0" anchor="ctr"/>
          <a:lstStyle/>
          <a:p>
            <a:pPr indent="0" marL="0">
              <a:buNone/>
            </a:pPr>
            <a:r>
              <a:rPr lang="en-US" sz="1500" b="1" dirty="0">
                <a:solidFill>
                  <a:srgbClr val="2F7D5C"/>
                </a:solidFill>
                <a:latin typeface="Consolas" pitchFamily="34" charset="0"/>
                <a:ea typeface="Consolas" pitchFamily="34" charset="-122"/>
                <a:cs typeface="Consolas" pitchFamily="34" charset="-120"/>
              </a:rPr>
              <a:t>L0</a:t>
            </a:r>
            <a:endParaRPr lang="en-US" sz="1500" dirty="0"/>
          </a:p>
        </p:txBody>
      </p:sp>
      <p:sp>
        <p:nvSpPr>
          <p:cNvPr id="23" name="Text 21"/>
          <p:cNvSpPr/>
          <p:nvPr/>
        </p:nvSpPr>
        <p:spPr>
          <a:xfrm>
            <a:off x="1463040" y="4892040"/>
            <a:ext cx="9966960" cy="493776"/>
          </a:xfrm>
          <a:prstGeom prst="rect">
            <a:avLst/>
          </a:prstGeom>
          <a:noFill/>
          <a:ln/>
        </p:spPr>
        <p:txBody>
          <a:bodyPr wrap="square" rtlCol="0" anchor="ctr"/>
          <a:lstStyle/>
          <a:p>
            <a:pPr indent="0" marL="0">
              <a:buNone/>
            </a:pPr>
            <a:r>
              <a:rPr lang="en-US" sz="1300" dirty="0">
                <a:solidFill>
                  <a:srgbClr val="1A1F1C"/>
                </a:solidFill>
                <a:latin typeface="Calibri" pitchFamily="34" charset="0"/>
                <a:ea typeface="Calibri" pitchFamily="34" charset="-122"/>
                <a:cs typeface="Calibri" pitchFamily="34" charset="-120"/>
              </a:rPr>
              <a:t>Config only — declare a language; built-ins handle it. Most repos stop here.</a:t>
            </a:r>
            <a:endParaRPr lang="en-US" sz="1300" dirty="0"/>
          </a:p>
        </p:txBody>
      </p:sp>
      <p:sp>
        <p:nvSpPr>
          <p:cNvPr id="24" name="Shape 22"/>
          <p:cNvSpPr/>
          <p:nvPr/>
        </p:nvSpPr>
        <p:spPr>
          <a:xfrm>
            <a:off x="548640" y="5458968"/>
            <a:ext cx="11064240" cy="493776"/>
          </a:xfrm>
          <a:prstGeom prst="roundRect">
            <a:avLst>
              <a:gd name="adj" fmla="val 9259"/>
            </a:avLst>
          </a:prstGeom>
          <a:solidFill>
            <a:srgbClr val="ECEBF6"/>
          </a:solidFill>
          <a:ln/>
        </p:spPr>
      </p:sp>
      <p:sp>
        <p:nvSpPr>
          <p:cNvPr id="25" name="Text 23"/>
          <p:cNvSpPr/>
          <p:nvPr/>
        </p:nvSpPr>
        <p:spPr>
          <a:xfrm>
            <a:off x="685800" y="5458968"/>
            <a:ext cx="731520" cy="493776"/>
          </a:xfrm>
          <a:prstGeom prst="rect">
            <a:avLst/>
          </a:prstGeom>
          <a:noFill/>
          <a:ln/>
        </p:spPr>
        <p:txBody>
          <a:bodyPr wrap="square" rtlCol="0" anchor="ctr"/>
          <a:lstStyle/>
          <a:p>
            <a:pPr indent="0" marL="0">
              <a:buNone/>
            </a:pPr>
            <a:r>
              <a:rPr lang="en-US" sz="1500" b="1" dirty="0">
                <a:solidFill>
                  <a:srgbClr val="5B57A6"/>
                </a:solidFill>
                <a:latin typeface="Consolas" pitchFamily="34" charset="0"/>
                <a:ea typeface="Consolas" pitchFamily="34" charset="-122"/>
                <a:cs typeface="Consolas" pitchFamily="34" charset="-120"/>
              </a:rPr>
              <a:t>L1</a:t>
            </a:r>
            <a:endParaRPr lang="en-US" sz="1500" dirty="0"/>
          </a:p>
        </p:txBody>
      </p:sp>
      <p:sp>
        <p:nvSpPr>
          <p:cNvPr id="26" name="Text 24"/>
          <p:cNvSpPr/>
          <p:nvPr/>
        </p:nvSpPr>
        <p:spPr>
          <a:xfrm>
            <a:off x="1463040" y="5458968"/>
            <a:ext cx="9966960" cy="493776"/>
          </a:xfrm>
          <a:prstGeom prst="rect">
            <a:avLst/>
          </a:prstGeom>
          <a:noFill/>
          <a:ln/>
        </p:spPr>
        <p:txBody>
          <a:bodyPr wrap="square" rtlCol="0" anchor="ctr"/>
          <a:lstStyle/>
          <a:p>
            <a:pPr indent="0" marL="0">
              <a:buNone/>
            </a:pPr>
            <a:r>
              <a:rPr lang="en-US" sz="1300" dirty="0">
                <a:solidFill>
                  <a:srgbClr val="1A1F1C"/>
                </a:solidFill>
                <a:latin typeface="Calibri" pitchFamily="34" charset="0"/>
                <a:ea typeface="Calibri" pitchFamily="34" charset="-122"/>
                <a:cs typeface="Calibri" pitchFamily="34" charset="-120"/>
              </a:rPr>
              <a:t>One custom file — a chunker or retriever module (.py) for a layout or ranking the defaults don't fit.</a:t>
            </a:r>
            <a:endParaRPr lang="en-US" sz="1300" dirty="0"/>
          </a:p>
        </p:txBody>
      </p:sp>
      <p:sp>
        <p:nvSpPr>
          <p:cNvPr id="27" name="Shape 25"/>
          <p:cNvSpPr/>
          <p:nvPr/>
        </p:nvSpPr>
        <p:spPr>
          <a:xfrm>
            <a:off x="548640" y="6025896"/>
            <a:ext cx="11064240" cy="493776"/>
          </a:xfrm>
          <a:prstGeom prst="roundRect">
            <a:avLst>
              <a:gd name="adj" fmla="val 9259"/>
            </a:avLst>
          </a:prstGeom>
          <a:solidFill>
            <a:srgbClr val="F5ECE0"/>
          </a:solidFill>
          <a:ln/>
        </p:spPr>
      </p:sp>
      <p:sp>
        <p:nvSpPr>
          <p:cNvPr id="28" name="Text 26"/>
          <p:cNvSpPr/>
          <p:nvPr/>
        </p:nvSpPr>
        <p:spPr>
          <a:xfrm>
            <a:off x="685800" y="6025896"/>
            <a:ext cx="731520" cy="493776"/>
          </a:xfrm>
          <a:prstGeom prst="rect">
            <a:avLst/>
          </a:prstGeom>
          <a:noFill/>
          <a:ln/>
        </p:spPr>
        <p:txBody>
          <a:bodyPr wrap="square" rtlCol="0" anchor="ctr"/>
          <a:lstStyle/>
          <a:p>
            <a:pPr indent="0" marL="0">
              <a:buNone/>
            </a:pPr>
            <a:r>
              <a:rPr lang="en-US" sz="1500" b="1" dirty="0">
                <a:solidFill>
                  <a:srgbClr val="B4892B"/>
                </a:solidFill>
                <a:latin typeface="Consolas" pitchFamily="34" charset="0"/>
                <a:ea typeface="Consolas" pitchFamily="34" charset="-122"/>
                <a:cs typeface="Consolas" pitchFamily="34" charset="-120"/>
              </a:rPr>
              <a:t>L2</a:t>
            </a:r>
            <a:endParaRPr lang="en-US" sz="1500" dirty="0"/>
          </a:p>
        </p:txBody>
      </p:sp>
      <p:sp>
        <p:nvSpPr>
          <p:cNvPr id="29" name="Text 27"/>
          <p:cNvSpPr/>
          <p:nvPr/>
        </p:nvSpPr>
        <p:spPr>
          <a:xfrm>
            <a:off x="1463040" y="6025896"/>
            <a:ext cx="9966960" cy="493776"/>
          </a:xfrm>
          <a:prstGeom prst="rect">
            <a:avLst/>
          </a:prstGeom>
          <a:noFill/>
          <a:ln/>
        </p:spPr>
        <p:txBody>
          <a:bodyPr wrap="square" rtlCol="0" anchor="ctr"/>
          <a:lstStyle/>
          <a:p>
            <a:pPr indent="0" marL="0">
              <a:buNone/>
            </a:pPr>
            <a:r>
              <a:rPr lang="en-US" sz="1300" dirty="0">
                <a:solidFill>
                  <a:srgbClr val="1A1F1C"/>
                </a:solidFill>
                <a:latin typeface="Calibri" pitchFamily="34" charset="0"/>
                <a:ea typeface="Calibri" pitchFamily="34" charset="-122"/>
                <a:cs typeface="Calibri" pitchFamily="34" charset="-120"/>
              </a:rPr>
              <a:t>Own server — a wholly bespoke service the orchestrator calls. The full escape hatch.</a:t>
            </a:r>
            <a:endParaRPr lang="en-US" sz="1300" dirty="0"/>
          </a:p>
        </p:txBody>
      </p:sp>
      <p:sp>
        <p:nvSpPr>
          <p:cNvPr id="30" name="Text 28"/>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31" name="Text 29"/>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D9A93A"/>
                </a:solidFill>
                <a:latin typeface="Consolas" pitchFamily="34" charset="0"/>
                <a:ea typeface="Consolas" pitchFamily="34" charset="-122"/>
                <a:cs typeface="Consolas" pitchFamily="34" charset="-120"/>
              </a:rPr>
              <a:t>WHERE IT STANDS</a:t>
            </a:r>
            <a:endParaRPr lang="en-US" sz="1100" dirty="0"/>
          </a:p>
        </p:txBody>
      </p:sp>
      <p:sp>
        <p:nvSpPr>
          <p:cNvPr id="3" name="Text 1"/>
          <p:cNvSpPr/>
          <p:nvPr/>
        </p:nvSpPr>
        <p:spPr>
          <a:xfrm>
            <a:off x="502920" y="868680"/>
            <a:ext cx="10972800" cy="822960"/>
          </a:xfrm>
          <a:prstGeom prst="rect">
            <a:avLst/>
          </a:prstGeom>
          <a:noFill/>
          <a:ln/>
        </p:spPr>
        <p:txBody>
          <a:bodyPr wrap="square" rtlCol="0" anchor="ctr"/>
          <a:lstStyle/>
          <a:p>
            <a:pPr indent="0" marL="0">
              <a:buNone/>
            </a:pPr>
            <a:r>
              <a:rPr lang="en-US" sz="3200" b="1" dirty="0">
                <a:solidFill>
                  <a:srgbClr val="EDEEE7"/>
                </a:solidFill>
                <a:latin typeface="Cambria" pitchFamily="34" charset="0"/>
                <a:ea typeface="Cambria" pitchFamily="34" charset="-122"/>
                <a:cs typeface="Cambria" pitchFamily="34" charset="-120"/>
              </a:rPr>
              <a:t>Complete, verified, and ready to grow</a:t>
            </a:r>
            <a:endParaRPr lang="en-US" sz="3200" dirty="0"/>
          </a:p>
        </p:txBody>
      </p:sp>
      <p:sp>
        <p:nvSpPr>
          <p:cNvPr id="4" name="Text 2"/>
          <p:cNvSpPr/>
          <p:nvPr/>
        </p:nvSpPr>
        <p:spPr>
          <a:xfrm>
            <a:off x="548640" y="1783080"/>
            <a:ext cx="10972800" cy="365760"/>
          </a:xfrm>
          <a:prstGeom prst="rect">
            <a:avLst/>
          </a:prstGeom>
          <a:noFill/>
          <a:ln/>
        </p:spPr>
        <p:txBody>
          <a:bodyPr wrap="square" rtlCol="0" anchor="ctr"/>
          <a:lstStyle/>
          <a:p>
            <a:pPr indent="0" marL="0">
              <a:buNone/>
            </a:pPr>
            <a:r>
              <a:rPr lang="en-US" sz="1400" dirty="0">
                <a:solidFill>
                  <a:srgbClr val="AEB4A5"/>
                </a:solidFill>
                <a:latin typeface="Calibri" pitchFamily="34" charset="0"/>
                <a:ea typeface="Calibri" pitchFamily="34" charset="-122"/>
                <a:cs typeface="Calibri" pitchFamily="34" charset="-120"/>
              </a:rPr>
              <a:t>Deliberately deferred — known next steps held back until there's a concrete need, not gaps:</a:t>
            </a:r>
            <a:endParaRPr lang="en-US" sz="1400" dirty="0"/>
          </a:p>
        </p:txBody>
      </p:sp>
      <p:sp>
        <p:nvSpPr>
          <p:cNvPr id="5" name="Text 3"/>
          <p:cNvSpPr/>
          <p:nvPr/>
        </p:nvSpPr>
        <p:spPr>
          <a:xfrm>
            <a:off x="640080" y="2240280"/>
            <a:ext cx="10972800" cy="1828800"/>
          </a:xfrm>
          <a:prstGeom prst="rect">
            <a:avLst/>
          </a:prstGeom>
          <a:noFill/>
          <a:ln/>
        </p:spPr>
        <p:txBody>
          <a:bodyPr wrap="square" rtlCol="0" anchor="ctr"/>
          <a:lstStyle/>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Consolidate the two doc stores into one database — operational tidiness, no token/quality effect</a:t>
            </a:r>
            <a:endParaRPr lang="en-US" sz="1400" dirty="0"/>
          </a:p>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Formal ingestor/retriever interface layer — only pays off at a second, different source type</a:t>
            </a:r>
            <a:endParaRPr lang="en-US" sz="1400" dirty="0"/>
          </a:p>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Onboard more repos — the pattern is proven on reports; each is one JSON + a path</a:t>
            </a:r>
            <a:endParaRPr lang="en-US" sz="1400" dirty="0"/>
          </a:p>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Confluence content cleanup — trim duplicated boilerplate for even leaner retrieval</a:t>
            </a:r>
            <a:endParaRPr lang="en-US" sz="1400" dirty="0"/>
          </a:p>
        </p:txBody>
      </p:sp>
      <p:sp>
        <p:nvSpPr>
          <p:cNvPr id="6" name="Text 4"/>
          <p:cNvSpPr/>
          <p:nvPr/>
        </p:nvSpPr>
        <p:spPr>
          <a:xfrm>
            <a:off x="548640" y="4343400"/>
            <a:ext cx="7315200" cy="274320"/>
          </a:xfrm>
          <a:prstGeom prst="rect">
            <a:avLst/>
          </a:prstGeom>
          <a:noFill/>
          <a:ln/>
        </p:spPr>
        <p:txBody>
          <a:bodyPr wrap="square" rtlCol="0" anchor="ctr"/>
          <a:lstStyle/>
          <a:p>
            <a:pPr indent="0" marL="0">
              <a:buNone/>
            </a:pPr>
            <a:r>
              <a:rPr lang="en-US" sz="1100" b="1" spc="100" kern="0" dirty="0">
                <a:solidFill>
                  <a:srgbClr val="D9A93A"/>
                </a:solidFill>
                <a:latin typeface="Consolas" pitchFamily="34" charset="0"/>
                <a:ea typeface="Consolas" pitchFamily="34" charset="-122"/>
                <a:cs typeface="Consolas" pitchFamily="34" charset="-120"/>
              </a:rPr>
              <a:t>EXPLORE THE LIVE DOCS</a:t>
            </a:r>
            <a:endParaRPr lang="en-US" sz="1100" dirty="0"/>
          </a:p>
        </p:txBody>
      </p:sp>
      <p:sp>
        <p:nvSpPr>
          <p:cNvPr id="7" name="Shape 5"/>
          <p:cNvSpPr/>
          <p:nvPr/>
        </p:nvSpPr>
        <p:spPr>
          <a:xfrm>
            <a:off x="548640" y="4754880"/>
            <a:ext cx="2606040" cy="868680"/>
          </a:xfrm>
          <a:prstGeom prst="roundRect">
            <a:avLst>
              <a:gd name="adj" fmla="val 8421"/>
            </a:avLst>
          </a:prstGeom>
          <a:solidFill>
            <a:srgbClr val="22302A"/>
          </a:solidFill>
          <a:ln w="12700">
            <a:solidFill>
              <a:srgbClr val="3A463D"/>
            </a:solidFill>
            <a:prstDash val="solid"/>
          </a:ln>
        </p:spPr>
      </p:sp>
      <p:sp>
        <p:nvSpPr>
          <p:cNvPr id="8" name="Text 6">
            <a:hlinkClick r:id="rId1" tooltip=""/>
          </p:cNvPr>
          <p:cNvSpPr/>
          <p:nvPr/>
        </p:nvSpPr>
        <p:spPr>
          <a:xfrm>
            <a:off x="59436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1" invalidUrl="" action="" tgtFrame="" tooltip="" history="1" highlightClick="0" endSnd="0">
                  <a:extLst>
                    <a:ext uri="{A12FA001-AC4F-418D-AE19-62706E023703}">
                      <ahyp:hlinkClr xmlns:ahyp="http://schemas.microsoft.com/office/drawing/2018/hyperlinkcolor" val="tx"/>
                    </a:ext>
                  </a:extLst>
                </a:hlinkClick>
              </a:rPr>
              <a:t>Overview</a:t>
            </a:r>
            <a:endParaRPr lang="en-US" sz="1600" dirty="0"/>
          </a:p>
        </p:txBody>
      </p:sp>
      <p:sp>
        <p:nvSpPr>
          <p:cNvPr id="9" name="Text 7">
            <a:hlinkClick r:id="rId2" tooltip=""/>
          </p:cNvPr>
          <p:cNvSpPr/>
          <p:nvPr/>
        </p:nvSpPr>
        <p:spPr>
          <a:xfrm>
            <a:off x="594360" y="5230368"/>
            <a:ext cx="2514600" cy="274320"/>
          </a:xfrm>
          <a:prstGeom prst="rect">
            <a:avLst/>
          </a:prstGeom>
          <a:noFill/>
          <a:ln/>
        </p:spPr>
        <p:txBody>
          <a:bodyPr wrap="square" rtlCol="0" anchor="ctr"/>
          <a:lstStyle/>
          <a:p>
            <a:pPr algn="ctr" indent="0" marL="0">
              <a:buNone/>
            </a:pPr>
            <a:r>
              <a:rPr lang="en-US" sz="1000" u="sng" dirty="0">
                <a:solidFill>
                  <a:srgbClr val="0F8A80"/>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0" name="Shape 8"/>
          <p:cNvSpPr/>
          <p:nvPr/>
        </p:nvSpPr>
        <p:spPr>
          <a:xfrm>
            <a:off x="3337560" y="4754880"/>
            <a:ext cx="2606040" cy="868680"/>
          </a:xfrm>
          <a:prstGeom prst="roundRect">
            <a:avLst>
              <a:gd name="adj" fmla="val 8421"/>
            </a:avLst>
          </a:prstGeom>
          <a:solidFill>
            <a:srgbClr val="22302A"/>
          </a:solidFill>
          <a:ln w="12700">
            <a:solidFill>
              <a:srgbClr val="3A463D"/>
            </a:solidFill>
            <a:prstDash val="solid"/>
          </a:ln>
        </p:spPr>
      </p:sp>
      <p:sp>
        <p:nvSpPr>
          <p:cNvPr id="11" name="Text 9">
            <a:hlinkClick r:id="rId3" tooltip=""/>
          </p:cNvPr>
          <p:cNvSpPr/>
          <p:nvPr/>
        </p:nvSpPr>
        <p:spPr>
          <a:xfrm>
            <a:off x="338328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Architecture</a:t>
            </a:r>
            <a:endParaRPr lang="en-US" sz="1600" dirty="0"/>
          </a:p>
        </p:txBody>
      </p:sp>
      <p:sp>
        <p:nvSpPr>
          <p:cNvPr id="12" name="Text 10">
            <a:hlinkClick r:id="rId4" tooltip=""/>
          </p:cNvPr>
          <p:cNvSpPr/>
          <p:nvPr/>
        </p:nvSpPr>
        <p:spPr>
          <a:xfrm>
            <a:off x="3383280" y="5230368"/>
            <a:ext cx="2514600" cy="274320"/>
          </a:xfrm>
          <a:prstGeom prst="rect">
            <a:avLst/>
          </a:prstGeom>
          <a:noFill/>
          <a:ln/>
        </p:spPr>
        <p:txBody>
          <a:bodyPr wrap="square" rtlCol="0" anchor="ctr"/>
          <a:lstStyle/>
          <a:p>
            <a:pPr algn="ctr" indent="0" marL="0">
              <a:buNone/>
            </a:pPr>
            <a:r>
              <a:rPr lang="en-US" sz="1000" u="sng" dirty="0">
                <a:solidFill>
                  <a:srgbClr val="5B57A6"/>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3" name="Shape 11"/>
          <p:cNvSpPr/>
          <p:nvPr/>
        </p:nvSpPr>
        <p:spPr>
          <a:xfrm>
            <a:off x="6126480" y="4754880"/>
            <a:ext cx="2606040" cy="868680"/>
          </a:xfrm>
          <a:prstGeom prst="roundRect">
            <a:avLst>
              <a:gd name="adj" fmla="val 8421"/>
            </a:avLst>
          </a:prstGeom>
          <a:solidFill>
            <a:srgbClr val="22302A"/>
          </a:solidFill>
          <a:ln w="12700">
            <a:solidFill>
              <a:srgbClr val="3A463D"/>
            </a:solidFill>
            <a:prstDash val="solid"/>
          </a:ln>
        </p:spPr>
      </p:sp>
      <p:sp>
        <p:nvSpPr>
          <p:cNvPr id="14" name="Text 12">
            <a:hlinkClick r:id="rId5" tooltip=""/>
          </p:cNvPr>
          <p:cNvSpPr/>
          <p:nvPr/>
        </p:nvSpPr>
        <p:spPr>
          <a:xfrm>
            <a:off x="617220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Contract</a:t>
            </a:r>
            <a:endParaRPr lang="en-US" sz="1600" dirty="0"/>
          </a:p>
        </p:txBody>
      </p:sp>
      <p:sp>
        <p:nvSpPr>
          <p:cNvPr id="15" name="Text 13">
            <a:hlinkClick r:id="rId6" tooltip=""/>
          </p:cNvPr>
          <p:cNvSpPr/>
          <p:nvPr/>
        </p:nvSpPr>
        <p:spPr>
          <a:xfrm>
            <a:off x="6172200" y="5230368"/>
            <a:ext cx="2514600" cy="274320"/>
          </a:xfrm>
          <a:prstGeom prst="rect">
            <a:avLst/>
          </a:prstGeom>
          <a:noFill/>
          <a:ln/>
        </p:spPr>
        <p:txBody>
          <a:bodyPr wrap="square" rtlCol="0" anchor="ctr"/>
          <a:lstStyle/>
          <a:p>
            <a:pPr algn="ctr" indent="0" marL="0">
              <a:buNone/>
            </a:pPr>
            <a:r>
              <a:rPr lang="en-US" sz="1000" u="sng" dirty="0">
                <a:solidFill>
                  <a:srgbClr val="B4892B"/>
                </a:solidFill>
                <a:latin typeface="Consolas" pitchFamily="34" charset="0"/>
                <a:ea typeface="Consolas" pitchFamily="34" charset="-122"/>
                <a:cs typeface="Consolas"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6" name="Shape 14"/>
          <p:cNvSpPr/>
          <p:nvPr/>
        </p:nvSpPr>
        <p:spPr>
          <a:xfrm>
            <a:off x="8915400" y="4754880"/>
            <a:ext cx="2606040" cy="868680"/>
          </a:xfrm>
          <a:prstGeom prst="roundRect">
            <a:avLst>
              <a:gd name="adj" fmla="val 8421"/>
            </a:avLst>
          </a:prstGeom>
          <a:solidFill>
            <a:srgbClr val="22302A"/>
          </a:solidFill>
          <a:ln w="12700">
            <a:solidFill>
              <a:srgbClr val="3A463D"/>
            </a:solidFill>
            <a:prstDash val="solid"/>
          </a:ln>
        </p:spPr>
      </p:sp>
      <p:sp>
        <p:nvSpPr>
          <p:cNvPr id="17" name="Text 15">
            <a:hlinkClick r:id="rId7" tooltip=""/>
          </p:cNvPr>
          <p:cNvSpPr/>
          <p:nvPr/>
        </p:nvSpPr>
        <p:spPr>
          <a:xfrm>
            <a:off x="896112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7" invalidUrl="" action="" tgtFrame="" tooltip="" history="1" highlightClick="0" endSnd="0">
                  <a:extLst>
                    <a:ext uri="{A12FA001-AC4F-418D-AE19-62706E023703}">
                      <ahyp:hlinkClr xmlns:ahyp="http://schemas.microsoft.com/office/drawing/2018/hyperlinkcolor" val="tx"/>
                    </a:ext>
                  </a:extLst>
                </a:hlinkClick>
              </a:rPr>
              <a:t>Chunking</a:t>
            </a:r>
            <a:endParaRPr lang="en-US" sz="1600" dirty="0"/>
          </a:p>
        </p:txBody>
      </p:sp>
      <p:sp>
        <p:nvSpPr>
          <p:cNvPr id="18" name="Text 16">
            <a:hlinkClick r:id="rId8" tooltip=""/>
          </p:cNvPr>
          <p:cNvSpPr/>
          <p:nvPr/>
        </p:nvSpPr>
        <p:spPr>
          <a:xfrm>
            <a:off x="8961120" y="5230368"/>
            <a:ext cx="2514600" cy="274320"/>
          </a:xfrm>
          <a:prstGeom prst="rect">
            <a:avLst/>
          </a:prstGeom>
          <a:noFill/>
          <a:ln/>
        </p:spPr>
        <p:txBody>
          <a:bodyPr wrap="square" rtlCol="0" anchor="ctr"/>
          <a:lstStyle/>
          <a:p>
            <a:pPr algn="ctr" indent="0" marL="0">
              <a:buNone/>
            </a:pPr>
            <a:r>
              <a:rPr lang="en-US" sz="1000" u="sng" dirty="0">
                <a:solidFill>
                  <a:srgbClr val="0F8A80"/>
                </a:solidFill>
                <a:latin typeface="Consolas" pitchFamily="34" charset="0"/>
                <a:ea typeface="Consolas" pitchFamily="34" charset="-122"/>
                <a:cs typeface="Consolas"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9" name="Text 17"/>
          <p:cNvSpPr/>
          <p:nvPr/>
        </p:nvSpPr>
        <p:spPr>
          <a:xfrm>
            <a:off x="548640" y="6035040"/>
            <a:ext cx="10972800" cy="320040"/>
          </a:xfrm>
          <a:prstGeom prst="rect">
            <a:avLst/>
          </a:prstGeom>
          <a:noFill/>
          <a:ln/>
        </p:spPr>
        <p:txBody>
          <a:bodyPr wrap="square" rtlCol="0" anchor="ctr"/>
          <a:lstStyle/>
          <a:p>
            <a:pPr indent="0" marL="0">
              <a:buNone/>
            </a:pPr>
            <a:r>
              <a:rPr lang="en-US" sz="1100" dirty="0">
                <a:solidFill>
                  <a:srgbClr val="AEB4A5"/>
                </a:solidFill>
                <a:latin typeface="Consolas" pitchFamily="34" charset="0"/>
                <a:ea typeface="Consolas" pitchFamily="34" charset="-122"/>
                <a:cs typeface="Consolas" pitchFamily="34" charset="-120"/>
              </a:rPr>
              <a:t>lp-uworld-rag · one question, both answers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2026-07-13T04:29:19Z</dcterms:created>
  <dcterms:modified xsi:type="dcterms:W3CDTF">2026-07-13T04:29:19Z</dcterms:modified>
</cp:coreProperties>
</file>