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tokens</c:v>
                </c:pt>
              </c:strCache>
            </c:strRef>
          </c:tx>
          <c:spPr>
            <a:solidFill>
              <a:srgbClr val="2F7D5C"/>
            </a:solidFill>
            <a:effectLst/>
          </c:spPr>
          <c:invertIfNegative val="0"/>
          <c:dLbls>
            <c:numFmt formatCode="#,##0" sourceLinked="0"/>
            <c:txPr>
              <a:bodyPr/>
              <a:lstStyle/>
              <a:p>
                <a:pPr>
                  <a:defRPr b="1" i="0" strike="noStrike" sz="1400" u="none">
                    <a:solidFill>
                      <a:srgbClr val="EDEEE7"/>
                    </a:solidFill>
                    <a:latin typeface="Consolas"/>
                  </a:defRPr>
                </a:pPr>
              </a:p>
            </c:txPr>
            <c:showLegendKey val="0"/>
            <c:showVal val="1"/>
            <c:showCatName val="0"/>
            <c:showSerName val="0"/>
            <c:showPercent val="0"/>
            <c:showBubbleSize val="0"/>
            <c:showLeaderLines val="0"/>
          </c:dLbls>
          <c:dPt>
            <c:idx val="0"/>
            <c:invertIfNegative val="0"/>
            <c:bubble3D val="0"/>
            <c:spPr>
              <a:solidFill>
                <a:srgbClr val="2F7D5C"/>
              </a:solidFill>
              <a:effectLst/>
            </c:spPr>
          </c:dPt>
          <c:dPt>
            <c:idx val="1"/>
            <c:invertIfNegative val="0"/>
            <c:bubble3D val="0"/>
            <c:spPr>
              <a:solidFill>
                <a:srgbClr val="B23B3B"/>
              </a:solidFill>
              <a:effectLst/>
            </c:spPr>
          </c:dPt>
          <c:cat>
            <c:multiLvlStrRef>
              <c:f>Sheet1!$A$2:$A$3</c:f>
              <c:multiLvlStrCache>
                <c:ptCount val="2"/>
                <c:lvl>
                  <c:pt idx="0">
                    <c:v>With RAG
(one query)</c:v>
                  </c:pt>
                  <c:pt idx="1">
                    <c:v>Without RAG
(read by hand)</c:v>
                  </c:pt>
                </c:lvl>
              </c:multiLvlStrCache>
            </c:multiLvlStrRef>
          </c:cat>
          <c:val>
            <c:numRef>
              <c:f>Sheet1!$B$2:$B$3</c:f>
              <c:numCache>
                <c:formatCode>General</c:formatCode>
                <c:ptCount val="2"/>
                <c:pt idx="0">
                  <c:v>2246</c:v>
                </c:pt>
                <c:pt idx="1">
                  <c:v>15999</c:v>
                </c:pt>
              </c:numCache>
            </c:numRef>
          </c:val>
        </c:ser>
        <c:dLbls>
          <c:numFmt formatCode="#,##0" sourceLinked="0"/>
          <c:txPr>
            <a:bodyPr/>
            <a:lstStyle/>
            <a:p>
              <a:pPr>
                <a:defRPr b="1" i="0" strike="noStrike" sz="1400" u="none">
                  <a:solidFill>
                    <a:srgbClr val="EDEEE7"/>
                  </a:solidFill>
                  <a:latin typeface="Consolas"/>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EDEEE7"/>
                </a:solidFill>
                <a:latin typeface="Calibri"/>
              </a:defRPr>
            </a:pPr>
            <a:endParaRPr lang="en-US"/>
          </a:p>
        </c:txPr>
        <c:crossAx val="2094734552"/>
        <c:crosses val="autoZero"/>
        <c:auto val="1"/>
        <c:lblAlgn val="ctr"/>
        <c:noMultiLvlLbl val="1"/>
      </c:catAx>
      <c:valAx>
        <c:axId val="2094734552"/>
        <c:scaling>
          <c:orientation val="minMax"/>
          <c:max val="18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payload tokens</c:v>
                </c:pt>
              </c:strCache>
            </c:strRef>
          </c:tx>
          <c:spPr>
            <a:solidFill>
              <a:srgbClr val="0F8A80"/>
            </a:solidFill>
            <a:effectLst/>
          </c:spPr>
          <c:invertIfNegative val="0"/>
          <c:dLbls>
            <c:numFmt formatCode="#,##0" sourceLinked="0"/>
            <c:txPr>
              <a:bodyPr/>
              <a:lstStyle/>
              <a:p>
                <a:pPr>
                  <a:defRPr b="1" i="0" strike="noStrike" sz="1300" u="none">
                    <a:solidFill>
                      <a:srgbClr val="1A1F1C"/>
                    </a:solidFill>
                    <a:latin typeface="Consolas"/>
                  </a:defRPr>
                </a:pPr>
              </a:p>
            </c:txPr>
            <c:showLegendKey val="0"/>
            <c:showVal val="1"/>
            <c:showCatName val="0"/>
            <c:showSerName val="0"/>
            <c:showPercent val="0"/>
            <c:showBubbleSize val="0"/>
            <c:showLeaderLines val="0"/>
          </c:dLbls>
          <c:cat>
            <c:multiLvlStrRef>
              <c:f>Sheet1!$A$2:$A$4</c:f>
              <c:multiLvlStrCache>
                <c:ptCount val="3"/>
                <c:lvl>
                  <c:pt idx="0">
                    <c:v>Bug fix
chase one endpoint</c:v>
                  </c:pt>
                  <c:pt idx="1">
                    <c:v>Enhancement
keep siblings consistent</c:v>
                  </c:pt>
                  <c:pt idx="2">
                    <c:v>New feature
scope end-to-end</c:v>
                  </c:pt>
                </c:lvl>
              </c:multiLvlStrCache>
            </c:multiLvlStrRef>
          </c:cat>
          <c:val>
            <c:numRef>
              <c:f>Sheet1!$B$2:$B$4</c:f>
              <c:numCache>
                <c:formatCode>General</c:formatCode>
                <c:ptCount val="3"/>
                <c:pt idx="0">
                  <c:v>2246</c:v>
                </c:pt>
                <c:pt idx="1">
                  <c:v>3542</c:v>
                </c:pt>
                <c:pt idx="2">
                  <c:v>4461</c:v>
                </c:pt>
              </c:numCache>
            </c:numRef>
          </c:val>
        </c:ser>
        <c:dLbls>
          <c:numFmt formatCode="#,##0" sourceLinked="0"/>
          <c:txPr>
            <a:bodyPr/>
            <a:lstStyle/>
            <a:p>
              <a:pPr>
                <a:defRPr b="1" i="0" strike="noStrike" sz="1300" u="none">
                  <a:solidFill>
                    <a:srgbClr val="1A1F1C"/>
                  </a:solidFill>
                  <a:latin typeface="Consolas"/>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055"/>
                </a:solidFill>
                <a:latin typeface="Calibri"/>
              </a:defRPr>
            </a:pPr>
            <a:endParaRPr lang="en-US"/>
          </a:p>
        </c:txPr>
        <c:crossAx val="2094734552"/>
        <c:crosses val="autoZero"/>
        <c:auto val="1"/>
        <c:lblAlgn val="ctr"/>
        <c:noMultiLvlLbl val="1"/>
      </c:catAx>
      <c:valAx>
        <c:axId val="2094734552"/>
        <c:scaling>
          <c:orientation val="minMax"/>
          <c:max val="52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8A907F"/>
            </a:solidFill>
            <a:effectLst/>
          </c:spPr>
          <c:invertIfNegative val="0"/>
          <c:dLbls>
            <c:numFmt formatCode="#,##0" sourceLinked="0"/>
            <c:txPr>
              <a:bodyPr/>
              <a:lstStyle/>
              <a:p>
                <a:pPr>
                  <a:defRPr b="0" i="0" strike="noStrike" sz="1000" u="none">
                    <a:solidFill>
                      <a:srgbClr val="1A1F1C"/>
                    </a:solidFill>
                    <a:latin typeface="Consolas"/>
                  </a:defRPr>
                </a:pPr>
              </a:p>
            </c:txPr>
            <c:showLegendKey val="0"/>
            <c:showVal val="1"/>
            <c:showCatName val="0"/>
            <c:showSerName val="0"/>
            <c:showPercent val="0"/>
            <c:showBubbleSize val="0"/>
            <c:showLeaderLines val="0"/>
          </c:dLbls>
          <c:cat>
            <c:multiLvlStrRef>
              <c:f>Sheet1!$A$2:$A$4</c:f>
              <c:multiLvlStrCache>
                <c:ptCount val="3"/>
                <c:lvl>
                  <c:pt idx="0">
                    <c:v>deep_query payload</c:v>
                  </c:pt>
                  <c:pt idx="1">
                    <c:v>Docs retrieval</c:v>
                  </c:pt>
                  <c:pt idx="2">
                    <c:v>Reports code eval</c:v>
                  </c:pt>
                </c:lvl>
              </c:multiLvlStrCache>
            </c:multiLvlStrRef>
          </c:cat>
          <c:val>
            <c:numRef>
              <c:f>Sheet1!$B$2:$B$4</c:f>
              <c:numCache>
                <c:formatCode>General</c:formatCode>
                <c:ptCount val="3"/>
                <c:pt idx="0">
                  <c:v>14339</c:v>
                </c:pt>
                <c:pt idx="1">
                  <c:v>33973</c:v>
                </c:pt>
                <c:pt idx="2">
                  <c:v>20948</c:v>
                </c:pt>
              </c:numCache>
            </c:numRef>
          </c:val>
        </c:ser>
        <c:ser>
          <c:idx val="1"/>
          <c:order val="1"/>
          <c:tx>
            <c:strRef>
              <c:f>Sheet1!$C$1</c:f>
              <c:strCache>
                <c:ptCount val="1"/>
                <c:pt idx="0">
                  <c:v>After</c:v>
                </c:pt>
              </c:strCache>
            </c:strRef>
          </c:tx>
          <c:spPr>
            <a:solidFill>
              <a:srgbClr val="5B57A6"/>
            </a:solidFill>
            <a:effectLst/>
          </c:spPr>
          <c:invertIfNegative val="0"/>
          <c:dLbls>
            <c:numFmt formatCode="#,##0" sourceLinked="0"/>
            <c:txPr>
              <a:bodyPr/>
              <a:lstStyle/>
              <a:p>
                <a:pPr>
                  <a:defRPr b="0" i="0" strike="noStrike" sz="1000" u="none">
                    <a:solidFill>
                      <a:srgbClr val="1A1F1C"/>
                    </a:solidFill>
                    <a:latin typeface="Consolas"/>
                  </a:defRPr>
                </a:pPr>
              </a:p>
            </c:txPr>
            <c:showLegendKey val="0"/>
            <c:showVal val="1"/>
            <c:showCatName val="0"/>
            <c:showSerName val="0"/>
            <c:showPercent val="0"/>
            <c:showBubbleSize val="0"/>
            <c:showLeaderLines val="0"/>
          </c:dLbls>
          <c:cat>
            <c:multiLvlStrRef>
              <c:f>Sheet1!$A$2:$A$4</c:f>
              <c:multiLvlStrCache>
                <c:ptCount val="3"/>
                <c:lvl>
                  <c:pt idx="0">
                    <c:v>deep_query payload</c:v>
                  </c:pt>
                  <c:pt idx="1">
                    <c:v>Docs retrieval</c:v>
                  </c:pt>
                  <c:pt idx="2">
                    <c:v>Reports code eval</c:v>
                  </c:pt>
                </c:lvl>
              </c:multiLvlStrCache>
            </c:multiLvlStrRef>
          </c:cat>
          <c:val>
            <c:numRef>
              <c:f>Sheet1!$C$2:$C$4</c:f>
              <c:numCache>
                <c:formatCode>General</c:formatCode>
                <c:ptCount val="3"/>
                <c:pt idx="0">
                  <c:v>2938</c:v>
                </c:pt>
                <c:pt idx="1">
                  <c:v>9959</c:v>
                </c:pt>
                <c:pt idx="2">
                  <c:v>13992</c:v>
                </c:pt>
              </c:numCache>
            </c:numRef>
          </c:val>
        </c:ser>
        <c:dLbls>
          <c:numFmt formatCode="#,##0" sourceLinked="0"/>
          <c:txPr>
            <a:bodyPr/>
            <a:lstStyle/>
            <a:p>
              <a:pPr>
                <a:defRPr b="0" i="0" strike="noStrike" sz="1000" u="none">
                  <a:solidFill>
                    <a:srgbClr val="1A1F1C"/>
                  </a:solidFill>
                  <a:latin typeface="Consolas"/>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055"/>
                </a:solidFill>
                <a:latin typeface="Calibri"/>
              </a:defRPr>
            </a:pPr>
            <a:endParaRPr lang="en-US"/>
          </a:p>
        </c:txPr>
        <c:crossAx val="2094734552"/>
        <c:crosses val="autoZero"/>
        <c:auto val="1"/>
        <c:lblAlgn val="ctr"/>
        <c:noMultiLvlLbl val="1"/>
      </c:catAx>
      <c:valAx>
        <c:axId val="2094734552"/>
        <c:scaling>
          <c:orientation val="minMax"/>
          <c:max val="38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A60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laude.ai/code/artifact/39523bd4-0462-4468-98cb-a8fc1d42c67e" TargetMode="External"/><Relationship Id="rId2" Type="http://schemas.openxmlformats.org/officeDocument/2006/relationships/hyperlink" Target="https://claude.ai/code/artifact/39523bd4-0462-4468-98cb-a8fc1d42c67e" TargetMode="External"/><Relationship Id="rId3" Type="http://schemas.openxmlformats.org/officeDocument/2006/relationships/hyperlink" Target="https://claude.ai/code/artifact/4e184a9a-2036-485c-9422-e2f4ee9373f3" TargetMode="External"/><Relationship Id="rId4" Type="http://schemas.openxmlformats.org/officeDocument/2006/relationships/hyperlink" Target="https://claude.ai/code/artifact/4e184a9a-2036-485c-9422-e2f4ee9373f3" TargetMode="External"/><Relationship Id="rId5" Type="http://schemas.openxmlformats.org/officeDocument/2006/relationships/hyperlink" Target="https://claude.ai/code/artifact/2e1b7262-1f8b-495a-a33b-22e4ef5fc062" TargetMode="External"/><Relationship Id="rId6" Type="http://schemas.openxmlformats.org/officeDocument/2006/relationships/hyperlink" Target="https://claude.ai/code/artifact/2e1b7262-1f8b-495a-a33b-22e4ef5fc062" TargetMode="External"/><Relationship Id="rId7" Type="http://schemas.openxmlformats.org/officeDocument/2006/relationships/hyperlink" Target="https://claude.ai/code/artifact/6c610430-8bbd-489c-a66c-44b2cdeaa562" TargetMode="External"/><Relationship Id="rId8" Type="http://schemas.openxmlformats.org/officeDocument/2006/relationships/hyperlink" Target="https://claude.ai/code/artifact/6c610430-8bbd-489c-a66c-44b2cdeaa562" TargetMode="External"/><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1B"/>
        </a:solidFill>
      </p:bgPr>
    </p:bg>
    <p:spTree>
      <p:nvGrpSpPr>
        <p:cNvPr id="1" name=""/>
        <p:cNvGrpSpPr/>
        <p:nvPr/>
      </p:nvGrpSpPr>
      <p:grpSpPr>
        <a:xfrm>
          <a:off x="0" y="0"/>
          <a:ext cx="0" cy="0"/>
          <a:chOff x="0" y="0"/>
          <a:chExt cx="0" cy="0"/>
        </a:xfrm>
      </p:grpSpPr>
      <p:sp>
        <p:nvSpPr>
          <p:cNvPr id="2" name="Text 0"/>
          <p:cNvSpPr/>
          <p:nvPr/>
        </p:nvSpPr>
        <p:spPr>
          <a:xfrm>
            <a:off x="822960" y="2011680"/>
            <a:ext cx="10515600" cy="1828800"/>
          </a:xfrm>
          <a:prstGeom prst="rect">
            <a:avLst/>
          </a:prstGeom>
          <a:noFill/>
          <a:ln/>
        </p:spPr>
        <p:txBody>
          <a:bodyPr wrap="square" rtlCol="0" anchor="ctr"/>
          <a:lstStyle/>
          <a:p>
            <a:pPr indent="0" marL="0">
              <a:lnSpc>
                <a:spcPts val="4600"/>
              </a:lnSpc>
              <a:buNone/>
            </a:pPr>
            <a:r>
              <a:rPr lang="en-US" sz="4400" b="1" dirty="0">
                <a:solidFill>
                  <a:srgbClr val="EDEEE7"/>
                </a:solidFill>
                <a:latin typeface="Cambria" pitchFamily="34" charset="0"/>
                <a:ea typeface="Cambria" pitchFamily="34" charset="-122"/>
                <a:cs typeface="Cambria" pitchFamily="34" charset="-120"/>
              </a:rPr>
              <a:t>Ask once. Get the docs and the code that answer it.</a:t>
            </a:r>
            <a:endParaRPr lang="en-US" sz="4400" dirty="0"/>
          </a:p>
        </p:txBody>
      </p:sp>
      <p:sp>
        <p:nvSpPr>
          <p:cNvPr id="3" name="Text 1"/>
          <p:cNvSpPr/>
          <p:nvPr/>
        </p:nvSpPr>
        <p:spPr>
          <a:xfrm>
            <a:off x="841248" y="3886200"/>
            <a:ext cx="10424160" cy="548640"/>
          </a:xfrm>
          <a:prstGeom prst="rect">
            <a:avLst/>
          </a:prstGeom>
          <a:noFill/>
          <a:ln/>
        </p:spPr>
        <p:txBody>
          <a:bodyPr wrap="square" rtlCol="0" anchor="ctr"/>
          <a:lstStyle/>
          <a:p>
            <a:pPr indent="0" marL="0">
              <a:buNone/>
            </a:pPr>
            <a:r>
              <a:rPr lang="en-US" sz="1600" b="1" dirty="0">
                <a:solidFill>
                  <a:srgbClr val="0F8A80"/>
                </a:solidFill>
                <a:latin typeface="Consolas" pitchFamily="34" charset="0"/>
                <a:ea typeface="Consolas" pitchFamily="34" charset="-122"/>
                <a:cs typeface="Consolas" pitchFamily="34" charset="-120"/>
              </a:rPr>
              <a:t>lp-uworld-rag</a:t>
            </a:r>
            <a:pPr indent="0" marL="0">
              <a:buNone/>
            </a:pPr>
            <a:r>
              <a:rPr lang="en-US" sz="1600" dirty="0">
                <a:solidFill>
                  <a:srgbClr val="AEB4A5"/>
                </a:solidFill>
              </a:rPr>
              <a:t>   —   a retrieval system connecting the Learning Platform's Confluence docs to the actual source in each repo</a:t>
            </a:r>
            <a:endParaRPr lang="en-US" sz="1600" dirty="0"/>
          </a:p>
        </p:txBody>
      </p:sp>
      <p:sp>
        <p:nvSpPr>
          <p:cNvPr id="4" name="Text 2"/>
          <p:cNvSpPr/>
          <p:nvPr/>
        </p:nvSpPr>
        <p:spPr>
          <a:xfrm>
            <a:off x="841248" y="5943600"/>
            <a:ext cx="7315200" cy="320040"/>
          </a:xfrm>
          <a:prstGeom prst="rect">
            <a:avLst/>
          </a:prstGeom>
          <a:noFill/>
          <a:ln/>
        </p:spPr>
        <p:txBody>
          <a:bodyPr wrap="square" rtlCol="0" anchor="ctr"/>
          <a:lstStyle/>
          <a:p>
            <a:pPr indent="0" marL="0">
              <a:buNone/>
            </a:pPr>
            <a:r>
              <a:rPr lang="en-US" sz="1100" spc="100" kern="0" dirty="0">
                <a:solidFill>
                  <a:srgbClr val="AEB4A5"/>
                </a:solidFill>
                <a:latin typeface="Consolas" pitchFamily="34" charset="0"/>
                <a:ea typeface="Consolas" pitchFamily="34" charset="-122"/>
                <a:cs typeface="Consolas" pitchFamily="34" charset="-120"/>
              </a:rPr>
              <a:t>Engineering pitch · internal</a:t>
            </a:r>
            <a:endParaRPr lang="en-US" sz="1100" dirty="0"/>
          </a:p>
        </p:txBody>
      </p:sp>
      <p:sp>
        <p:nvSpPr>
          <p:cNvPr id="5" name="Shape 3"/>
          <p:cNvSpPr/>
          <p:nvPr/>
        </p:nvSpPr>
        <p:spPr>
          <a:xfrm>
            <a:off x="841248" y="5029200"/>
            <a:ext cx="182880" cy="182880"/>
          </a:xfrm>
          <a:prstGeom prst="ellipse">
            <a:avLst/>
          </a:prstGeom>
          <a:solidFill>
            <a:srgbClr val="B4892B"/>
          </a:solidFill>
          <a:ln/>
        </p:spPr>
      </p:sp>
      <p:sp>
        <p:nvSpPr>
          <p:cNvPr id="6" name="Shape 4"/>
          <p:cNvSpPr/>
          <p:nvPr/>
        </p:nvSpPr>
        <p:spPr>
          <a:xfrm>
            <a:off x="1152144" y="5029200"/>
            <a:ext cx="182880" cy="182880"/>
          </a:xfrm>
          <a:prstGeom prst="ellipse">
            <a:avLst/>
          </a:prstGeom>
          <a:solidFill>
            <a:srgbClr val="5B57A6"/>
          </a:solidFill>
          <a:ln/>
        </p:spPr>
      </p:sp>
      <p:sp>
        <p:nvSpPr>
          <p:cNvPr id="7" name="Shape 5"/>
          <p:cNvSpPr/>
          <p:nvPr/>
        </p:nvSpPr>
        <p:spPr>
          <a:xfrm>
            <a:off x="1463040" y="5029200"/>
            <a:ext cx="182880" cy="182880"/>
          </a:xfrm>
          <a:prstGeom prst="ellipse">
            <a:avLst/>
          </a:prstGeom>
          <a:solidFill>
            <a:srgbClr val="0F8A8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B23B3B"/>
                </a:solidFill>
                <a:latin typeface="Consolas" pitchFamily="34" charset="0"/>
                <a:ea typeface="Consolas" pitchFamily="34" charset="-122"/>
                <a:cs typeface="Consolas" pitchFamily="34" charset="-120"/>
              </a:rPr>
              <a:t>THE PROBLEM</a:t>
            </a:r>
            <a:endParaRPr lang="en-US" sz="1100" dirty="0"/>
          </a:p>
        </p:txBody>
      </p:sp>
      <p:sp>
        <p:nvSpPr>
          <p:cNvPr id="3" name="Text 1"/>
          <p:cNvSpPr/>
          <p:nvPr/>
        </p:nvSpPr>
        <p:spPr>
          <a:xfrm>
            <a:off x="502920" y="822960"/>
            <a:ext cx="11155680" cy="914400"/>
          </a:xfrm>
          <a:prstGeom prst="rect">
            <a:avLst/>
          </a:prstGeom>
          <a:noFill/>
          <a:ln/>
        </p:spPr>
        <p:txBody>
          <a:bodyPr wrap="square" rtlCol="0" anchor="ctr"/>
          <a:lstStyle/>
          <a:p>
            <a:pPr indent="0" marL="0">
              <a:buNone/>
            </a:pPr>
            <a:r>
              <a:rPr lang="en-US" sz="3200" b="1" dirty="0">
                <a:solidFill>
                  <a:srgbClr val="1A1F1C"/>
                </a:solidFill>
                <a:latin typeface="Cambria" pitchFamily="34" charset="0"/>
                <a:ea typeface="Cambria" pitchFamily="34" charset="-122"/>
                <a:cs typeface="Cambria" pitchFamily="34" charset="-120"/>
              </a:rPr>
              <a:t>Answers live in two places, and neither is searchable together</a:t>
            </a:r>
            <a:endParaRPr lang="en-US" sz="3200" dirty="0"/>
          </a:p>
        </p:txBody>
      </p:sp>
      <p:sp>
        <p:nvSpPr>
          <p:cNvPr id="4" name="Text 2"/>
          <p:cNvSpPr/>
          <p:nvPr/>
        </p:nvSpPr>
        <p:spPr>
          <a:xfrm>
            <a:off x="548640" y="1783080"/>
            <a:ext cx="10789920" cy="640080"/>
          </a:xfrm>
          <a:prstGeom prst="rect">
            <a:avLst/>
          </a:prstGeom>
          <a:noFill/>
          <a:ln/>
        </p:spPr>
        <p:txBody>
          <a:bodyPr wrap="square" rtlCol="0" anchor="ctr"/>
          <a:lstStyle/>
          <a:p>
            <a:pPr indent="0" marL="0">
              <a:buNone/>
            </a:pPr>
            <a:r>
              <a:rPr lang="en-US" sz="1600" dirty="0">
                <a:solidFill>
                  <a:srgbClr val="5A6055"/>
                </a:solidFill>
                <a:latin typeface="Calibri" pitchFamily="34" charset="0"/>
                <a:ea typeface="Calibri" pitchFamily="34" charset="-122"/>
                <a:cs typeface="Calibri" pitchFamily="34" charset="-120"/>
              </a:rPr>
              <a:t>To understand any endpoint you need its documentation (what it should do) and its code (what it actually does). Today those are split across Confluence and four C# projects.</a:t>
            </a:r>
            <a:endParaRPr lang="en-US" sz="1600" dirty="0"/>
          </a:p>
        </p:txBody>
      </p:sp>
      <p:sp>
        <p:nvSpPr>
          <p:cNvPr id="5" name="Shape 3"/>
          <p:cNvSpPr/>
          <p:nvPr/>
        </p:nvSpPr>
        <p:spPr>
          <a:xfrm>
            <a:off x="548640" y="2743200"/>
            <a:ext cx="5257800" cy="2743200"/>
          </a:xfrm>
          <a:prstGeom prst="roundRect">
            <a:avLst>
              <a:gd name="adj" fmla="val 2667"/>
            </a:avLst>
          </a:prstGeom>
          <a:solidFill>
            <a:srgbClr val="F1F3EE"/>
          </a:solidFill>
          <a:ln w="12700">
            <a:solidFill>
              <a:srgbClr val="E2E5DD"/>
            </a:solidFill>
            <a:prstDash val="solid"/>
          </a:ln>
        </p:spPr>
      </p:sp>
      <p:sp>
        <p:nvSpPr>
          <p:cNvPr id="6" name="Shape 4"/>
          <p:cNvSpPr/>
          <p:nvPr/>
        </p:nvSpPr>
        <p:spPr>
          <a:xfrm>
            <a:off x="914400" y="3063240"/>
            <a:ext cx="502920" cy="502920"/>
          </a:xfrm>
          <a:prstGeom prst="ellipse">
            <a:avLst/>
          </a:prstGeom>
          <a:solidFill>
            <a:srgbClr val="B23B3B"/>
          </a:solidFill>
          <a:ln/>
        </p:spPr>
      </p:sp>
      <p:sp>
        <p:nvSpPr>
          <p:cNvPr id="7" name="Text 5"/>
          <p:cNvSpPr/>
          <p:nvPr/>
        </p:nvSpPr>
        <p:spPr>
          <a:xfrm>
            <a:off x="914400" y="3063240"/>
            <a:ext cx="502920" cy="5029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8" name="Text 6"/>
          <p:cNvSpPr/>
          <p:nvPr/>
        </p:nvSpPr>
        <p:spPr>
          <a:xfrm>
            <a:off x="1600200" y="3108960"/>
            <a:ext cx="4023360" cy="457200"/>
          </a:xfrm>
          <a:prstGeom prst="rect">
            <a:avLst/>
          </a:prstGeom>
          <a:noFill/>
          <a:ln/>
        </p:spPr>
        <p:txBody>
          <a:bodyPr wrap="square" rtlCol="0" anchor="ctr"/>
          <a:lstStyle/>
          <a:p>
            <a:pPr indent="0" marL="0">
              <a:buNone/>
            </a:pPr>
            <a:r>
              <a:rPr lang="en-US" sz="1900" b="1" dirty="0">
                <a:solidFill>
                  <a:srgbClr val="B23B3B"/>
                </a:solidFill>
                <a:latin typeface="Cambria" pitchFamily="34" charset="0"/>
                <a:ea typeface="Cambria" pitchFamily="34" charset="-122"/>
                <a:cs typeface="Cambria" pitchFamily="34" charset="-120"/>
              </a:rPr>
              <a:t>Knowledge is scattered</a:t>
            </a:r>
            <a:endParaRPr lang="en-US" sz="1900" dirty="0"/>
          </a:p>
        </p:txBody>
      </p:sp>
      <p:sp>
        <p:nvSpPr>
          <p:cNvPr id="9" name="Text 7"/>
          <p:cNvSpPr/>
          <p:nvPr/>
        </p:nvSpPr>
        <p:spPr>
          <a:xfrm>
            <a:off x="932688" y="3840480"/>
            <a:ext cx="4572000" cy="1463040"/>
          </a:xfrm>
          <a:prstGeom prst="rect">
            <a:avLst/>
          </a:prstGeom>
          <a:noFill/>
          <a:ln/>
        </p:spPr>
        <p:txBody>
          <a:bodyPr wrap="square" rtlCol="0" anchor="ctr"/>
          <a:lstStyle/>
          <a:p>
            <a:pPr indent="0" marL="0">
              <a:lnSpc>
                <a:spcPts val="2000"/>
              </a:lnSpc>
              <a:buNone/>
            </a:pPr>
            <a:r>
              <a:rPr lang="en-US" sz="1450" dirty="0">
                <a:solidFill>
                  <a:srgbClr val="5A6055"/>
                </a:solidFill>
                <a:latin typeface="Calibri" pitchFamily="34" charset="0"/>
                <a:ea typeface="Calibri" pitchFamily="34" charset="-122"/>
                <a:cs typeface="Calibri" pitchFamily="34" charset="-120"/>
              </a:rPr>
              <a:t>A developer — or an AI agent — reads a Confluence page, greps four projects, then opens whole files to find the one method that matters. Every time.</a:t>
            </a:r>
            <a:endParaRPr lang="en-US" sz="1450" dirty="0"/>
          </a:p>
        </p:txBody>
      </p:sp>
      <p:sp>
        <p:nvSpPr>
          <p:cNvPr id="10" name="Shape 8"/>
          <p:cNvSpPr/>
          <p:nvPr/>
        </p:nvSpPr>
        <p:spPr>
          <a:xfrm>
            <a:off x="6172200" y="2743200"/>
            <a:ext cx="5257800" cy="2743200"/>
          </a:xfrm>
          <a:prstGeom prst="roundRect">
            <a:avLst>
              <a:gd name="adj" fmla="val 2667"/>
            </a:avLst>
          </a:prstGeom>
          <a:solidFill>
            <a:srgbClr val="F1F3EE"/>
          </a:solidFill>
          <a:ln w="12700">
            <a:solidFill>
              <a:srgbClr val="E2E5DD"/>
            </a:solidFill>
            <a:prstDash val="solid"/>
          </a:ln>
        </p:spPr>
      </p:sp>
      <p:sp>
        <p:nvSpPr>
          <p:cNvPr id="11" name="Shape 9"/>
          <p:cNvSpPr/>
          <p:nvPr/>
        </p:nvSpPr>
        <p:spPr>
          <a:xfrm>
            <a:off x="6537960" y="3063240"/>
            <a:ext cx="502920" cy="502920"/>
          </a:xfrm>
          <a:prstGeom prst="ellipse">
            <a:avLst/>
          </a:prstGeom>
          <a:solidFill>
            <a:srgbClr val="B23B3B"/>
          </a:solidFill>
          <a:ln/>
        </p:spPr>
      </p:sp>
      <p:sp>
        <p:nvSpPr>
          <p:cNvPr id="12" name="Text 10"/>
          <p:cNvSpPr/>
          <p:nvPr/>
        </p:nvSpPr>
        <p:spPr>
          <a:xfrm>
            <a:off x="6537960" y="3063240"/>
            <a:ext cx="502920" cy="5029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3" name="Text 11"/>
          <p:cNvSpPr/>
          <p:nvPr/>
        </p:nvSpPr>
        <p:spPr>
          <a:xfrm>
            <a:off x="7223760" y="3108960"/>
            <a:ext cx="4023360" cy="457200"/>
          </a:xfrm>
          <a:prstGeom prst="rect">
            <a:avLst/>
          </a:prstGeom>
          <a:noFill/>
          <a:ln/>
        </p:spPr>
        <p:txBody>
          <a:bodyPr wrap="square" rtlCol="0" anchor="ctr"/>
          <a:lstStyle/>
          <a:p>
            <a:pPr indent="0" marL="0">
              <a:buNone/>
            </a:pPr>
            <a:r>
              <a:rPr lang="en-US" sz="1900" b="1" dirty="0">
                <a:solidFill>
                  <a:srgbClr val="B23B3B"/>
                </a:solidFill>
                <a:latin typeface="Cambria" pitchFamily="34" charset="0"/>
                <a:ea typeface="Cambria" pitchFamily="34" charset="-122"/>
                <a:cs typeface="Cambria" pitchFamily="34" charset="-120"/>
              </a:rPr>
              <a:t>Every repo rebuilt the same tool</a:t>
            </a:r>
            <a:endParaRPr lang="en-US" sz="1900" dirty="0"/>
          </a:p>
        </p:txBody>
      </p:sp>
      <p:sp>
        <p:nvSpPr>
          <p:cNvPr id="14" name="Text 12"/>
          <p:cNvSpPr/>
          <p:nvPr/>
        </p:nvSpPr>
        <p:spPr>
          <a:xfrm>
            <a:off x="6556248" y="3840480"/>
            <a:ext cx="4572000" cy="1463040"/>
          </a:xfrm>
          <a:prstGeom prst="rect">
            <a:avLst/>
          </a:prstGeom>
          <a:noFill/>
          <a:ln/>
        </p:spPr>
        <p:txBody>
          <a:bodyPr wrap="square" rtlCol="0" anchor="ctr"/>
          <a:lstStyle/>
          <a:p>
            <a:pPr indent="0" marL="0">
              <a:lnSpc>
                <a:spcPts val="2000"/>
              </a:lnSpc>
              <a:buNone/>
            </a:pPr>
            <a:r>
              <a:rPr lang="en-US" sz="1450" dirty="0">
                <a:solidFill>
                  <a:srgbClr val="5A6055"/>
                </a:solidFill>
                <a:latin typeface="Calibri" pitchFamily="34" charset="0"/>
                <a:ea typeface="Calibri" pitchFamily="34" charset="-122"/>
                <a:cs typeface="Calibri" pitchFamily="34" charset="-120"/>
              </a:rPr>
              <a:t>A repo that wanted its code searchable shipped a full RAG tool in-tree — its own virtualenv, dependencies, ingestion code — cluttering the repo and drifting out of sync.</a:t>
            </a:r>
            <a:endParaRPr lang="en-US" sz="1450" dirty="0"/>
          </a:p>
        </p:txBody>
      </p:sp>
      <p:sp>
        <p:nvSpPr>
          <p:cNvPr id="15" name="Text 13"/>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16" name="Text 14"/>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0F8A80"/>
                </a:solidFill>
                <a:latin typeface="Consolas" pitchFamily="34" charset="0"/>
                <a:ea typeface="Consolas" pitchFamily="34" charset="-122"/>
                <a:cs typeface="Consolas" pitchFamily="34" charset="-120"/>
              </a:rPr>
              <a:t>THE SOLUTION, IN ONE PICTURE</a:t>
            </a:r>
            <a:endParaRPr lang="en-US" sz="1100" dirty="0"/>
          </a:p>
        </p:txBody>
      </p:sp>
      <p:sp>
        <p:nvSpPr>
          <p:cNvPr id="3" name="Text 1"/>
          <p:cNvSpPr/>
          <p:nvPr/>
        </p:nvSpPr>
        <p:spPr>
          <a:xfrm>
            <a:off x="502920" y="822960"/>
            <a:ext cx="11155680" cy="914400"/>
          </a:xfrm>
          <a:prstGeom prst="rect">
            <a:avLst/>
          </a:prstGeom>
          <a:noFill/>
          <a:ln/>
        </p:spPr>
        <p:txBody>
          <a:bodyPr wrap="square" rtlCol="0" anchor="ctr"/>
          <a:lstStyle/>
          <a:p>
            <a:pPr indent="0" marL="0">
              <a:buNone/>
            </a:pPr>
            <a:r>
              <a:rPr lang="en-US" sz="3000" b="1" dirty="0">
                <a:solidFill>
                  <a:srgbClr val="1A1F1C"/>
                </a:solidFill>
                <a:latin typeface="Cambria" pitchFamily="34" charset="0"/>
                <a:ea typeface="Cambria" pitchFamily="34" charset="-122"/>
                <a:cs typeface="Cambria" pitchFamily="34" charset="-120"/>
              </a:rPr>
              <a:t>One system: retrieve the docs, find the repo, retrieve the code</a:t>
            </a:r>
            <a:endParaRPr lang="en-US" sz="3000" dirty="0"/>
          </a:p>
        </p:txBody>
      </p:sp>
      <p:sp>
        <p:nvSpPr>
          <p:cNvPr id="4" name="Text 2"/>
          <p:cNvSpPr/>
          <p:nvPr/>
        </p:nvSpPr>
        <p:spPr>
          <a:xfrm>
            <a:off x="548640" y="1783080"/>
            <a:ext cx="10972800" cy="640080"/>
          </a:xfrm>
          <a:prstGeom prst="rect">
            <a:avLst/>
          </a:prstGeom>
          <a:noFill/>
          <a:ln/>
        </p:spPr>
        <p:txBody>
          <a:bodyPr wrap="square" rtlCol="0" anchor="ctr"/>
          <a:lstStyle/>
          <a:p>
            <a:pPr indent="0" marL="0">
              <a:buNone/>
            </a:pPr>
            <a:r>
              <a:rPr lang="en-US" sz="1550" dirty="0">
                <a:solidFill>
                  <a:srgbClr val="5A6055"/>
                </a:solidFill>
                <a:latin typeface="Calibri" pitchFamily="34" charset="0"/>
                <a:ea typeface="Calibri" pitchFamily="34" charset="-122"/>
                <a:cs typeface="Calibri" pitchFamily="34" charset="-120"/>
              </a:rPr>
              <a:t>Both sources are indexed once. A question flows through four stages and returns as a single answer carrying both the documentation and the real code it describes.</a:t>
            </a:r>
            <a:endParaRPr lang="en-US" sz="1550" dirty="0"/>
          </a:p>
        </p:txBody>
      </p:sp>
      <p:sp>
        <p:nvSpPr>
          <p:cNvPr id="5" name="Shape 3"/>
          <p:cNvSpPr/>
          <p:nvPr/>
        </p:nvSpPr>
        <p:spPr>
          <a:xfrm>
            <a:off x="548640" y="2697480"/>
            <a:ext cx="11064240" cy="868680"/>
          </a:xfrm>
          <a:prstGeom prst="roundRect">
            <a:avLst>
              <a:gd name="adj" fmla="val 6316"/>
            </a:avLst>
          </a:prstGeom>
          <a:solidFill>
            <a:srgbClr val="16201B"/>
          </a:solidFill>
          <a:ln/>
        </p:spPr>
      </p:sp>
      <p:sp>
        <p:nvSpPr>
          <p:cNvPr id="6" name="Text 4"/>
          <p:cNvSpPr/>
          <p:nvPr/>
        </p:nvSpPr>
        <p:spPr>
          <a:xfrm>
            <a:off x="822960" y="2697480"/>
            <a:ext cx="10515600" cy="868680"/>
          </a:xfrm>
          <a:prstGeom prst="rect">
            <a:avLst/>
          </a:prstGeom>
          <a:noFill/>
          <a:ln/>
        </p:spPr>
        <p:txBody>
          <a:bodyPr wrap="square" rtlCol="0" anchor="ctr"/>
          <a:lstStyle/>
          <a:p>
            <a:pPr indent="0" marL="0">
              <a:buNone/>
            </a:pPr>
            <a:r>
              <a:rPr lang="en-US" sz="1100" b="1" spc="100" kern="0" dirty="0">
                <a:solidFill>
                  <a:srgbClr val="D9A93A"/>
                </a:solidFill>
                <a:latin typeface="Consolas" pitchFamily="34" charset="0"/>
                <a:ea typeface="Consolas" pitchFamily="34" charset="-122"/>
                <a:cs typeface="Consolas" pitchFamily="34" charset="-120"/>
              </a:rPr>
              <a:t>Indexed once   </a:t>
            </a:r>
            <a:pPr indent="0" marL="0">
              <a:buNone/>
            </a:pPr>
            <a:r>
              <a:rPr lang="en-US" sz="1400" dirty="0">
                <a:solidFill>
                  <a:srgbClr val="EDEEE7"/>
                </a:solidFill>
                <a:latin typeface="Calibri" pitchFamily="34" charset="0"/>
                <a:ea typeface="Calibri" pitchFamily="34" charset="-122"/>
                <a:cs typeface="Calibri" pitchFamily="34" charset="-120"/>
              </a:rPr>
              <a:t>Confluence docs  +  each repo's code (ingested centrally — the repo needs no tool of its own)</a:t>
            </a:r>
            <a:endParaRPr lang="en-US" sz="1100" dirty="0"/>
          </a:p>
        </p:txBody>
      </p:sp>
      <p:sp>
        <p:nvSpPr>
          <p:cNvPr id="7" name="Shape 5"/>
          <p:cNvSpPr/>
          <p:nvPr/>
        </p:nvSpPr>
        <p:spPr>
          <a:xfrm>
            <a:off x="548640" y="3931920"/>
            <a:ext cx="2606040" cy="2103120"/>
          </a:xfrm>
          <a:prstGeom prst="roundRect">
            <a:avLst>
              <a:gd name="adj" fmla="val 3478"/>
            </a:avLst>
          </a:prstGeom>
          <a:solidFill>
            <a:srgbClr val="F1F3EE"/>
          </a:solidFill>
          <a:ln w="12700">
            <a:solidFill>
              <a:srgbClr val="E2E5DD"/>
            </a:solidFill>
            <a:prstDash val="solid"/>
          </a:ln>
        </p:spPr>
      </p:sp>
      <p:sp>
        <p:nvSpPr>
          <p:cNvPr id="8" name="Shape 6"/>
          <p:cNvSpPr/>
          <p:nvPr/>
        </p:nvSpPr>
        <p:spPr>
          <a:xfrm>
            <a:off x="822960" y="4206240"/>
            <a:ext cx="548640" cy="548640"/>
          </a:xfrm>
          <a:prstGeom prst="ellipse">
            <a:avLst/>
          </a:prstGeom>
          <a:solidFill>
            <a:srgbClr val="5B57A6"/>
          </a:solidFill>
          <a:ln/>
        </p:spPr>
      </p:sp>
      <p:sp>
        <p:nvSpPr>
          <p:cNvPr id="9" name="Text 7"/>
          <p:cNvSpPr/>
          <p:nvPr/>
        </p:nvSpPr>
        <p:spPr>
          <a:xfrm>
            <a:off x="822960" y="420624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777240" y="4892040"/>
            <a:ext cx="2148840" cy="36576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Retrieve docs</a:t>
            </a:r>
            <a:endParaRPr lang="en-US" sz="1700" dirty="0"/>
          </a:p>
        </p:txBody>
      </p:sp>
      <p:sp>
        <p:nvSpPr>
          <p:cNvPr id="11" name="Text 9"/>
          <p:cNvSpPr/>
          <p:nvPr/>
        </p:nvSpPr>
        <p:spPr>
          <a:xfrm>
            <a:off x="777240" y="5303520"/>
            <a:ext cx="2148840" cy="685800"/>
          </a:xfrm>
          <a:prstGeom prst="rect">
            <a:avLst/>
          </a:prstGeom>
          <a:noFill/>
          <a:ln/>
        </p:spPr>
        <p:txBody>
          <a:bodyPr wrap="square" rtlCol="0" anchor="ctr"/>
          <a:lstStyle/>
          <a:p>
            <a:pPr indent="0" marL="0">
              <a:lnSpc>
                <a:spcPts val="1600"/>
              </a:lnSpc>
              <a:buNone/>
            </a:pPr>
            <a:r>
              <a:rPr lang="en-US" sz="1250" dirty="0">
                <a:solidFill>
                  <a:srgbClr val="5A6055"/>
                </a:solidFill>
                <a:latin typeface="Calibri" pitchFamily="34" charset="0"/>
                <a:ea typeface="Calibri" pitchFamily="34" charset="-122"/>
                <a:cs typeface="Calibri" pitchFamily="34" charset="-120"/>
              </a:rPr>
              <a:t>Find the most relevant documentation</a:t>
            </a:r>
            <a:endParaRPr lang="en-US" sz="1250" dirty="0"/>
          </a:p>
        </p:txBody>
      </p:sp>
      <p:sp>
        <p:nvSpPr>
          <p:cNvPr id="12" name="Text 10"/>
          <p:cNvSpPr/>
          <p:nvPr/>
        </p:nvSpPr>
        <p:spPr>
          <a:xfrm>
            <a:off x="3136392" y="3931920"/>
            <a:ext cx="329184" cy="2103120"/>
          </a:xfrm>
          <a:prstGeom prst="rect">
            <a:avLst/>
          </a:prstGeom>
          <a:noFill/>
          <a:ln/>
        </p:spPr>
        <p:txBody>
          <a:bodyPr wrap="square" rtlCol="0" anchor="ctr"/>
          <a:lstStyle/>
          <a:p>
            <a:pPr algn="ctr" indent="0" marL="0">
              <a:buNone/>
            </a:pPr>
            <a:r>
              <a:rPr lang="en-US" sz="2000" dirty="0">
                <a:solidFill>
                  <a:srgbClr val="8A907F"/>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3447288" y="3931920"/>
            <a:ext cx="2606040" cy="2103120"/>
          </a:xfrm>
          <a:prstGeom prst="roundRect">
            <a:avLst>
              <a:gd name="adj" fmla="val 3478"/>
            </a:avLst>
          </a:prstGeom>
          <a:solidFill>
            <a:srgbClr val="F1F3EE"/>
          </a:solidFill>
          <a:ln w="12700">
            <a:solidFill>
              <a:srgbClr val="E2E5DD"/>
            </a:solidFill>
            <a:prstDash val="solid"/>
          </a:ln>
        </p:spPr>
      </p:sp>
      <p:sp>
        <p:nvSpPr>
          <p:cNvPr id="14" name="Shape 12"/>
          <p:cNvSpPr/>
          <p:nvPr/>
        </p:nvSpPr>
        <p:spPr>
          <a:xfrm>
            <a:off x="3721608" y="4206240"/>
            <a:ext cx="548640" cy="548640"/>
          </a:xfrm>
          <a:prstGeom prst="ellipse">
            <a:avLst/>
          </a:prstGeom>
          <a:solidFill>
            <a:srgbClr val="5B57A6"/>
          </a:solidFill>
          <a:ln/>
        </p:spPr>
      </p:sp>
      <p:sp>
        <p:nvSpPr>
          <p:cNvPr id="15" name="Text 13"/>
          <p:cNvSpPr/>
          <p:nvPr/>
        </p:nvSpPr>
        <p:spPr>
          <a:xfrm>
            <a:off x="3721608" y="420624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4"/>
          <p:cNvSpPr/>
          <p:nvPr/>
        </p:nvSpPr>
        <p:spPr>
          <a:xfrm>
            <a:off x="3675888" y="4892040"/>
            <a:ext cx="2148840" cy="36576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Route</a:t>
            </a:r>
            <a:endParaRPr lang="en-US" sz="1700" dirty="0"/>
          </a:p>
        </p:txBody>
      </p:sp>
      <p:sp>
        <p:nvSpPr>
          <p:cNvPr id="17" name="Text 15"/>
          <p:cNvSpPr/>
          <p:nvPr/>
        </p:nvSpPr>
        <p:spPr>
          <a:xfrm>
            <a:off x="3675888" y="5303520"/>
            <a:ext cx="2148840" cy="685800"/>
          </a:xfrm>
          <a:prstGeom prst="rect">
            <a:avLst/>
          </a:prstGeom>
          <a:noFill/>
          <a:ln/>
        </p:spPr>
        <p:txBody>
          <a:bodyPr wrap="square" rtlCol="0" anchor="ctr"/>
          <a:lstStyle/>
          <a:p>
            <a:pPr indent="0" marL="0">
              <a:lnSpc>
                <a:spcPts val="1600"/>
              </a:lnSpc>
              <a:buNone/>
            </a:pPr>
            <a:r>
              <a:rPr lang="en-US" sz="1250" dirty="0">
                <a:solidFill>
                  <a:srgbClr val="5A6055"/>
                </a:solidFill>
                <a:latin typeface="Calibri" pitchFamily="34" charset="0"/>
                <a:ea typeface="Calibri" pitchFamily="34" charset="-122"/>
                <a:cs typeface="Calibri" pitchFamily="34" charset="-120"/>
              </a:rPr>
              <a:t>Read which repo it's about — from the id, no guessing</a:t>
            </a:r>
            <a:endParaRPr lang="en-US" sz="1250" dirty="0"/>
          </a:p>
        </p:txBody>
      </p:sp>
      <p:sp>
        <p:nvSpPr>
          <p:cNvPr id="18" name="Text 16"/>
          <p:cNvSpPr/>
          <p:nvPr/>
        </p:nvSpPr>
        <p:spPr>
          <a:xfrm>
            <a:off x="6035040" y="3931920"/>
            <a:ext cx="329184" cy="2103120"/>
          </a:xfrm>
          <a:prstGeom prst="rect">
            <a:avLst/>
          </a:prstGeom>
          <a:noFill/>
          <a:ln/>
        </p:spPr>
        <p:txBody>
          <a:bodyPr wrap="square" rtlCol="0" anchor="ctr"/>
          <a:lstStyle/>
          <a:p>
            <a:pPr algn="ctr" indent="0" marL="0">
              <a:buNone/>
            </a:pPr>
            <a:r>
              <a:rPr lang="en-US" sz="2000" dirty="0">
                <a:solidFill>
                  <a:srgbClr val="8A907F"/>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6345936" y="3931920"/>
            <a:ext cx="2606040" cy="2103120"/>
          </a:xfrm>
          <a:prstGeom prst="roundRect">
            <a:avLst>
              <a:gd name="adj" fmla="val 3478"/>
            </a:avLst>
          </a:prstGeom>
          <a:solidFill>
            <a:srgbClr val="F1F3EE"/>
          </a:solidFill>
          <a:ln w="12700">
            <a:solidFill>
              <a:srgbClr val="E2E5DD"/>
            </a:solidFill>
            <a:prstDash val="solid"/>
          </a:ln>
        </p:spPr>
      </p:sp>
      <p:sp>
        <p:nvSpPr>
          <p:cNvPr id="20" name="Shape 18"/>
          <p:cNvSpPr/>
          <p:nvPr/>
        </p:nvSpPr>
        <p:spPr>
          <a:xfrm>
            <a:off x="6620256" y="4206240"/>
            <a:ext cx="548640" cy="548640"/>
          </a:xfrm>
          <a:prstGeom prst="ellipse">
            <a:avLst/>
          </a:prstGeom>
          <a:solidFill>
            <a:srgbClr val="0F8A80"/>
          </a:solidFill>
          <a:ln/>
        </p:spPr>
      </p:sp>
      <p:sp>
        <p:nvSpPr>
          <p:cNvPr id="21" name="Text 19"/>
          <p:cNvSpPr/>
          <p:nvPr/>
        </p:nvSpPr>
        <p:spPr>
          <a:xfrm>
            <a:off x="6620256" y="420624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20"/>
          <p:cNvSpPr/>
          <p:nvPr/>
        </p:nvSpPr>
        <p:spPr>
          <a:xfrm>
            <a:off x="6574536" y="4892040"/>
            <a:ext cx="2148840" cy="36576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Retrieve code</a:t>
            </a:r>
            <a:endParaRPr lang="en-US" sz="1700" dirty="0"/>
          </a:p>
        </p:txBody>
      </p:sp>
      <p:sp>
        <p:nvSpPr>
          <p:cNvPr id="23" name="Text 21"/>
          <p:cNvSpPr/>
          <p:nvPr/>
        </p:nvSpPr>
        <p:spPr>
          <a:xfrm>
            <a:off x="6574536" y="5303520"/>
            <a:ext cx="2148840" cy="685800"/>
          </a:xfrm>
          <a:prstGeom prst="rect">
            <a:avLst/>
          </a:prstGeom>
          <a:noFill/>
          <a:ln/>
        </p:spPr>
        <p:txBody>
          <a:bodyPr wrap="square" rtlCol="0" anchor="ctr"/>
          <a:lstStyle/>
          <a:p>
            <a:pPr indent="0" marL="0">
              <a:lnSpc>
                <a:spcPts val="1600"/>
              </a:lnSpc>
              <a:buNone/>
            </a:pPr>
            <a:r>
              <a:rPr lang="en-US" sz="1250" dirty="0">
                <a:solidFill>
                  <a:srgbClr val="5A6055"/>
                </a:solidFill>
                <a:latin typeface="Calibri" pitchFamily="34" charset="0"/>
                <a:ea typeface="Calibri" pitchFamily="34" charset="-122"/>
                <a:cs typeface="Calibri" pitchFamily="34" charset="-120"/>
              </a:rPr>
              <a:t>Pull the actual methods from that repo</a:t>
            </a:r>
            <a:endParaRPr lang="en-US" sz="1250" dirty="0"/>
          </a:p>
        </p:txBody>
      </p:sp>
      <p:sp>
        <p:nvSpPr>
          <p:cNvPr id="24" name="Text 22"/>
          <p:cNvSpPr/>
          <p:nvPr/>
        </p:nvSpPr>
        <p:spPr>
          <a:xfrm>
            <a:off x="8933688" y="3931920"/>
            <a:ext cx="329184" cy="2103120"/>
          </a:xfrm>
          <a:prstGeom prst="rect">
            <a:avLst/>
          </a:prstGeom>
          <a:noFill/>
          <a:ln/>
        </p:spPr>
        <p:txBody>
          <a:bodyPr wrap="square" rtlCol="0" anchor="ctr"/>
          <a:lstStyle/>
          <a:p>
            <a:pPr algn="ctr" indent="0" marL="0">
              <a:buNone/>
            </a:pPr>
            <a:r>
              <a:rPr lang="en-US" sz="2000" dirty="0">
                <a:solidFill>
                  <a:srgbClr val="8A907F"/>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9244584" y="3931920"/>
            <a:ext cx="2606040" cy="2103120"/>
          </a:xfrm>
          <a:prstGeom prst="roundRect">
            <a:avLst>
              <a:gd name="adj" fmla="val 3478"/>
            </a:avLst>
          </a:prstGeom>
          <a:solidFill>
            <a:srgbClr val="F1F3EE"/>
          </a:solidFill>
          <a:ln w="12700">
            <a:solidFill>
              <a:srgbClr val="E2E5DD"/>
            </a:solidFill>
            <a:prstDash val="solid"/>
          </a:ln>
        </p:spPr>
      </p:sp>
      <p:sp>
        <p:nvSpPr>
          <p:cNvPr id="26" name="Shape 24"/>
          <p:cNvSpPr/>
          <p:nvPr/>
        </p:nvSpPr>
        <p:spPr>
          <a:xfrm>
            <a:off x="9518904" y="4206240"/>
            <a:ext cx="548640" cy="548640"/>
          </a:xfrm>
          <a:prstGeom prst="ellipse">
            <a:avLst/>
          </a:prstGeom>
          <a:solidFill>
            <a:srgbClr val="2F7D5C"/>
          </a:solidFill>
          <a:ln/>
        </p:spPr>
      </p:sp>
      <p:sp>
        <p:nvSpPr>
          <p:cNvPr id="27" name="Text 25"/>
          <p:cNvSpPr/>
          <p:nvPr/>
        </p:nvSpPr>
        <p:spPr>
          <a:xfrm>
            <a:off x="9518904" y="4206240"/>
            <a:ext cx="5486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8" name="Text 26"/>
          <p:cNvSpPr/>
          <p:nvPr/>
        </p:nvSpPr>
        <p:spPr>
          <a:xfrm>
            <a:off x="9473184" y="4892040"/>
            <a:ext cx="2148840" cy="36576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Assemble</a:t>
            </a:r>
            <a:endParaRPr lang="en-US" sz="1700" dirty="0"/>
          </a:p>
        </p:txBody>
      </p:sp>
      <p:sp>
        <p:nvSpPr>
          <p:cNvPr id="29" name="Text 27"/>
          <p:cNvSpPr/>
          <p:nvPr/>
        </p:nvSpPr>
        <p:spPr>
          <a:xfrm>
            <a:off x="9473184" y="5303520"/>
            <a:ext cx="2148840" cy="685800"/>
          </a:xfrm>
          <a:prstGeom prst="rect">
            <a:avLst/>
          </a:prstGeom>
          <a:noFill/>
          <a:ln/>
        </p:spPr>
        <p:txBody>
          <a:bodyPr wrap="square" rtlCol="0" anchor="ctr"/>
          <a:lstStyle/>
          <a:p>
            <a:pPr indent="0" marL="0">
              <a:lnSpc>
                <a:spcPts val="1600"/>
              </a:lnSpc>
              <a:buNone/>
            </a:pPr>
            <a:r>
              <a:rPr lang="en-US" sz="1250" dirty="0">
                <a:solidFill>
                  <a:srgbClr val="5A6055"/>
                </a:solidFill>
                <a:latin typeface="Calibri" pitchFamily="34" charset="0"/>
                <a:ea typeface="Calibri" pitchFamily="34" charset="-122"/>
                <a:cs typeface="Calibri" pitchFamily="34" charset="-120"/>
              </a:rPr>
              <a:t>One compact answer, shaped to a token budget</a:t>
            </a:r>
            <a:endParaRPr lang="en-US" sz="1250" dirty="0"/>
          </a:p>
        </p:txBody>
      </p:sp>
      <p:sp>
        <p:nvSpPr>
          <p:cNvPr id="30" name="Text 28"/>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31" name="Text 29"/>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5B57A6"/>
                </a:solidFill>
                <a:latin typeface="Consolas" pitchFamily="34" charset="0"/>
                <a:ea typeface="Consolas" pitchFamily="34" charset="-122"/>
                <a:cs typeface="Consolas" pitchFamily="34" charset="-120"/>
              </a:rPr>
              <a:t>ARCHITECTURE · TWO INDEXES, ONE JOIN</a:t>
            </a:r>
            <a:endParaRPr lang="en-US" sz="1100" dirty="0"/>
          </a:p>
        </p:txBody>
      </p:sp>
      <p:sp>
        <p:nvSpPr>
          <p:cNvPr id="3" name="Text 1"/>
          <p:cNvSpPr/>
          <p:nvPr/>
        </p:nvSpPr>
        <p:spPr>
          <a:xfrm>
            <a:off x="502920" y="868680"/>
            <a:ext cx="11155680" cy="777240"/>
          </a:xfrm>
          <a:prstGeom prst="rect">
            <a:avLst/>
          </a:prstGeom>
          <a:noFill/>
          <a:ln/>
        </p:spPr>
        <p:txBody>
          <a:bodyPr wrap="square" rtlCol="0" anchor="ctr"/>
          <a:lstStyle/>
          <a:p>
            <a:pPr indent="0" marL="0">
              <a:buNone/>
            </a:pPr>
            <a:r>
              <a:rPr lang="en-US" sz="3200" b="1" dirty="0">
                <a:solidFill>
                  <a:srgbClr val="1A1F1C"/>
                </a:solidFill>
                <a:latin typeface="Cambria" pitchFamily="34" charset="0"/>
                <a:ea typeface="Cambria" pitchFamily="34" charset="-122"/>
                <a:cs typeface="Cambria" pitchFamily="34" charset="-120"/>
              </a:rPr>
              <a:t>Two RAGs, one answer</a:t>
            </a:r>
            <a:endParaRPr lang="en-US" sz="3200" dirty="0"/>
          </a:p>
        </p:txBody>
      </p:sp>
      <p:sp>
        <p:nvSpPr>
          <p:cNvPr id="4" name="Text 2"/>
          <p:cNvSpPr/>
          <p:nvPr/>
        </p:nvSpPr>
        <p:spPr>
          <a:xfrm>
            <a:off x="548640" y="1737360"/>
            <a:ext cx="10972800" cy="548640"/>
          </a:xfrm>
          <a:prstGeom prst="rect">
            <a:avLst/>
          </a:prstGeom>
          <a:noFill/>
          <a:ln/>
        </p:spPr>
        <p:txBody>
          <a:bodyPr wrap="square" rtlCol="0" anchor="ctr"/>
          <a:lstStyle/>
          <a:p>
            <a:pPr indent="0" marL="0">
              <a:buNone/>
            </a:pPr>
            <a:r>
              <a:rPr lang="en-US" sz="1500" dirty="0">
                <a:solidFill>
                  <a:srgbClr val="5A6055"/>
                </a:solidFill>
                <a:latin typeface="Calibri" pitchFamily="34" charset="0"/>
                <a:ea typeface="Calibri" pitchFamily="34" charset="-122"/>
                <a:cs typeface="Calibri" pitchFamily="34" charset="-120"/>
              </a:rPr>
              <a:t>Docs and code are indexed separately — each with an embedding model tuned to it — and joined only at query time by the stable id. Never merged in storage.</a:t>
            </a:r>
            <a:endParaRPr lang="en-US" sz="1500" dirty="0"/>
          </a:p>
        </p:txBody>
      </p:sp>
      <p:sp>
        <p:nvSpPr>
          <p:cNvPr id="5" name="Shape 3"/>
          <p:cNvSpPr/>
          <p:nvPr/>
        </p:nvSpPr>
        <p:spPr>
          <a:xfrm>
            <a:off x="548640" y="2468880"/>
            <a:ext cx="5257800" cy="2148840"/>
          </a:xfrm>
          <a:prstGeom prst="roundRect">
            <a:avLst>
              <a:gd name="adj" fmla="val 3404"/>
            </a:avLst>
          </a:prstGeom>
          <a:solidFill>
            <a:srgbClr val="F1F3EE"/>
          </a:solidFill>
          <a:ln w="12700">
            <a:solidFill>
              <a:srgbClr val="E2E5DD"/>
            </a:solidFill>
            <a:prstDash val="solid"/>
          </a:ln>
        </p:spPr>
      </p:sp>
      <p:sp>
        <p:nvSpPr>
          <p:cNvPr id="6" name="Text 4"/>
          <p:cNvSpPr/>
          <p:nvPr/>
        </p:nvSpPr>
        <p:spPr>
          <a:xfrm>
            <a:off x="868680" y="2651760"/>
            <a:ext cx="4617720" cy="274320"/>
          </a:xfrm>
          <a:prstGeom prst="rect">
            <a:avLst/>
          </a:prstGeom>
          <a:noFill/>
          <a:ln/>
        </p:spPr>
        <p:txBody>
          <a:bodyPr wrap="square" rtlCol="0" anchor="ctr"/>
          <a:lstStyle/>
          <a:p>
            <a:pPr indent="0" marL="0">
              <a:buNone/>
            </a:pPr>
            <a:r>
              <a:rPr lang="en-US" sz="1200" b="1" spc="200" kern="0" dirty="0">
                <a:solidFill>
                  <a:srgbClr val="B4892B"/>
                </a:solidFill>
                <a:latin typeface="Consolas" pitchFamily="34" charset="0"/>
                <a:ea typeface="Consolas" pitchFamily="34" charset="-122"/>
                <a:cs typeface="Consolas" pitchFamily="34" charset="-120"/>
              </a:rPr>
              <a:t>DOCS RAG</a:t>
            </a:r>
            <a:endParaRPr lang="en-US" sz="1200" dirty="0"/>
          </a:p>
        </p:txBody>
      </p:sp>
      <p:sp>
        <p:nvSpPr>
          <p:cNvPr id="7" name="Text 5"/>
          <p:cNvSpPr/>
          <p:nvPr/>
        </p:nvSpPr>
        <p:spPr>
          <a:xfrm>
            <a:off x="868680" y="2926080"/>
            <a:ext cx="4617720" cy="36576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Confluence knowledge base</a:t>
            </a:r>
            <a:endParaRPr lang="en-US" sz="1700" dirty="0"/>
          </a:p>
        </p:txBody>
      </p:sp>
      <p:sp>
        <p:nvSpPr>
          <p:cNvPr id="8" name="Text 6"/>
          <p:cNvSpPr/>
          <p:nvPr/>
        </p:nvSpPr>
        <p:spPr>
          <a:xfrm>
            <a:off x="960120" y="3401568"/>
            <a:ext cx="4480560" cy="1143000"/>
          </a:xfrm>
          <a:prstGeom prst="rect">
            <a:avLst/>
          </a:prstGeom>
          <a:noFill/>
          <a:ln/>
        </p:spPr>
        <p:txBody>
          <a:bodyPr wrap="square" rtlCol="0" anchor="ctr"/>
          <a:lstStyle/>
          <a:p>
            <a:pPr marL="342900" indent="-342900">
              <a:lnSpc>
                <a:spcPts val="1500"/>
              </a:lnSpc>
              <a:spcAft>
                <a:spcPts val="500"/>
              </a:spcAft>
              <a:buSzPct val="100000"/>
              <a:buChar char="•"/>
            </a:pPr>
            <a:r>
              <a:rPr lang="en-US" sz="1150" dirty="0">
                <a:solidFill>
                  <a:srgbClr val="5A6055"/>
                </a:solidFill>
                <a:latin typeface="Consolas" pitchFamily="34" charset="0"/>
                <a:ea typeface="Consolas" pitchFamily="34" charset="-122"/>
                <a:cs typeface="Consolas" pitchFamily="34" charset="-120"/>
              </a:rPr>
              <a:t>embed: nomic-embed-text-v1.5</a:t>
            </a:r>
            <a:endParaRPr lang="en-US" sz="1150" dirty="0"/>
          </a:p>
          <a:p>
            <a:pPr marL="342900" indent="-342900">
              <a:lnSpc>
                <a:spcPts val="1500"/>
              </a:lnSpc>
              <a:spcAft>
                <a:spcPts val="500"/>
              </a:spcAft>
              <a:buSzPct val="100000"/>
              <a:buChar char="•"/>
            </a:pPr>
            <a:r>
              <a:rPr lang="en-US" sz="1150" dirty="0">
                <a:solidFill>
                  <a:srgbClr val="5A6055"/>
                </a:solidFill>
                <a:latin typeface="Consolas" pitchFamily="34" charset="0"/>
                <a:ea typeface="Consolas" pitchFamily="34" charset="-122"/>
                <a:cs typeface="Consolas" pitchFamily="34" charset="-120"/>
              </a:rPr>
              <a:t>stores: docs_functional + docs_technical</a:t>
            </a:r>
            <a:endParaRPr lang="en-US" sz="1150" dirty="0"/>
          </a:p>
          <a:p>
            <a:pPr marL="342900" indent="-342900">
              <a:lnSpc>
                <a:spcPts val="1500"/>
              </a:lnSpc>
              <a:spcAft>
                <a:spcPts val="500"/>
              </a:spcAft>
              <a:buSzPct val="100000"/>
              <a:buChar char="•"/>
            </a:pPr>
            <a:r>
              <a:rPr lang="en-US" sz="1150" dirty="0">
                <a:solidFill>
                  <a:srgbClr val="5A6055"/>
                </a:solidFill>
                <a:latin typeface="Consolas" pitchFamily="34" charset="0"/>
                <a:ea typeface="Consolas" pitchFamily="34" charset="-122"/>
                <a:cs typeface="Consolas" pitchFamily="34" charset="-120"/>
              </a:rPr>
              <a:t>hybrid dense + BM25 → RRF → rerank</a:t>
            </a:r>
            <a:endParaRPr lang="en-US" sz="1150" dirty="0"/>
          </a:p>
          <a:p>
            <a:pPr marL="342900" indent="-342900">
              <a:lnSpc>
                <a:spcPts val="1500"/>
              </a:lnSpc>
              <a:spcAft>
                <a:spcPts val="500"/>
              </a:spcAft>
              <a:buSzPct val="100000"/>
              <a:buChar char="•"/>
            </a:pPr>
            <a:r>
              <a:rPr lang="en-US" sz="1150" dirty="0">
                <a:solidFill>
                  <a:srgbClr val="5A6055"/>
                </a:solidFill>
                <a:latin typeface="Consolas" pitchFamily="34" charset="0"/>
                <a:ea typeface="Consolas" pitchFamily="34" charset="-122"/>
                <a:cs typeface="Consolas" pitchFamily="34" charset="-120"/>
              </a:rPr>
              <a:t>doc_type quota (endpoint / controller / db)</a:t>
            </a:r>
            <a:endParaRPr lang="en-US" sz="1150" dirty="0"/>
          </a:p>
        </p:txBody>
      </p:sp>
      <p:sp>
        <p:nvSpPr>
          <p:cNvPr id="9" name="Shape 7"/>
          <p:cNvSpPr/>
          <p:nvPr/>
        </p:nvSpPr>
        <p:spPr>
          <a:xfrm>
            <a:off x="6355080" y="2468880"/>
            <a:ext cx="5257800" cy="2148840"/>
          </a:xfrm>
          <a:prstGeom prst="roundRect">
            <a:avLst>
              <a:gd name="adj" fmla="val 3404"/>
            </a:avLst>
          </a:prstGeom>
          <a:solidFill>
            <a:srgbClr val="F1F3EE"/>
          </a:solidFill>
          <a:ln w="12700">
            <a:solidFill>
              <a:srgbClr val="E2E5DD"/>
            </a:solidFill>
            <a:prstDash val="solid"/>
          </a:ln>
        </p:spPr>
      </p:sp>
      <p:sp>
        <p:nvSpPr>
          <p:cNvPr id="10" name="Text 8"/>
          <p:cNvSpPr/>
          <p:nvPr/>
        </p:nvSpPr>
        <p:spPr>
          <a:xfrm>
            <a:off x="6675120" y="2651760"/>
            <a:ext cx="4617720" cy="274320"/>
          </a:xfrm>
          <a:prstGeom prst="rect">
            <a:avLst/>
          </a:prstGeom>
          <a:noFill/>
          <a:ln/>
        </p:spPr>
        <p:txBody>
          <a:bodyPr wrap="square" rtlCol="0" anchor="ctr"/>
          <a:lstStyle/>
          <a:p>
            <a:pPr indent="0" marL="0">
              <a:buNone/>
            </a:pPr>
            <a:r>
              <a:rPr lang="en-US" sz="1200" b="1" spc="200" kern="0" dirty="0">
                <a:solidFill>
                  <a:srgbClr val="0F8A80"/>
                </a:solidFill>
                <a:latin typeface="Consolas" pitchFamily="34" charset="0"/>
                <a:ea typeface="Consolas" pitchFamily="34" charset="-122"/>
                <a:cs typeface="Consolas" pitchFamily="34" charset="-120"/>
              </a:rPr>
              <a:t>CODE RAG</a:t>
            </a:r>
            <a:endParaRPr lang="en-US" sz="1200" dirty="0"/>
          </a:p>
        </p:txBody>
      </p:sp>
      <p:sp>
        <p:nvSpPr>
          <p:cNvPr id="11" name="Text 9"/>
          <p:cNvSpPr/>
          <p:nvPr/>
        </p:nvSpPr>
        <p:spPr>
          <a:xfrm>
            <a:off x="6675120" y="2926080"/>
            <a:ext cx="4617720" cy="36576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each repo's source — one per repo</a:t>
            </a:r>
            <a:endParaRPr lang="en-US" sz="1700" dirty="0"/>
          </a:p>
        </p:txBody>
      </p:sp>
      <p:sp>
        <p:nvSpPr>
          <p:cNvPr id="12" name="Text 10"/>
          <p:cNvSpPr/>
          <p:nvPr/>
        </p:nvSpPr>
        <p:spPr>
          <a:xfrm>
            <a:off x="6766560" y="3401568"/>
            <a:ext cx="4480560" cy="1143000"/>
          </a:xfrm>
          <a:prstGeom prst="rect">
            <a:avLst/>
          </a:prstGeom>
          <a:noFill/>
          <a:ln/>
        </p:spPr>
        <p:txBody>
          <a:bodyPr wrap="square" rtlCol="0" anchor="ctr"/>
          <a:lstStyle/>
          <a:p>
            <a:pPr marL="342900" indent="-342900">
              <a:lnSpc>
                <a:spcPts val="1500"/>
              </a:lnSpc>
              <a:spcAft>
                <a:spcPts val="500"/>
              </a:spcAft>
              <a:buSzPct val="100000"/>
              <a:buChar char="•"/>
            </a:pPr>
            <a:r>
              <a:rPr lang="en-US" sz="1150" dirty="0">
                <a:solidFill>
                  <a:srgbClr val="5A6055"/>
                </a:solidFill>
                <a:latin typeface="Consolas" pitchFamily="34" charset="0"/>
                <a:ea typeface="Consolas" pitchFamily="34" charset="-122"/>
                <a:cs typeface="Consolas" pitchFamily="34" charset="-120"/>
              </a:rPr>
              <a:t>embed: CodeRankEmbed</a:t>
            </a:r>
            <a:endParaRPr lang="en-US" sz="1150" dirty="0"/>
          </a:p>
          <a:p>
            <a:pPr marL="342900" indent="-342900">
              <a:lnSpc>
                <a:spcPts val="1500"/>
              </a:lnSpc>
              <a:spcAft>
                <a:spcPts val="500"/>
              </a:spcAft>
              <a:buSzPct val="100000"/>
              <a:buChar char="•"/>
            </a:pPr>
            <a:r>
              <a:rPr lang="en-US" sz="1150" dirty="0">
                <a:solidFill>
                  <a:srgbClr val="5A6055"/>
                </a:solidFill>
                <a:latin typeface="Consolas" pitchFamily="34" charset="0"/>
                <a:ea typeface="Consolas" pitchFamily="34" charset="-122"/>
                <a:cs typeface="Consolas" pitchFamily="34" charset="-120"/>
              </a:rPr>
              <a:t>store: code_stores/&lt;repoKey&gt;</a:t>
            </a:r>
            <a:endParaRPr lang="en-US" sz="1150" dirty="0"/>
          </a:p>
          <a:p>
            <a:pPr marL="342900" indent="-342900">
              <a:lnSpc>
                <a:spcPts val="1500"/>
              </a:lnSpc>
              <a:spcAft>
                <a:spcPts val="500"/>
              </a:spcAft>
              <a:buSzPct val="100000"/>
              <a:buChar char="•"/>
            </a:pPr>
            <a:r>
              <a:rPr lang="en-US" sz="1150" dirty="0">
                <a:solidFill>
                  <a:srgbClr val="5A6055"/>
                </a:solidFill>
                <a:latin typeface="Consolas" pitchFamily="34" charset="0"/>
                <a:ea typeface="Consolas" pitchFamily="34" charset="-122"/>
                <a:cs typeface="Consolas" pitchFamily="34" charset="-120"/>
              </a:rPr>
              <a:t>hybrid dense + BM25 → RRF</a:t>
            </a:r>
            <a:endParaRPr lang="en-US" sz="1150" dirty="0"/>
          </a:p>
          <a:p>
            <a:pPr marL="342900" indent="-342900">
              <a:lnSpc>
                <a:spcPts val="1500"/>
              </a:lnSpc>
              <a:spcAft>
                <a:spcPts val="500"/>
              </a:spcAft>
              <a:buSzPct val="100000"/>
              <a:buChar char="•"/>
            </a:pPr>
            <a:r>
              <a:rPr lang="en-US" sz="1150" dirty="0">
                <a:solidFill>
                  <a:srgbClr val="5A6055"/>
                </a:solidFill>
                <a:latin typeface="Consolas" pitchFamily="34" charset="0"/>
                <a:ea typeface="Consolas" pitchFamily="34" charset="-122"/>
                <a:cs typeface="Consolas" pitchFamily="34" charset="-120"/>
              </a:rPr>
              <a:t>layer buckets · citation-first · line spans</a:t>
            </a:r>
            <a:endParaRPr lang="en-US" sz="1150" dirty="0"/>
          </a:p>
        </p:txBody>
      </p:sp>
      <p:sp>
        <p:nvSpPr>
          <p:cNvPr id="13" name="Shape 11"/>
          <p:cNvSpPr/>
          <p:nvPr/>
        </p:nvSpPr>
        <p:spPr>
          <a:xfrm>
            <a:off x="548640" y="4892040"/>
            <a:ext cx="11064240" cy="868680"/>
          </a:xfrm>
          <a:prstGeom prst="roundRect">
            <a:avLst>
              <a:gd name="adj" fmla="val 6316"/>
            </a:avLst>
          </a:prstGeom>
          <a:solidFill>
            <a:srgbClr val="16201B"/>
          </a:solidFill>
          <a:ln/>
        </p:spPr>
      </p:sp>
      <p:sp>
        <p:nvSpPr>
          <p:cNvPr id="14" name="Text 12"/>
          <p:cNvSpPr/>
          <p:nvPr/>
        </p:nvSpPr>
        <p:spPr>
          <a:xfrm>
            <a:off x="822960" y="4892040"/>
            <a:ext cx="10515600" cy="868680"/>
          </a:xfrm>
          <a:prstGeom prst="rect">
            <a:avLst/>
          </a:prstGeom>
          <a:noFill/>
          <a:ln/>
        </p:spPr>
        <p:txBody>
          <a:bodyPr wrap="square" rtlCol="0" anchor="ctr"/>
          <a:lstStyle/>
          <a:p>
            <a:pPr indent="0" marL="0">
              <a:buNone/>
            </a:pPr>
            <a:r>
              <a:rPr lang="en-US" sz="1400" b="1" dirty="0">
                <a:solidFill>
                  <a:srgbClr val="D9A93A"/>
                </a:solidFill>
                <a:latin typeface="Consolas" pitchFamily="34" charset="0"/>
                <a:ea typeface="Consolas" pitchFamily="34" charset="-122"/>
                <a:cs typeface="Consolas" pitchFamily="34" charset="-120"/>
              </a:rPr>
              <a:t>Orchestrator  </a:t>
            </a:r>
            <a:pPr indent="0" marL="0">
              <a:buNone/>
            </a:pPr>
            <a:r>
              <a:rPr lang="en-US" sz="1400" dirty="0">
                <a:solidFill>
                  <a:srgbClr val="EDEEE7"/>
                </a:solidFill>
              </a:rPr>
              <a:t>joins them at query time — reads </a:t>
            </a:r>
            <a:pPr indent="0" marL="0">
              <a:buNone/>
            </a:pPr>
            <a:r>
              <a:rPr lang="en-US" sz="1400" dirty="0">
                <a:solidFill>
                  <a:srgbClr val="9E9BE0"/>
                </a:solidFill>
                <a:latin typeface="Consolas" pitchFamily="34" charset="0"/>
                <a:ea typeface="Consolas" pitchFamily="34" charset="-122"/>
                <a:cs typeface="Consolas" pitchFamily="34" charset="-120"/>
              </a:rPr>
              <a:t>ep::&lt;repo&gt;::…</a:t>
            </a:r>
            <a:pPr indent="0" marL="0">
              <a:buNone/>
            </a:pPr>
            <a:r>
              <a:rPr lang="en-US" sz="1400" dirty="0">
                <a:solidFill>
                  <a:srgbClr val="EDEEE7"/>
                </a:solidFill>
              </a:rPr>
              <a:t> off a doc hit, opens that repo's code index. One answer, both sources.</a:t>
            </a:r>
            <a:endParaRPr lang="en-US" sz="1400" dirty="0"/>
          </a:p>
        </p:txBody>
      </p:sp>
      <p:sp>
        <p:nvSpPr>
          <p:cNvPr id="15" name="Text 13"/>
          <p:cNvSpPr/>
          <p:nvPr/>
        </p:nvSpPr>
        <p:spPr>
          <a:xfrm>
            <a:off x="548640" y="5943600"/>
            <a:ext cx="10972800" cy="365760"/>
          </a:xfrm>
          <a:prstGeom prst="rect">
            <a:avLst/>
          </a:prstGeom>
          <a:noFill/>
          <a:ln/>
        </p:spPr>
        <p:txBody>
          <a:bodyPr wrap="square" rtlCol="0" anchor="ctr"/>
          <a:lstStyle/>
          <a:p>
            <a:pPr indent="0" marL="0">
              <a:buNone/>
            </a:pPr>
            <a:r>
              <a:rPr lang="en-US" sz="1200" i="1" dirty="0">
                <a:solidFill>
                  <a:srgbClr val="5A6055"/>
                </a:solidFill>
                <a:latin typeface="Calibri" pitchFamily="34" charset="0"/>
                <a:ea typeface="Calibri" pitchFamily="34" charset="-122"/>
                <a:cs typeface="Calibri" pitchFamily="34" charset="-120"/>
              </a:rPr>
              <a:t>Two embedding models on purpose — prose and code retrieve best with different encoders.</a:t>
            </a:r>
            <a:endParaRPr lang="en-US" sz="1200" dirty="0"/>
          </a:p>
        </p:txBody>
      </p:sp>
      <p:sp>
        <p:nvSpPr>
          <p:cNvPr id="16" name="Text 14"/>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17" name="Text 15"/>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B4892B"/>
                </a:solidFill>
                <a:latin typeface="Consolas" pitchFamily="34" charset="0"/>
                <a:ea typeface="Consolas" pitchFamily="34" charset="-122"/>
                <a:cs typeface="Consolas" pitchFamily="34" charset="-120"/>
              </a:rPr>
              <a:t>THE DOCS · AUTHORED TO A TEMPLATE</a:t>
            </a:r>
            <a:endParaRPr lang="en-US" sz="1100" dirty="0"/>
          </a:p>
        </p:txBody>
      </p:sp>
      <p:sp>
        <p:nvSpPr>
          <p:cNvPr id="3" name="Text 1"/>
          <p:cNvSpPr/>
          <p:nvPr/>
        </p:nvSpPr>
        <p:spPr>
          <a:xfrm>
            <a:off x="502920" y="868680"/>
            <a:ext cx="11155680" cy="777240"/>
          </a:xfrm>
          <a:prstGeom prst="rect">
            <a:avLst/>
          </a:prstGeom>
          <a:noFill/>
          <a:ln/>
        </p:spPr>
        <p:txBody>
          <a:bodyPr wrap="square" rtlCol="0" anchor="ctr"/>
          <a:lstStyle/>
          <a:p>
            <a:pPr indent="0" marL="0">
              <a:buNone/>
            </a:pPr>
            <a:r>
              <a:rPr lang="en-US" sz="2800" b="1" dirty="0">
                <a:solidFill>
                  <a:srgbClr val="1A1F1C"/>
                </a:solidFill>
                <a:latin typeface="Cambria" pitchFamily="34" charset="0"/>
                <a:ea typeface="Cambria" pitchFamily="34" charset="-122"/>
                <a:cs typeface="Cambria" pitchFamily="34" charset="-120"/>
              </a:rPr>
              <a:t>How the Confluence knowledge base is designed</a:t>
            </a:r>
            <a:endParaRPr lang="en-US" sz="2800" dirty="0"/>
          </a:p>
        </p:txBody>
      </p:sp>
      <p:sp>
        <p:nvSpPr>
          <p:cNvPr id="4" name="Text 2"/>
          <p:cNvSpPr/>
          <p:nvPr/>
        </p:nvSpPr>
        <p:spPr>
          <a:xfrm>
            <a:off x="548640" y="1691640"/>
            <a:ext cx="11064240" cy="548640"/>
          </a:xfrm>
          <a:prstGeom prst="rect">
            <a:avLst/>
          </a:prstGeom>
          <a:noFill/>
          <a:ln/>
        </p:spPr>
        <p:txBody>
          <a:bodyPr wrap="square" rtlCol="0" anchor="ctr"/>
          <a:lstStyle/>
          <a:p>
            <a:pPr indent="0" marL="0">
              <a:buNone/>
            </a:pPr>
            <a:r>
              <a:rPr lang="en-US" sz="1450" dirty="0">
                <a:solidFill>
                  <a:srgbClr val="5A6055"/>
                </a:solidFill>
                <a:latin typeface="Calibri" pitchFamily="34" charset="0"/>
                <a:ea typeface="Calibri" pitchFamily="34" charset="-122"/>
                <a:cs typeface="Calibri" pitchFamily="34" charset="-120"/>
              </a:rPr>
              <a:t>The docs aren't freeform. Every page carries a Metadata line that makes it machine-routable, and five page types cross-reference each other — the structure the RAG relies on.</a:t>
            </a:r>
            <a:endParaRPr lang="en-US" sz="1450" dirty="0"/>
          </a:p>
        </p:txBody>
      </p:sp>
      <p:sp>
        <p:nvSpPr>
          <p:cNvPr id="5" name="Shape 3"/>
          <p:cNvSpPr/>
          <p:nvPr/>
        </p:nvSpPr>
        <p:spPr>
          <a:xfrm>
            <a:off x="548640" y="2423160"/>
            <a:ext cx="11064240" cy="566928"/>
          </a:xfrm>
          <a:prstGeom prst="roundRect">
            <a:avLst>
              <a:gd name="adj" fmla="val 8065"/>
            </a:avLst>
          </a:prstGeom>
          <a:solidFill>
            <a:srgbClr val="F1F3EE"/>
          </a:solidFill>
          <a:ln w="12700">
            <a:solidFill>
              <a:srgbClr val="E2E5DD"/>
            </a:solidFill>
            <a:prstDash val="solid"/>
          </a:ln>
        </p:spPr>
      </p:sp>
      <p:sp>
        <p:nvSpPr>
          <p:cNvPr id="6" name="Text 4"/>
          <p:cNvSpPr/>
          <p:nvPr/>
        </p:nvSpPr>
        <p:spPr>
          <a:xfrm>
            <a:off x="731520" y="2423160"/>
            <a:ext cx="2331720" cy="566928"/>
          </a:xfrm>
          <a:prstGeom prst="rect">
            <a:avLst/>
          </a:prstGeom>
          <a:noFill/>
          <a:ln/>
        </p:spPr>
        <p:txBody>
          <a:bodyPr wrap="square" rtlCol="0" anchor="ctr"/>
          <a:lstStyle/>
          <a:p>
            <a:pPr indent="0" marL="0">
              <a:buNone/>
            </a:pPr>
            <a:r>
              <a:rPr lang="en-US" sz="1150" b="1" dirty="0">
                <a:solidFill>
                  <a:srgbClr val="B4892B"/>
                </a:solidFill>
                <a:latin typeface="Consolas" pitchFamily="34" charset="0"/>
                <a:ea typeface="Consolas" pitchFamily="34" charset="-122"/>
                <a:cs typeface="Consolas" pitchFamily="34" charset="-120"/>
              </a:rPr>
              <a:t>feature-hub</a:t>
            </a:r>
            <a:endParaRPr lang="en-US" sz="1150" dirty="0"/>
          </a:p>
        </p:txBody>
      </p:sp>
      <p:sp>
        <p:nvSpPr>
          <p:cNvPr id="7" name="Text 5"/>
          <p:cNvSpPr/>
          <p:nvPr/>
        </p:nvSpPr>
        <p:spPr>
          <a:xfrm>
            <a:off x="3108960" y="2423160"/>
            <a:ext cx="4709160" cy="566928"/>
          </a:xfrm>
          <a:prstGeom prst="rect">
            <a:avLst/>
          </a:prstGeom>
          <a:noFill/>
          <a:ln/>
        </p:spPr>
        <p:txBody>
          <a:bodyPr wrap="square" rtlCol="0" anchor="ctr"/>
          <a:lstStyle/>
          <a:p>
            <a:pPr indent="0" marL="0">
              <a:buNone/>
            </a:pPr>
            <a:r>
              <a:rPr lang="en-US" sz="1250" dirty="0">
                <a:solidFill>
                  <a:srgbClr val="1A1F1C"/>
                </a:solidFill>
                <a:latin typeface="Calibri" pitchFamily="34" charset="0"/>
                <a:ea typeface="Calibri" pitchFamily="34" charset="-122"/>
                <a:cs typeface="Calibri" pitchFamily="34" charset="-120"/>
              </a:rPr>
              <a:t>Business purpose — why the feature exists</a:t>
            </a:r>
            <a:endParaRPr lang="en-US" sz="1250" dirty="0"/>
          </a:p>
        </p:txBody>
      </p:sp>
      <p:sp>
        <p:nvSpPr>
          <p:cNvPr id="8" name="Text 6"/>
          <p:cNvSpPr/>
          <p:nvPr/>
        </p:nvSpPr>
        <p:spPr>
          <a:xfrm>
            <a:off x="7909560" y="2423160"/>
            <a:ext cx="3520440" cy="566928"/>
          </a:xfrm>
          <a:prstGeom prst="rect">
            <a:avLst/>
          </a:prstGeom>
          <a:noFill/>
          <a:ln/>
        </p:spPr>
        <p:txBody>
          <a:bodyPr wrap="square" rtlCol="0" anchor="ctr"/>
          <a:lstStyle/>
          <a:p>
            <a:pPr indent="0" marL="0">
              <a:buNone/>
            </a:pPr>
            <a:r>
              <a:rPr lang="en-US" sz="950" dirty="0">
                <a:solidFill>
                  <a:srgbClr val="5A6055"/>
                </a:solidFill>
                <a:latin typeface="Consolas" pitchFamily="34" charset="0"/>
                <a:ea typeface="Consolas" pitchFamily="34" charset="-122"/>
                <a:cs typeface="Consolas" pitchFamily="34" charset="-120"/>
              </a:rPr>
              <a:t>feature[] · page_id</a:t>
            </a:r>
            <a:endParaRPr lang="en-US" sz="950" dirty="0"/>
          </a:p>
        </p:txBody>
      </p:sp>
      <p:sp>
        <p:nvSpPr>
          <p:cNvPr id="9" name="Shape 7"/>
          <p:cNvSpPr/>
          <p:nvPr/>
        </p:nvSpPr>
        <p:spPr>
          <a:xfrm>
            <a:off x="548640" y="3081528"/>
            <a:ext cx="11064240" cy="566928"/>
          </a:xfrm>
          <a:prstGeom prst="roundRect">
            <a:avLst>
              <a:gd name="adj" fmla="val 8065"/>
            </a:avLst>
          </a:prstGeom>
          <a:solidFill>
            <a:srgbClr val="F1F3EE"/>
          </a:solidFill>
          <a:ln w="12700">
            <a:solidFill>
              <a:srgbClr val="E2E5DD"/>
            </a:solidFill>
            <a:prstDash val="solid"/>
          </a:ln>
        </p:spPr>
      </p:sp>
      <p:sp>
        <p:nvSpPr>
          <p:cNvPr id="10" name="Text 8"/>
          <p:cNvSpPr/>
          <p:nvPr/>
        </p:nvSpPr>
        <p:spPr>
          <a:xfrm>
            <a:off x="731520" y="3081528"/>
            <a:ext cx="2331720" cy="566928"/>
          </a:xfrm>
          <a:prstGeom prst="rect">
            <a:avLst/>
          </a:prstGeom>
          <a:noFill/>
          <a:ln/>
        </p:spPr>
        <p:txBody>
          <a:bodyPr wrap="square" rtlCol="0" anchor="ctr"/>
          <a:lstStyle/>
          <a:p>
            <a:pPr indent="0" marL="0">
              <a:buNone/>
            </a:pPr>
            <a:r>
              <a:rPr lang="en-US" sz="1150" b="1" dirty="0">
                <a:solidFill>
                  <a:srgbClr val="0F8A80"/>
                </a:solidFill>
                <a:latin typeface="Consolas" pitchFamily="34" charset="0"/>
                <a:ea typeface="Consolas" pitchFamily="34" charset="-122"/>
                <a:cs typeface="Consolas" pitchFamily="34" charset="-120"/>
              </a:rPr>
              <a:t>technical-hub</a:t>
            </a:r>
            <a:endParaRPr lang="en-US" sz="1150" dirty="0"/>
          </a:p>
        </p:txBody>
      </p:sp>
      <p:sp>
        <p:nvSpPr>
          <p:cNvPr id="11" name="Text 9"/>
          <p:cNvSpPr/>
          <p:nvPr/>
        </p:nvSpPr>
        <p:spPr>
          <a:xfrm>
            <a:off x="3108960" y="3081528"/>
            <a:ext cx="4709160" cy="566928"/>
          </a:xfrm>
          <a:prstGeom prst="rect">
            <a:avLst/>
          </a:prstGeom>
          <a:noFill/>
          <a:ln/>
        </p:spPr>
        <p:txBody>
          <a:bodyPr wrap="square" rtlCol="0" anchor="ctr"/>
          <a:lstStyle/>
          <a:p>
            <a:pPr indent="0" marL="0">
              <a:buNone/>
            </a:pPr>
            <a:r>
              <a:rPr lang="en-US" sz="1250" dirty="0">
                <a:solidFill>
                  <a:srgbClr val="1A1F1C"/>
                </a:solidFill>
                <a:latin typeface="Calibri" pitchFamily="34" charset="0"/>
                <a:ea typeface="Calibri" pitchFamily="34" charset="-122"/>
                <a:cs typeface="Calibri" pitchFamily="34" charset="-120"/>
              </a:rPr>
              <a:t>Index of a feature's endpoints (overview)</a:t>
            </a:r>
            <a:endParaRPr lang="en-US" sz="1250" dirty="0"/>
          </a:p>
        </p:txBody>
      </p:sp>
      <p:sp>
        <p:nvSpPr>
          <p:cNvPr id="12" name="Text 10"/>
          <p:cNvSpPr/>
          <p:nvPr/>
        </p:nvSpPr>
        <p:spPr>
          <a:xfrm>
            <a:off x="7909560" y="3081528"/>
            <a:ext cx="3520440" cy="566928"/>
          </a:xfrm>
          <a:prstGeom prst="rect">
            <a:avLst/>
          </a:prstGeom>
          <a:noFill/>
          <a:ln/>
        </p:spPr>
        <p:txBody>
          <a:bodyPr wrap="square" rtlCol="0" anchor="ctr"/>
          <a:lstStyle/>
          <a:p>
            <a:pPr indent="0" marL="0">
              <a:buNone/>
            </a:pPr>
            <a:r>
              <a:rPr lang="en-US" sz="950" dirty="0">
                <a:solidFill>
                  <a:srgbClr val="5A6055"/>
                </a:solidFill>
                <a:latin typeface="Consolas" pitchFamily="34" charset="0"/>
                <a:ea typeface="Consolas" pitchFamily="34" charset="-122"/>
                <a:cs typeface="Consolas" pitchFamily="34" charset="-120"/>
              </a:rPr>
              <a:t>feature[]</a:t>
            </a:r>
            <a:endParaRPr lang="en-US" sz="950" dirty="0"/>
          </a:p>
        </p:txBody>
      </p:sp>
      <p:sp>
        <p:nvSpPr>
          <p:cNvPr id="13" name="Shape 11"/>
          <p:cNvSpPr/>
          <p:nvPr/>
        </p:nvSpPr>
        <p:spPr>
          <a:xfrm>
            <a:off x="548640" y="3739896"/>
            <a:ext cx="11064240" cy="566928"/>
          </a:xfrm>
          <a:prstGeom prst="roundRect">
            <a:avLst>
              <a:gd name="adj" fmla="val 8065"/>
            </a:avLst>
          </a:prstGeom>
          <a:solidFill>
            <a:srgbClr val="F1F3EE"/>
          </a:solidFill>
          <a:ln w="12700">
            <a:solidFill>
              <a:srgbClr val="E2E5DD"/>
            </a:solidFill>
            <a:prstDash val="solid"/>
          </a:ln>
        </p:spPr>
      </p:sp>
      <p:sp>
        <p:nvSpPr>
          <p:cNvPr id="14" name="Text 12"/>
          <p:cNvSpPr/>
          <p:nvPr/>
        </p:nvSpPr>
        <p:spPr>
          <a:xfrm>
            <a:off x="731520" y="3739896"/>
            <a:ext cx="2331720" cy="566928"/>
          </a:xfrm>
          <a:prstGeom prst="rect">
            <a:avLst/>
          </a:prstGeom>
          <a:noFill/>
          <a:ln/>
        </p:spPr>
        <p:txBody>
          <a:bodyPr wrap="square" rtlCol="0" anchor="ctr"/>
          <a:lstStyle/>
          <a:p>
            <a:pPr indent="0" marL="0">
              <a:buNone/>
            </a:pPr>
            <a:r>
              <a:rPr lang="en-US" sz="1150" b="1" dirty="0">
                <a:solidFill>
                  <a:srgbClr val="5B57A6"/>
                </a:solidFill>
                <a:latin typeface="Consolas" pitchFamily="34" charset="0"/>
                <a:ea typeface="Consolas" pitchFamily="34" charset="-122"/>
                <a:cs typeface="Consolas" pitchFamily="34" charset="-120"/>
              </a:rPr>
              <a:t>endpoint</a:t>
            </a:r>
            <a:endParaRPr lang="en-US" sz="1150" dirty="0"/>
          </a:p>
        </p:txBody>
      </p:sp>
      <p:sp>
        <p:nvSpPr>
          <p:cNvPr id="15" name="Text 13"/>
          <p:cNvSpPr/>
          <p:nvPr/>
        </p:nvSpPr>
        <p:spPr>
          <a:xfrm>
            <a:off x="3108960" y="3739896"/>
            <a:ext cx="4709160" cy="566928"/>
          </a:xfrm>
          <a:prstGeom prst="rect">
            <a:avLst/>
          </a:prstGeom>
          <a:noFill/>
          <a:ln/>
        </p:spPr>
        <p:txBody>
          <a:bodyPr wrap="square" rtlCol="0" anchor="ctr"/>
          <a:lstStyle/>
          <a:p>
            <a:pPr indent="0" marL="0">
              <a:buNone/>
            </a:pPr>
            <a:r>
              <a:rPr lang="en-US" sz="1250" dirty="0">
                <a:solidFill>
                  <a:srgbClr val="1A1F1C"/>
                </a:solidFill>
                <a:latin typeface="Calibri" pitchFamily="34" charset="0"/>
                <a:ea typeface="Calibri" pitchFamily="34" charset="-122"/>
                <a:cs typeface="Calibri" pitchFamily="34" charset="-120"/>
              </a:rPr>
              <a:t>One API operation — Contract · Flow · Gotchas</a:t>
            </a:r>
            <a:endParaRPr lang="en-US" sz="1250" dirty="0"/>
          </a:p>
        </p:txBody>
      </p:sp>
      <p:sp>
        <p:nvSpPr>
          <p:cNvPr id="16" name="Text 14"/>
          <p:cNvSpPr/>
          <p:nvPr/>
        </p:nvSpPr>
        <p:spPr>
          <a:xfrm>
            <a:off x="7909560" y="3739896"/>
            <a:ext cx="3520440" cy="566928"/>
          </a:xfrm>
          <a:prstGeom prst="rect">
            <a:avLst/>
          </a:prstGeom>
          <a:noFill/>
          <a:ln/>
        </p:spPr>
        <p:txBody>
          <a:bodyPr wrap="square" rtlCol="0" anchor="ctr"/>
          <a:lstStyle/>
          <a:p>
            <a:pPr indent="0" marL="0">
              <a:buNone/>
            </a:pPr>
            <a:r>
              <a:rPr lang="en-US" sz="950" dirty="0">
                <a:solidFill>
                  <a:srgbClr val="5A6055"/>
                </a:solidFill>
                <a:latin typeface="Consolas" pitchFamily="34" charset="0"/>
                <a:ea typeface="Consolas" pitchFamily="34" charset="-122"/>
                <a:cs typeface="Consolas" pitchFamily="34" charset="-120"/>
              </a:rPr>
              <a:t>ep::repo::op · controller_id · db_ids · route</a:t>
            </a:r>
            <a:endParaRPr lang="en-US" sz="950" dirty="0"/>
          </a:p>
        </p:txBody>
      </p:sp>
      <p:sp>
        <p:nvSpPr>
          <p:cNvPr id="17" name="Shape 15"/>
          <p:cNvSpPr/>
          <p:nvPr/>
        </p:nvSpPr>
        <p:spPr>
          <a:xfrm>
            <a:off x="548640" y="4398264"/>
            <a:ext cx="11064240" cy="566928"/>
          </a:xfrm>
          <a:prstGeom prst="roundRect">
            <a:avLst>
              <a:gd name="adj" fmla="val 8065"/>
            </a:avLst>
          </a:prstGeom>
          <a:solidFill>
            <a:srgbClr val="F1F3EE"/>
          </a:solidFill>
          <a:ln w="12700">
            <a:solidFill>
              <a:srgbClr val="E2E5DD"/>
            </a:solidFill>
            <a:prstDash val="solid"/>
          </a:ln>
        </p:spPr>
      </p:sp>
      <p:sp>
        <p:nvSpPr>
          <p:cNvPr id="18" name="Text 16"/>
          <p:cNvSpPr/>
          <p:nvPr/>
        </p:nvSpPr>
        <p:spPr>
          <a:xfrm>
            <a:off x="731520" y="4398264"/>
            <a:ext cx="2331720" cy="566928"/>
          </a:xfrm>
          <a:prstGeom prst="rect">
            <a:avLst/>
          </a:prstGeom>
          <a:noFill/>
          <a:ln/>
        </p:spPr>
        <p:txBody>
          <a:bodyPr wrap="square" rtlCol="0" anchor="ctr"/>
          <a:lstStyle/>
          <a:p>
            <a:pPr indent="0" marL="0">
              <a:buNone/>
            </a:pPr>
            <a:r>
              <a:rPr lang="en-US" sz="1150" b="1" dirty="0">
                <a:solidFill>
                  <a:srgbClr val="5B57A6"/>
                </a:solidFill>
                <a:latin typeface="Consolas" pitchFamily="34" charset="0"/>
                <a:ea typeface="Consolas" pitchFamily="34" charset="-122"/>
                <a:cs typeface="Consolas" pitchFamily="34" charset="-120"/>
              </a:rPr>
              <a:t>controller-context</a:t>
            </a:r>
            <a:endParaRPr lang="en-US" sz="1150" dirty="0"/>
          </a:p>
        </p:txBody>
      </p:sp>
      <p:sp>
        <p:nvSpPr>
          <p:cNvPr id="19" name="Text 17"/>
          <p:cNvSpPr/>
          <p:nvPr/>
        </p:nvSpPr>
        <p:spPr>
          <a:xfrm>
            <a:off x="3108960" y="4398264"/>
            <a:ext cx="4709160" cy="566928"/>
          </a:xfrm>
          <a:prstGeom prst="rect">
            <a:avLst/>
          </a:prstGeom>
          <a:noFill/>
          <a:ln/>
        </p:spPr>
        <p:txBody>
          <a:bodyPr wrap="square" rtlCol="0" anchor="ctr"/>
          <a:lstStyle/>
          <a:p>
            <a:pPr indent="0" marL="0">
              <a:buNone/>
            </a:pPr>
            <a:r>
              <a:rPr lang="en-US" sz="1250" dirty="0">
                <a:solidFill>
                  <a:srgbClr val="1A1F1C"/>
                </a:solidFill>
                <a:latin typeface="Calibri" pitchFamily="34" charset="0"/>
                <a:ea typeface="Calibri" pitchFamily="34" charset="-122"/>
                <a:cs typeface="Calibri" pitchFamily="34" charset="-120"/>
              </a:rPr>
              <a:t>The controller class behind the endpoints</a:t>
            </a:r>
            <a:endParaRPr lang="en-US" sz="1250" dirty="0"/>
          </a:p>
        </p:txBody>
      </p:sp>
      <p:sp>
        <p:nvSpPr>
          <p:cNvPr id="20" name="Text 18"/>
          <p:cNvSpPr/>
          <p:nvPr/>
        </p:nvSpPr>
        <p:spPr>
          <a:xfrm>
            <a:off x="7909560" y="4398264"/>
            <a:ext cx="3520440" cy="566928"/>
          </a:xfrm>
          <a:prstGeom prst="rect">
            <a:avLst/>
          </a:prstGeom>
          <a:noFill/>
          <a:ln/>
        </p:spPr>
        <p:txBody>
          <a:bodyPr wrap="square" rtlCol="0" anchor="ctr"/>
          <a:lstStyle/>
          <a:p>
            <a:pPr indent="0" marL="0">
              <a:buNone/>
            </a:pPr>
            <a:r>
              <a:rPr lang="en-US" sz="950" dirty="0">
                <a:solidFill>
                  <a:srgbClr val="5A6055"/>
                </a:solidFill>
                <a:latin typeface="Consolas" pitchFamily="34" charset="0"/>
                <a:ea typeface="Consolas" pitchFamily="34" charset="-122"/>
                <a:cs typeface="Consolas" pitchFamily="34" charset="-120"/>
              </a:rPr>
              <a:t>ctrl::repo::name · used_by[]</a:t>
            </a:r>
            <a:endParaRPr lang="en-US" sz="950" dirty="0"/>
          </a:p>
        </p:txBody>
      </p:sp>
      <p:sp>
        <p:nvSpPr>
          <p:cNvPr id="21" name="Shape 19"/>
          <p:cNvSpPr/>
          <p:nvPr/>
        </p:nvSpPr>
        <p:spPr>
          <a:xfrm>
            <a:off x="548640" y="5056632"/>
            <a:ext cx="11064240" cy="566928"/>
          </a:xfrm>
          <a:prstGeom prst="roundRect">
            <a:avLst>
              <a:gd name="adj" fmla="val 8065"/>
            </a:avLst>
          </a:prstGeom>
          <a:solidFill>
            <a:srgbClr val="F1F3EE"/>
          </a:solidFill>
          <a:ln w="12700">
            <a:solidFill>
              <a:srgbClr val="E2E5DD"/>
            </a:solidFill>
            <a:prstDash val="solid"/>
          </a:ln>
        </p:spPr>
      </p:sp>
      <p:sp>
        <p:nvSpPr>
          <p:cNvPr id="22" name="Text 20"/>
          <p:cNvSpPr/>
          <p:nvPr/>
        </p:nvSpPr>
        <p:spPr>
          <a:xfrm>
            <a:off x="731520" y="5056632"/>
            <a:ext cx="2331720" cy="566928"/>
          </a:xfrm>
          <a:prstGeom prst="rect">
            <a:avLst/>
          </a:prstGeom>
          <a:noFill/>
          <a:ln/>
        </p:spPr>
        <p:txBody>
          <a:bodyPr wrap="square" rtlCol="0" anchor="ctr"/>
          <a:lstStyle/>
          <a:p>
            <a:pPr indent="0" marL="0">
              <a:buNone/>
            </a:pPr>
            <a:r>
              <a:rPr lang="en-US" sz="1150" b="1" dirty="0">
                <a:solidFill>
                  <a:srgbClr val="0F8A80"/>
                </a:solidFill>
                <a:latin typeface="Consolas" pitchFamily="34" charset="0"/>
                <a:ea typeface="Consolas" pitchFamily="34" charset="-122"/>
                <a:cs typeface="Consolas" pitchFamily="34" charset="-120"/>
              </a:rPr>
              <a:t>db-collection</a:t>
            </a:r>
            <a:endParaRPr lang="en-US" sz="1150" dirty="0"/>
          </a:p>
        </p:txBody>
      </p:sp>
      <p:sp>
        <p:nvSpPr>
          <p:cNvPr id="23" name="Text 21"/>
          <p:cNvSpPr/>
          <p:nvPr/>
        </p:nvSpPr>
        <p:spPr>
          <a:xfrm>
            <a:off x="3108960" y="5056632"/>
            <a:ext cx="4709160" cy="566928"/>
          </a:xfrm>
          <a:prstGeom prst="rect">
            <a:avLst/>
          </a:prstGeom>
          <a:noFill/>
          <a:ln/>
        </p:spPr>
        <p:txBody>
          <a:bodyPr wrap="square" rtlCol="0" anchor="ctr"/>
          <a:lstStyle/>
          <a:p>
            <a:pPr indent="0" marL="0">
              <a:buNone/>
            </a:pPr>
            <a:r>
              <a:rPr lang="en-US" sz="1250" dirty="0">
                <a:solidFill>
                  <a:srgbClr val="1A1F1C"/>
                </a:solidFill>
                <a:latin typeface="Calibri" pitchFamily="34" charset="0"/>
                <a:ea typeface="Calibri" pitchFamily="34" charset="-122"/>
                <a:cs typeface="Calibri" pitchFamily="34" charset="-120"/>
              </a:rPr>
              <a:t>A MongoDB collection the endpoints read</a:t>
            </a:r>
            <a:endParaRPr lang="en-US" sz="1250" dirty="0"/>
          </a:p>
        </p:txBody>
      </p:sp>
      <p:sp>
        <p:nvSpPr>
          <p:cNvPr id="24" name="Text 22"/>
          <p:cNvSpPr/>
          <p:nvPr/>
        </p:nvSpPr>
        <p:spPr>
          <a:xfrm>
            <a:off x="7909560" y="5056632"/>
            <a:ext cx="3520440" cy="566928"/>
          </a:xfrm>
          <a:prstGeom prst="rect">
            <a:avLst/>
          </a:prstGeom>
          <a:noFill/>
          <a:ln/>
        </p:spPr>
        <p:txBody>
          <a:bodyPr wrap="square" rtlCol="0" anchor="ctr"/>
          <a:lstStyle/>
          <a:p>
            <a:pPr indent="0" marL="0">
              <a:buNone/>
            </a:pPr>
            <a:r>
              <a:rPr lang="en-US" sz="950" dirty="0">
                <a:solidFill>
                  <a:srgbClr val="5A6055"/>
                </a:solidFill>
                <a:latin typeface="Consolas" pitchFamily="34" charset="0"/>
                <a:ea typeface="Consolas" pitchFamily="34" charset="-122"/>
                <a:cs typeface="Consolas" pitchFamily="34" charset="-120"/>
              </a:rPr>
              <a:t>db::store::collection</a:t>
            </a:r>
            <a:endParaRPr lang="en-US" sz="950" dirty="0"/>
          </a:p>
        </p:txBody>
      </p:sp>
      <p:sp>
        <p:nvSpPr>
          <p:cNvPr id="25" name="Text 23"/>
          <p:cNvSpPr/>
          <p:nvPr/>
        </p:nvSpPr>
        <p:spPr>
          <a:xfrm>
            <a:off x="548640" y="5897880"/>
            <a:ext cx="11064240" cy="365760"/>
          </a:xfrm>
          <a:prstGeom prst="rect">
            <a:avLst/>
          </a:prstGeom>
          <a:noFill/>
          <a:ln/>
        </p:spPr>
        <p:txBody>
          <a:bodyPr wrap="square" rtlCol="0" anchor="ctr"/>
          <a:lstStyle/>
          <a:p>
            <a:pPr indent="0" marL="0">
              <a:buNone/>
            </a:pPr>
            <a:r>
              <a:rPr lang="en-US" sz="1250" i="1" dirty="0">
                <a:solidFill>
                  <a:srgbClr val="5A6055"/>
                </a:solidFill>
                <a:latin typeface="Calibri" pitchFamily="34" charset="0"/>
                <a:ea typeface="Calibri" pitchFamily="34" charset="-122"/>
                <a:cs typeface="Calibri" pitchFamily="34" charset="-120"/>
              </a:rPr>
              <a:t>The endpoint's Flow section cites File.cs:line — that citation is the bridge from a doc into the code RAG.</a:t>
            </a:r>
            <a:endParaRPr lang="en-US" sz="1250" dirty="0"/>
          </a:p>
        </p:txBody>
      </p:sp>
      <p:sp>
        <p:nvSpPr>
          <p:cNvPr id="26" name="Text 24"/>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27" name="Text 25"/>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5B57A6"/>
                </a:solidFill>
                <a:latin typeface="Consolas" pitchFamily="34" charset="0"/>
                <a:ea typeface="Consolas" pitchFamily="34" charset="-122"/>
                <a:cs typeface="Consolas" pitchFamily="34" charset="-120"/>
              </a:rPr>
              <a:t>UNDER THE HOOD</a:t>
            </a:r>
            <a:endParaRPr lang="en-US" sz="1100" dirty="0"/>
          </a:p>
        </p:txBody>
      </p:sp>
      <p:sp>
        <p:nvSpPr>
          <p:cNvPr id="3" name="Text 1"/>
          <p:cNvSpPr/>
          <p:nvPr/>
        </p:nvSpPr>
        <p:spPr>
          <a:xfrm>
            <a:off x="502920" y="868680"/>
            <a:ext cx="11155680" cy="822960"/>
          </a:xfrm>
          <a:prstGeom prst="rect">
            <a:avLst/>
          </a:prstGeom>
          <a:noFill/>
          <a:ln/>
        </p:spPr>
        <p:txBody>
          <a:bodyPr wrap="square" rtlCol="0" anchor="ctr"/>
          <a:lstStyle/>
          <a:p>
            <a:pPr indent="0" marL="0">
              <a:buNone/>
            </a:pPr>
            <a:r>
              <a:rPr lang="en-US" sz="3200" b="1" dirty="0">
                <a:solidFill>
                  <a:srgbClr val="1A1F1C"/>
                </a:solidFill>
                <a:latin typeface="Cambria" pitchFamily="34" charset="0"/>
                <a:ea typeface="Cambria" pitchFamily="34" charset="-122"/>
                <a:cs typeface="Cambria" pitchFamily="34" charset="-120"/>
              </a:rPr>
              <a:t>Three stores, three questions</a:t>
            </a:r>
            <a:endParaRPr lang="en-US" sz="3200" dirty="0"/>
          </a:p>
        </p:txBody>
      </p:sp>
      <p:sp>
        <p:nvSpPr>
          <p:cNvPr id="4" name="Text 2"/>
          <p:cNvSpPr/>
          <p:nvPr/>
        </p:nvSpPr>
        <p:spPr>
          <a:xfrm>
            <a:off x="548640" y="1783080"/>
            <a:ext cx="10972800" cy="548640"/>
          </a:xfrm>
          <a:prstGeom prst="rect">
            <a:avLst/>
          </a:prstGeom>
          <a:noFill/>
          <a:ln/>
        </p:spPr>
        <p:txBody>
          <a:bodyPr wrap="square" rtlCol="0" anchor="ctr"/>
          <a:lstStyle/>
          <a:p>
            <a:pPr indent="0" marL="0">
              <a:buNone/>
            </a:pPr>
            <a:r>
              <a:rPr lang="en-US" sz="1500" dirty="0">
                <a:solidFill>
                  <a:srgbClr val="5A6055"/>
                </a:solidFill>
                <a:latin typeface="Calibri" pitchFamily="34" charset="0"/>
                <a:ea typeface="Calibri" pitchFamily="34" charset="-122"/>
                <a:cs typeface="Calibri" pitchFamily="34" charset="-120"/>
              </a:rPr>
              <a:t>Each store answers a different kind of question — and a single query can draw on all three at once.</a:t>
            </a:r>
            <a:endParaRPr lang="en-US" sz="1500" dirty="0"/>
          </a:p>
        </p:txBody>
      </p:sp>
      <p:sp>
        <p:nvSpPr>
          <p:cNvPr id="5" name="Shape 3"/>
          <p:cNvSpPr/>
          <p:nvPr/>
        </p:nvSpPr>
        <p:spPr>
          <a:xfrm>
            <a:off x="548640" y="2697480"/>
            <a:ext cx="3611880" cy="3063240"/>
          </a:xfrm>
          <a:prstGeom prst="roundRect">
            <a:avLst>
              <a:gd name="adj" fmla="val 2388"/>
            </a:avLst>
          </a:prstGeom>
          <a:solidFill>
            <a:srgbClr val="F1F3EE"/>
          </a:solidFill>
          <a:ln w="12700">
            <a:solidFill>
              <a:srgbClr val="E2E5DD"/>
            </a:solidFill>
            <a:prstDash val="solid"/>
          </a:ln>
        </p:spPr>
      </p:sp>
      <p:sp>
        <p:nvSpPr>
          <p:cNvPr id="6" name="Text 4"/>
          <p:cNvSpPr/>
          <p:nvPr/>
        </p:nvSpPr>
        <p:spPr>
          <a:xfrm>
            <a:off x="841248" y="2926080"/>
            <a:ext cx="3063240" cy="365760"/>
          </a:xfrm>
          <a:prstGeom prst="rect">
            <a:avLst/>
          </a:prstGeom>
          <a:noFill/>
          <a:ln/>
        </p:spPr>
        <p:txBody>
          <a:bodyPr wrap="square" rtlCol="0" anchor="ctr"/>
          <a:lstStyle/>
          <a:p>
            <a:pPr indent="0" marL="0">
              <a:buNone/>
            </a:pPr>
            <a:r>
              <a:rPr lang="en-US" sz="1400" b="1" spc="200" kern="0" dirty="0">
                <a:solidFill>
                  <a:srgbClr val="B4892B"/>
                </a:solidFill>
                <a:latin typeface="Consolas" pitchFamily="34" charset="0"/>
                <a:ea typeface="Consolas" pitchFamily="34" charset="-122"/>
                <a:cs typeface="Consolas" pitchFamily="34" charset="-120"/>
              </a:rPr>
              <a:t>WHY</a:t>
            </a:r>
            <a:endParaRPr lang="en-US" sz="1400" dirty="0"/>
          </a:p>
        </p:txBody>
      </p:sp>
      <p:sp>
        <p:nvSpPr>
          <p:cNvPr id="7" name="Text 5"/>
          <p:cNvSpPr/>
          <p:nvPr/>
        </p:nvSpPr>
        <p:spPr>
          <a:xfrm>
            <a:off x="841248" y="3273552"/>
            <a:ext cx="3063240" cy="274320"/>
          </a:xfrm>
          <a:prstGeom prst="rect">
            <a:avLst/>
          </a:prstGeom>
          <a:noFill/>
          <a:ln/>
        </p:spPr>
        <p:txBody>
          <a:bodyPr wrap="square" rtlCol="0" anchor="ctr"/>
          <a:lstStyle/>
          <a:p>
            <a:pPr indent="0" marL="0">
              <a:buNone/>
            </a:pPr>
            <a:r>
              <a:rPr lang="en-US" sz="1000" spc="100" kern="0" dirty="0">
                <a:solidFill>
                  <a:srgbClr val="8A907F"/>
                </a:solidFill>
                <a:latin typeface="Consolas" pitchFamily="34" charset="0"/>
                <a:ea typeface="Consolas" pitchFamily="34" charset="-122"/>
                <a:cs typeface="Consolas" pitchFamily="34" charset="-120"/>
              </a:rPr>
              <a:t>FUNCTIONAL DOCS</a:t>
            </a:r>
            <a:endParaRPr lang="en-US" sz="1000" dirty="0"/>
          </a:p>
        </p:txBody>
      </p:sp>
      <p:sp>
        <p:nvSpPr>
          <p:cNvPr id="8" name="Text 6"/>
          <p:cNvSpPr/>
          <p:nvPr/>
        </p:nvSpPr>
        <p:spPr>
          <a:xfrm>
            <a:off x="841248" y="3657600"/>
            <a:ext cx="3063240" cy="868680"/>
          </a:xfrm>
          <a:prstGeom prst="rect">
            <a:avLst/>
          </a:prstGeom>
          <a:noFill/>
          <a:ln/>
        </p:spPr>
        <p:txBody>
          <a:bodyPr wrap="square" rtlCol="0" anchor="ctr"/>
          <a:lstStyle/>
          <a:p>
            <a:pPr indent="0" marL="0">
              <a:buNone/>
            </a:pPr>
            <a:r>
              <a:rPr lang="en-US" sz="1900" b="1" dirty="0">
                <a:solidFill>
                  <a:srgbClr val="1A1F1C"/>
                </a:solidFill>
                <a:latin typeface="Cambria" pitchFamily="34" charset="0"/>
                <a:ea typeface="Cambria" pitchFamily="34" charset="-122"/>
                <a:cs typeface="Cambria" pitchFamily="34" charset="-120"/>
              </a:rPr>
              <a:t>“Why does this feature exist?”</a:t>
            </a:r>
            <a:endParaRPr lang="en-US" sz="1900" dirty="0"/>
          </a:p>
        </p:txBody>
      </p:sp>
      <p:sp>
        <p:nvSpPr>
          <p:cNvPr id="9" name="Text 7"/>
          <p:cNvSpPr/>
          <p:nvPr/>
        </p:nvSpPr>
        <p:spPr>
          <a:xfrm>
            <a:off x="841248" y="4572000"/>
            <a:ext cx="3044952" cy="1097280"/>
          </a:xfrm>
          <a:prstGeom prst="rect">
            <a:avLst/>
          </a:prstGeom>
          <a:noFill/>
          <a:ln/>
        </p:spPr>
        <p:txBody>
          <a:bodyPr wrap="square" rtlCol="0" anchor="ctr"/>
          <a:lstStyle/>
          <a:p>
            <a:pPr indent="0" marL="0">
              <a:lnSpc>
                <a:spcPts val="1700"/>
              </a:lnSpc>
              <a:buNone/>
            </a:pPr>
            <a:r>
              <a:rPr lang="en-US" sz="1250" dirty="0">
                <a:solidFill>
                  <a:srgbClr val="5A6055"/>
                </a:solidFill>
                <a:latin typeface="Calibri" pitchFamily="34" charset="0"/>
                <a:ea typeface="Calibri" pitchFamily="34" charset="-122"/>
                <a:cs typeface="Calibri" pitchFamily="34" charset="-120"/>
              </a:rPr>
              <a:t>Business purpose (Feature Hubs). Sparse today — still being authored — but the store and its use case are wired in.</a:t>
            </a:r>
            <a:endParaRPr lang="en-US" sz="1250" dirty="0"/>
          </a:p>
        </p:txBody>
      </p:sp>
      <p:sp>
        <p:nvSpPr>
          <p:cNvPr id="10" name="Shape 8"/>
          <p:cNvSpPr/>
          <p:nvPr/>
        </p:nvSpPr>
        <p:spPr>
          <a:xfrm>
            <a:off x="4416552" y="2697480"/>
            <a:ext cx="3611880" cy="3063240"/>
          </a:xfrm>
          <a:prstGeom prst="roundRect">
            <a:avLst>
              <a:gd name="adj" fmla="val 2388"/>
            </a:avLst>
          </a:prstGeom>
          <a:solidFill>
            <a:srgbClr val="F1F3EE"/>
          </a:solidFill>
          <a:ln w="12700">
            <a:solidFill>
              <a:srgbClr val="E2E5DD"/>
            </a:solidFill>
            <a:prstDash val="solid"/>
          </a:ln>
        </p:spPr>
      </p:sp>
      <p:sp>
        <p:nvSpPr>
          <p:cNvPr id="11" name="Text 9"/>
          <p:cNvSpPr/>
          <p:nvPr/>
        </p:nvSpPr>
        <p:spPr>
          <a:xfrm>
            <a:off x="4709160" y="2926080"/>
            <a:ext cx="3063240" cy="365760"/>
          </a:xfrm>
          <a:prstGeom prst="rect">
            <a:avLst/>
          </a:prstGeom>
          <a:noFill/>
          <a:ln/>
        </p:spPr>
        <p:txBody>
          <a:bodyPr wrap="square" rtlCol="0" anchor="ctr"/>
          <a:lstStyle/>
          <a:p>
            <a:pPr indent="0" marL="0">
              <a:buNone/>
            </a:pPr>
            <a:r>
              <a:rPr lang="en-US" sz="1400" b="1" spc="200" kern="0" dirty="0">
                <a:solidFill>
                  <a:srgbClr val="0F8A80"/>
                </a:solidFill>
                <a:latin typeface="Consolas" pitchFamily="34" charset="0"/>
                <a:ea typeface="Consolas" pitchFamily="34" charset="-122"/>
                <a:cs typeface="Consolas" pitchFamily="34" charset="-120"/>
              </a:rPr>
              <a:t>HOW</a:t>
            </a:r>
            <a:endParaRPr lang="en-US" sz="1400" dirty="0"/>
          </a:p>
        </p:txBody>
      </p:sp>
      <p:sp>
        <p:nvSpPr>
          <p:cNvPr id="12" name="Text 10"/>
          <p:cNvSpPr/>
          <p:nvPr/>
        </p:nvSpPr>
        <p:spPr>
          <a:xfrm>
            <a:off x="4709160" y="3273552"/>
            <a:ext cx="3063240" cy="274320"/>
          </a:xfrm>
          <a:prstGeom prst="rect">
            <a:avLst/>
          </a:prstGeom>
          <a:noFill/>
          <a:ln/>
        </p:spPr>
        <p:txBody>
          <a:bodyPr wrap="square" rtlCol="0" anchor="ctr"/>
          <a:lstStyle/>
          <a:p>
            <a:pPr indent="0" marL="0">
              <a:buNone/>
            </a:pPr>
            <a:r>
              <a:rPr lang="en-US" sz="1000" spc="100" kern="0" dirty="0">
                <a:solidFill>
                  <a:srgbClr val="8A907F"/>
                </a:solidFill>
                <a:latin typeface="Consolas" pitchFamily="34" charset="0"/>
                <a:ea typeface="Consolas" pitchFamily="34" charset="-122"/>
                <a:cs typeface="Consolas" pitchFamily="34" charset="-120"/>
              </a:rPr>
              <a:t>TECHNICAL DOCS</a:t>
            </a:r>
            <a:endParaRPr lang="en-US" sz="1000" dirty="0"/>
          </a:p>
        </p:txBody>
      </p:sp>
      <p:sp>
        <p:nvSpPr>
          <p:cNvPr id="13" name="Text 11"/>
          <p:cNvSpPr/>
          <p:nvPr/>
        </p:nvSpPr>
        <p:spPr>
          <a:xfrm>
            <a:off x="4709160" y="3657600"/>
            <a:ext cx="3063240" cy="868680"/>
          </a:xfrm>
          <a:prstGeom prst="rect">
            <a:avLst/>
          </a:prstGeom>
          <a:noFill/>
          <a:ln/>
        </p:spPr>
        <p:txBody>
          <a:bodyPr wrap="square" rtlCol="0" anchor="ctr"/>
          <a:lstStyle/>
          <a:p>
            <a:pPr indent="0" marL="0">
              <a:buNone/>
            </a:pPr>
            <a:r>
              <a:rPr lang="en-US" sz="1900" b="1" dirty="0">
                <a:solidFill>
                  <a:srgbClr val="1A1F1C"/>
                </a:solidFill>
                <a:latin typeface="Cambria" pitchFamily="34" charset="0"/>
                <a:ea typeface="Cambria" pitchFamily="34" charset="-122"/>
                <a:cs typeface="Cambria" pitchFamily="34" charset="-120"/>
              </a:rPr>
              <a:t>“How is it built?”</a:t>
            </a:r>
            <a:endParaRPr lang="en-US" sz="1900" dirty="0"/>
          </a:p>
        </p:txBody>
      </p:sp>
      <p:sp>
        <p:nvSpPr>
          <p:cNvPr id="14" name="Text 12"/>
          <p:cNvSpPr/>
          <p:nvPr/>
        </p:nvSpPr>
        <p:spPr>
          <a:xfrm>
            <a:off x="4709160" y="4572000"/>
            <a:ext cx="3044952" cy="1097280"/>
          </a:xfrm>
          <a:prstGeom prst="rect">
            <a:avLst/>
          </a:prstGeom>
          <a:noFill/>
          <a:ln/>
        </p:spPr>
        <p:txBody>
          <a:bodyPr wrap="square" rtlCol="0" anchor="ctr"/>
          <a:lstStyle/>
          <a:p>
            <a:pPr indent="0" marL="0">
              <a:lnSpc>
                <a:spcPts val="1700"/>
              </a:lnSpc>
              <a:buNone/>
            </a:pPr>
            <a:r>
              <a:rPr lang="en-US" sz="1250" dirty="0">
                <a:solidFill>
                  <a:srgbClr val="5A6055"/>
                </a:solidFill>
                <a:latin typeface="Calibri" pitchFamily="34" charset="0"/>
                <a:ea typeface="Calibri" pitchFamily="34" charset="-122"/>
                <a:cs typeface="Calibri" pitchFamily="34" charset="-120"/>
              </a:rPr>
              <a:t>Endpoints, controllers, data stores. A quota guarantees an endpoint hit brings its controller and data store along.</a:t>
            </a:r>
            <a:endParaRPr lang="en-US" sz="1250" dirty="0"/>
          </a:p>
        </p:txBody>
      </p:sp>
      <p:sp>
        <p:nvSpPr>
          <p:cNvPr id="15" name="Shape 13"/>
          <p:cNvSpPr/>
          <p:nvPr/>
        </p:nvSpPr>
        <p:spPr>
          <a:xfrm>
            <a:off x="8284464" y="2697480"/>
            <a:ext cx="3611880" cy="3063240"/>
          </a:xfrm>
          <a:prstGeom prst="roundRect">
            <a:avLst>
              <a:gd name="adj" fmla="val 2388"/>
            </a:avLst>
          </a:prstGeom>
          <a:solidFill>
            <a:srgbClr val="F1F3EE"/>
          </a:solidFill>
          <a:ln w="12700">
            <a:solidFill>
              <a:srgbClr val="E2E5DD"/>
            </a:solidFill>
            <a:prstDash val="solid"/>
          </a:ln>
        </p:spPr>
      </p:sp>
      <p:sp>
        <p:nvSpPr>
          <p:cNvPr id="16" name="Text 14"/>
          <p:cNvSpPr/>
          <p:nvPr/>
        </p:nvSpPr>
        <p:spPr>
          <a:xfrm>
            <a:off x="8577072" y="2926080"/>
            <a:ext cx="3063240" cy="365760"/>
          </a:xfrm>
          <a:prstGeom prst="rect">
            <a:avLst/>
          </a:prstGeom>
          <a:noFill/>
          <a:ln/>
        </p:spPr>
        <p:txBody>
          <a:bodyPr wrap="square" rtlCol="0" anchor="ctr"/>
          <a:lstStyle/>
          <a:p>
            <a:pPr indent="0" marL="0">
              <a:buNone/>
            </a:pPr>
            <a:r>
              <a:rPr lang="en-US" sz="1400" b="1" spc="200" kern="0" dirty="0">
                <a:solidFill>
                  <a:srgbClr val="5B57A6"/>
                </a:solidFill>
                <a:latin typeface="Consolas" pitchFamily="34" charset="0"/>
                <a:ea typeface="Consolas" pitchFamily="34" charset="-122"/>
                <a:cs typeface="Consolas" pitchFamily="34" charset="-120"/>
              </a:rPr>
              <a:t>WHAT</a:t>
            </a:r>
            <a:endParaRPr lang="en-US" sz="1400" dirty="0"/>
          </a:p>
        </p:txBody>
      </p:sp>
      <p:sp>
        <p:nvSpPr>
          <p:cNvPr id="17" name="Text 15"/>
          <p:cNvSpPr/>
          <p:nvPr/>
        </p:nvSpPr>
        <p:spPr>
          <a:xfrm>
            <a:off x="8577072" y="3273552"/>
            <a:ext cx="3063240" cy="274320"/>
          </a:xfrm>
          <a:prstGeom prst="rect">
            <a:avLst/>
          </a:prstGeom>
          <a:noFill/>
          <a:ln/>
        </p:spPr>
        <p:txBody>
          <a:bodyPr wrap="square" rtlCol="0" anchor="ctr"/>
          <a:lstStyle/>
          <a:p>
            <a:pPr indent="0" marL="0">
              <a:buNone/>
            </a:pPr>
            <a:r>
              <a:rPr lang="en-US" sz="1000" spc="100" kern="0" dirty="0">
                <a:solidFill>
                  <a:srgbClr val="8A907F"/>
                </a:solidFill>
                <a:latin typeface="Consolas" pitchFamily="34" charset="0"/>
                <a:ea typeface="Consolas" pitchFamily="34" charset="-122"/>
                <a:cs typeface="Consolas" pitchFamily="34" charset="-120"/>
              </a:rPr>
              <a:t>REPO CODE</a:t>
            </a:r>
            <a:endParaRPr lang="en-US" sz="1000" dirty="0"/>
          </a:p>
        </p:txBody>
      </p:sp>
      <p:sp>
        <p:nvSpPr>
          <p:cNvPr id="18" name="Text 16"/>
          <p:cNvSpPr/>
          <p:nvPr/>
        </p:nvSpPr>
        <p:spPr>
          <a:xfrm>
            <a:off x="8577072" y="3657600"/>
            <a:ext cx="3063240" cy="868680"/>
          </a:xfrm>
          <a:prstGeom prst="rect">
            <a:avLst/>
          </a:prstGeom>
          <a:noFill/>
          <a:ln/>
        </p:spPr>
        <p:txBody>
          <a:bodyPr wrap="square" rtlCol="0" anchor="ctr"/>
          <a:lstStyle/>
          <a:p>
            <a:pPr indent="0" marL="0">
              <a:buNone/>
            </a:pPr>
            <a:r>
              <a:rPr lang="en-US" sz="1900" b="1" dirty="0">
                <a:solidFill>
                  <a:srgbClr val="1A1F1C"/>
                </a:solidFill>
                <a:latin typeface="Cambria" pitchFamily="34" charset="0"/>
                <a:ea typeface="Cambria" pitchFamily="34" charset="-122"/>
                <a:cs typeface="Cambria" pitchFamily="34" charset="-120"/>
              </a:rPr>
              <a:t>“What does the code do?”</a:t>
            </a:r>
            <a:endParaRPr lang="en-US" sz="1900" dirty="0"/>
          </a:p>
        </p:txBody>
      </p:sp>
      <p:sp>
        <p:nvSpPr>
          <p:cNvPr id="19" name="Text 17"/>
          <p:cNvSpPr/>
          <p:nvPr/>
        </p:nvSpPr>
        <p:spPr>
          <a:xfrm>
            <a:off x="8577072" y="4572000"/>
            <a:ext cx="3044952" cy="1097280"/>
          </a:xfrm>
          <a:prstGeom prst="rect">
            <a:avLst/>
          </a:prstGeom>
          <a:noFill/>
          <a:ln/>
        </p:spPr>
        <p:txBody>
          <a:bodyPr wrap="square" rtlCol="0" anchor="ctr"/>
          <a:lstStyle/>
          <a:p>
            <a:pPr indent="0" marL="0">
              <a:lnSpc>
                <a:spcPts val="1700"/>
              </a:lnSpc>
              <a:buNone/>
            </a:pPr>
            <a:r>
              <a:rPr lang="en-US" sz="1250" dirty="0">
                <a:solidFill>
                  <a:srgbClr val="5A6055"/>
                </a:solidFill>
                <a:latin typeface="Calibri" pitchFamily="34" charset="0"/>
                <a:ea typeface="Calibri" pitchFamily="34" charset="-122"/>
                <a:cs typeface="Calibri" pitchFamily="34" charset="-120"/>
              </a:rPr>
              <a:t>The real controller / service / repository / entity methods — one store per repo, reached by routing off the doc's id.</a:t>
            </a:r>
            <a:endParaRPr lang="en-US" sz="1250" dirty="0"/>
          </a:p>
        </p:txBody>
      </p:sp>
      <p:sp>
        <p:nvSpPr>
          <p:cNvPr id="20" name="Text 18"/>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21" name="Text 19"/>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indent="0" marL="0">
              <a:buNone/>
            </a:pPr>
            <a:r>
              <a:rPr lang="en-US" sz="1100" b="1" spc="200" kern="0" dirty="0">
                <a:solidFill>
                  <a:srgbClr val="B4892B"/>
                </a:solidFill>
                <a:latin typeface="Consolas" pitchFamily="34" charset="0"/>
                <a:ea typeface="Consolas" pitchFamily="34" charset="-122"/>
                <a:cs typeface="Consolas" pitchFamily="34" charset="-120"/>
              </a:rPr>
              <a:t>CASE STUDY · A REAL BUG HUNT</a:t>
            </a:r>
            <a:endParaRPr lang="en-US" sz="1100" dirty="0"/>
          </a:p>
        </p:txBody>
      </p:sp>
      <p:sp>
        <p:nvSpPr>
          <p:cNvPr id="3" name="Text 1"/>
          <p:cNvSpPr/>
          <p:nvPr/>
        </p:nvSpPr>
        <p:spPr>
          <a:xfrm>
            <a:off x="502920" y="777240"/>
            <a:ext cx="11155680" cy="914400"/>
          </a:xfrm>
          <a:prstGeom prst="rect">
            <a:avLst/>
          </a:prstGeom>
          <a:noFill/>
          <a:ln/>
        </p:spPr>
        <p:txBody>
          <a:bodyPr wrap="square" rtlCol="0" anchor="ctr"/>
          <a:lstStyle/>
          <a:p>
            <a:pPr indent="0" marL="0">
              <a:buNone/>
            </a:pPr>
            <a:r>
              <a:rPr lang="en-US" sz="2500" b="1" i="1" dirty="0">
                <a:solidFill>
                  <a:srgbClr val="1A1F1C"/>
                </a:solidFill>
                <a:latin typeface="Cambria" pitchFamily="34" charset="0"/>
                <a:ea typeface="Cambria" pitchFamily="34" charset="-122"/>
                <a:cs typeface="Cambria" pitchFamily="34" charset="-120"/>
              </a:rPr>
              <a:t>“Why does faculty-led group-performance return null for a valid group id?”</a:t>
            </a:r>
            <a:endParaRPr lang="en-US" sz="2500" dirty="0"/>
          </a:p>
        </p:txBody>
      </p:sp>
      <p:sp>
        <p:nvSpPr>
          <p:cNvPr id="4" name="Shape 2"/>
          <p:cNvSpPr/>
          <p:nvPr/>
        </p:nvSpPr>
        <p:spPr>
          <a:xfrm>
            <a:off x="548640" y="1965960"/>
            <a:ext cx="457200" cy="457200"/>
          </a:xfrm>
          <a:prstGeom prst="ellipse">
            <a:avLst/>
          </a:prstGeom>
          <a:solidFill>
            <a:srgbClr val="5B57A6"/>
          </a:solidFill>
          <a:ln/>
        </p:spPr>
      </p:sp>
      <p:sp>
        <p:nvSpPr>
          <p:cNvPr id="5" name="Text 3"/>
          <p:cNvSpPr/>
          <p:nvPr/>
        </p:nvSpPr>
        <p:spPr>
          <a:xfrm>
            <a:off x="548640" y="19659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143000" y="1947672"/>
            <a:ext cx="4389120" cy="320040"/>
          </a:xfrm>
          <a:prstGeom prst="rect">
            <a:avLst/>
          </a:prstGeom>
          <a:noFill/>
          <a:ln/>
        </p:spPr>
        <p:txBody>
          <a:bodyPr wrap="square" rtlCol="0" anchor="ctr"/>
          <a:lstStyle/>
          <a:p>
            <a:pPr indent="0" marL="0">
              <a:buNone/>
            </a:pPr>
            <a:r>
              <a:rPr lang="en-US" sz="1500" b="1" dirty="0">
                <a:solidFill>
                  <a:srgbClr val="1A1F1C"/>
                </a:solidFill>
                <a:latin typeface="Cambria" pitchFamily="34" charset="0"/>
                <a:ea typeface="Cambria" pitchFamily="34" charset="-122"/>
                <a:cs typeface="Cambria" pitchFamily="34" charset="-120"/>
              </a:rPr>
              <a:t>Docs hit</a:t>
            </a:r>
            <a:endParaRPr lang="en-US" sz="1500" dirty="0"/>
          </a:p>
        </p:txBody>
      </p:sp>
      <p:sp>
        <p:nvSpPr>
          <p:cNvPr id="7" name="Text 5"/>
          <p:cNvSpPr/>
          <p:nvPr/>
        </p:nvSpPr>
        <p:spPr>
          <a:xfrm>
            <a:off x="1143000" y="2258568"/>
            <a:ext cx="4572000" cy="640080"/>
          </a:xfrm>
          <a:prstGeom prst="rect">
            <a:avLst/>
          </a:prstGeom>
          <a:noFill/>
          <a:ln/>
        </p:spPr>
        <p:txBody>
          <a:bodyPr wrap="square" rtlCol="0" anchor="ctr"/>
          <a:lstStyle/>
          <a:p>
            <a:pPr indent="0" marL="0">
              <a:lnSpc>
                <a:spcPts val="1500"/>
              </a:lnSpc>
              <a:buNone/>
            </a:pPr>
            <a:r>
              <a:rPr lang="en-US" sz="1250" dirty="0">
                <a:solidFill>
                  <a:srgbClr val="5A6055"/>
                </a:solidFill>
                <a:latin typeface="Calibri" pitchFamily="34" charset="0"/>
                <a:ea typeface="Calibri" pitchFamily="34" charset="-122"/>
                <a:cs typeface="Calibri" pitchFamily="34" charset="-120"/>
              </a:rPr>
              <a:t>The endpoint's doc says id 0 is rejected — but is silent on a valid id with no data. Its Flow section cites the exact source lines.</a:t>
            </a:r>
            <a:endParaRPr lang="en-US" sz="1250" dirty="0"/>
          </a:p>
        </p:txBody>
      </p:sp>
      <p:sp>
        <p:nvSpPr>
          <p:cNvPr id="8" name="Shape 6"/>
          <p:cNvSpPr/>
          <p:nvPr/>
        </p:nvSpPr>
        <p:spPr>
          <a:xfrm>
            <a:off x="548640" y="2926080"/>
            <a:ext cx="457200" cy="457200"/>
          </a:xfrm>
          <a:prstGeom prst="ellipse">
            <a:avLst/>
          </a:prstGeom>
          <a:solidFill>
            <a:srgbClr val="5B57A6"/>
          </a:solidFill>
          <a:ln/>
        </p:spPr>
      </p:sp>
      <p:sp>
        <p:nvSpPr>
          <p:cNvPr id="9" name="Text 7"/>
          <p:cNvSpPr/>
          <p:nvPr/>
        </p:nvSpPr>
        <p:spPr>
          <a:xfrm>
            <a:off x="548640" y="292608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143000" y="2907792"/>
            <a:ext cx="4389120" cy="320040"/>
          </a:xfrm>
          <a:prstGeom prst="rect">
            <a:avLst/>
          </a:prstGeom>
          <a:noFill/>
          <a:ln/>
        </p:spPr>
        <p:txBody>
          <a:bodyPr wrap="square" rtlCol="0" anchor="ctr"/>
          <a:lstStyle/>
          <a:p>
            <a:pPr indent="0" marL="0">
              <a:buNone/>
            </a:pPr>
            <a:r>
              <a:rPr lang="en-US" sz="1500" b="1" dirty="0">
                <a:solidFill>
                  <a:srgbClr val="1A1F1C"/>
                </a:solidFill>
                <a:latin typeface="Cambria" pitchFamily="34" charset="0"/>
                <a:ea typeface="Cambria" pitchFamily="34" charset="-122"/>
                <a:cs typeface="Cambria" pitchFamily="34" charset="-120"/>
              </a:rPr>
              <a:t>Route</a:t>
            </a:r>
            <a:endParaRPr lang="en-US" sz="1500" dirty="0"/>
          </a:p>
        </p:txBody>
      </p:sp>
      <p:sp>
        <p:nvSpPr>
          <p:cNvPr id="11" name="Text 9"/>
          <p:cNvSpPr/>
          <p:nvPr/>
        </p:nvSpPr>
        <p:spPr>
          <a:xfrm>
            <a:off x="1143000" y="3218688"/>
            <a:ext cx="4572000" cy="640080"/>
          </a:xfrm>
          <a:prstGeom prst="rect">
            <a:avLst/>
          </a:prstGeom>
          <a:noFill/>
          <a:ln/>
        </p:spPr>
        <p:txBody>
          <a:bodyPr wrap="square" rtlCol="0" anchor="ctr"/>
          <a:lstStyle/>
          <a:p>
            <a:pPr indent="0" marL="0">
              <a:lnSpc>
                <a:spcPts val="1500"/>
              </a:lnSpc>
              <a:buNone/>
            </a:pPr>
            <a:r>
              <a:rPr lang="en-US" sz="1250" dirty="0">
                <a:solidFill>
                  <a:srgbClr val="5A6055"/>
                </a:solidFill>
                <a:latin typeface="Calibri" pitchFamily="34" charset="0"/>
                <a:ea typeface="Calibri" pitchFamily="34" charset="-122"/>
                <a:cs typeface="Calibri" pitchFamily="34" charset="-120"/>
              </a:rPr>
              <a:t>The id starts ep::reports:: → open the reports code index. No intent guessing.</a:t>
            </a:r>
            <a:endParaRPr lang="en-US" sz="1250" dirty="0"/>
          </a:p>
        </p:txBody>
      </p:sp>
      <p:sp>
        <p:nvSpPr>
          <p:cNvPr id="12" name="Shape 10"/>
          <p:cNvSpPr/>
          <p:nvPr/>
        </p:nvSpPr>
        <p:spPr>
          <a:xfrm>
            <a:off x="548640" y="3886200"/>
            <a:ext cx="457200" cy="457200"/>
          </a:xfrm>
          <a:prstGeom prst="ellipse">
            <a:avLst/>
          </a:prstGeom>
          <a:solidFill>
            <a:srgbClr val="0F8A80"/>
          </a:solidFill>
          <a:ln/>
        </p:spPr>
      </p:sp>
      <p:sp>
        <p:nvSpPr>
          <p:cNvPr id="13" name="Text 11"/>
          <p:cNvSpPr/>
          <p:nvPr/>
        </p:nvSpPr>
        <p:spPr>
          <a:xfrm>
            <a:off x="548640" y="38862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143000" y="3867912"/>
            <a:ext cx="4389120" cy="320040"/>
          </a:xfrm>
          <a:prstGeom prst="rect">
            <a:avLst/>
          </a:prstGeom>
          <a:noFill/>
          <a:ln/>
        </p:spPr>
        <p:txBody>
          <a:bodyPr wrap="square" rtlCol="0" anchor="ctr"/>
          <a:lstStyle/>
          <a:p>
            <a:pPr indent="0" marL="0">
              <a:buNone/>
            </a:pPr>
            <a:r>
              <a:rPr lang="en-US" sz="1500" b="1" dirty="0">
                <a:solidFill>
                  <a:srgbClr val="1A1F1C"/>
                </a:solidFill>
                <a:latin typeface="Cambria" pitchFamily="34" charset="0"/>
                <a:ea typeface="Cambria" pitchFamily="34" charset="-122"/>
                <a:cs typeface="Cambria" pitchFamily="34" charset="-120"/>
              </a:rPr>
              <a:t>Code hit</a:t>
            </a:r>
            <a:endParaRPr lang="en-US" sz="1500" dirty="0"/>
          </a:p>
        </p:txBody>
      </p:sp>
      <p:sp>
        <p:nvSpPr>
          <p:cNvPr id="15" name="Text 13"/>
          <p:cNvSpPr/>
          <p:nvPr/>
        </p:nvSpPr>
        <p:spPr>
          <a:xfrm>
            <a:off x="1143000" y="4178808"/>
            <a:ext cx="4572000" cy="640080"/>
          </a:xfrm>
          <a:prstGeom prst="rect">
            <a:avLst/>
          </a:prstGeom>
          <a:noFill/>
          <a:ln/>
        </p:spPr>
        <p:txBody>
          <a:bodyPr wrap="square" rtlCol="0" anchor="ctr"/>
          <a:lstStyle/>
          <a:p>
            <a:pPr indent="0" marL="0">
              <a:lnSpc>
                <a:spcPts val="1500"/>
              </a:lnSpc>
              <a:buNone/>
            </a:pPr>
            <a:r>
              <a:rPr lang="en-US" sz="1250" dirty="0">
                <a:solidFill>
                  <a:srgbClr val="5A6055"/>
                </a:solidFill>
                <a:latin typeface="Calibri" pitchFamily="34" charset="0"/>
                <a:ea typeface="Calibri" pitchFamily="34" charset="-122"/>
                <a:cs typeface="Calibri" pitchFamily="34" charset="-120"/>
              </a:rPr>
              <a:t>The top chunk is the controller method itself, pulled from the code store.</a:t>
            </a:r>
            <a:endParaRPr lang="en-US" sz="1250" dirty="0"/>
          </a:p>
        </p:txBody>
      </p:sp>
      <p:sp>
        <p:nvSpPr>
          <p:cNvPr id="16" name="Shape 14"/>
          <p:cNvSpPr/>
          <p:nvPr/>
        </p:nvSpPr>
        <p:spPr>
          <a:xfrm>
            <a:off x="6035040" y="1920240"/>
            <a:ext cx="5577840" cy="1783080"/>
          </a:xfrm>
          <a:prstGeom prst="roundRect">
            <a:avLst>
              <a:gd name="adj" fmla="val 3077"/>
            </a:avLst>
          </a:prstGeom>
          <a:solidFill>
            <a:srgbClr val="16201B"/>
          </a:solidFill>
          <a:ln/>
        </p:spPr>
      </p:sp>
      <p:sp>
        <p:nvSpPr>
          <p:cNvPr id="17" name="Text 15"/>
          <p:cNvSpPr/>
          <p:nvPr/>
        </p:nvSpPr>
        <p:spPr>
          <a:xfrm>
            <a:off x="6263640" y="2057400"/>
            <a:ext cx="5212080" cy="1554480"/>
          </a:xfrm>
          <a:prstGeom prst="rect">
            <a:avLst/>
          </a:prstGeom>
          <a:noFill/>
          <a:ln/>
        </p:spPr>
        <p:txBody>
          <a:bodyPr wrap="square" rtlCol="0" anchor="t"/>
          <a:lstStyle/>
          <a:p>
            <a:pPr indent="0" marL="0">
              <a:lnSpc>
                <a:spcPts val="1500"/>
              </a:lnSpc>
              <a:buNone/>
            </a:pPr>
            <a:r>
              <a:rPr lang="en-US" sz="1150" dirty="0">
                <a:solidFill>
                  <a:srgbClr val="AEB4A5"/>
                </a:solidFill>
                <a:latin typeface="Consolas" pitchFamily="34" charset="0"/>
                <a:ea typeface="Consolas" pitchFamily="34" charset="-122"/>
                <a:cs typeface="Consolas" pitchFamily="34" charset="-120"/>
              </a:rPr>
              <a:t>// FacultyLedPerformanceController.cs  (24–31)
</a:t>
            </a:r>
            <a:pPr indent="0" marL="0">
              <a:lnSpc>
                <a:spcPts val="1500"/>
              </a:lnSpc>
              <a:buNone/>
            </a:pPr>
            <a:r>
              <a:rPr lang="en-US" sz="1150" dirty="0">
                <a:solidFill>
                  <a:srgbClr val="EDEEE7"/>
                </a:solidFill>
                <a:latin typeface="Consolas" pitchFamily="34" charset="0"/>
                <a:ea typeface="Consolas" pitchFamily="34" charset="-122"/>
                <a:cs typeface="Consolas" pitchFamily="34" charset="-120"/>
              </a:rPr>
              <a:t>public object GetFacultyLedGroupPerformance(req)
</a:t>
            </a:r>
            <a:pPr indent="0" marL="0">
              <a:lnSpc>
                <a:spcPts val="1500"/>
              </a:lnSpc>
              <a:buNone/>
            </a:pPr>
            <a:r>
              <a:rPr lang="en-US" sz="1150" dirty="0">
                <a:solidFill>
                  <a:srgbClr val="EDEEE7"/>
                </a:solidFill>
                <a:latin typeface="Consolas" pitchFamily="34" charset="0"/>
                <a:ea typeface="Consolas" pitchFamily="34" charset="-122"/>
                <a:cs typeface="Consolas" pitchFamily="34" charset="-120"/>
              </a:rPr>
              <a:t>{
</a:t>
            </a:r>
            <a:pPr indent="0" marL="0">
              <a:lnSpc>
                <a:spcPts val="1500"/>
              </a:lnSpc>
              <a:buNone/>
            </a:pPr>
            <a:r>
              <a:rPr lang="en-US" sz="1150" dirty="0">
                <a:solidFill>
                  <a:srgbClr val="9E9BE0"/>
                </a:solidFill>
                <a:latin typeface="Consolas" pitchFamily="34" charset="0"/>
                <a:ea typeface="Consolas" pitchFamily="34" charset="-122"/>
                <a:cs typeface="Consolas" pitchFamily="34" charset="-120"/>
              </a:rPr>
              <a:t>    if </a:t>
            </a:r>
            <a:pPr indent="0" marL="0">
              <a:lnSpc>
                <a:spcPts val="1500"/>
              </a:lnSpc>
              <a:buNone/>
            </a:pPr>
            <a:r>
              <a:rPr lang="en-US" sz="1150" dirty="0">
                <a:solidFill>
                  <a:srgbClr val="EDEEE7"/>
                </a:solidFill>
                <a:latin typeface="Consolas" pitchFamily="34" charset="0"/>
                <a:ea typeface="Consolas" pitchFamily="34" charset="-122"/>
                <a:cs typeface="Consolas" pitchFamily="34" charset="-120"/>
              </a:rPr>
              <a:t>(req.GroupId &lt; 1)
</a:t>
            </a:r>
            <a:pPr indent="0" marL="0">
              <a:lnSpc>
                <a:spcPts val="1500"/>
              </a:lnSpc>
              <a:buNone/>
            </a:pPr>
            <a:r>
              <a:rPr lang="en-US" sz="1150" dirty="0">
                <a:solidFill>
                  <a:srgbClr val="9E9BE0"/>
                </a:solidFill>
                <a:latin typeface="Consolas" pitchFamily="34" charset="0"/>
                <a:ea typeface="Consolas" pitchFamily="34" charset="-122"/>
                <a:cs typeface="Consolas" pitchFamily="34" charset="-120"/>
              </a:rPr>
              <a:t>        throw new </a:t>
            </a:r>
            <a:pPr indent="0" marL="0">
              <a:lnSpc>
                <a:spcPts val="1500"/>
              </a:lnSpc>
              <a:buNone/>
            </a:pPr>
            <a:r>
              <a:rPr lang="en-US" sz="1150" dirty="0">
                <a:solidFill>
                  <a:srgbClr val="EDEEE7"/>
                </a:solidFill>
                <a:latin typeface="Consolas" pitchFamily="34" charset="0"/>
                <a:ea typeface="Consolas" pitchFamily="34" charset="-122"/>
                <a:cs typeface="Consolas" pitchFamily="34" charset="-120"/>
              </a:rPr>
              <a:t>CustomException(...);
</a:t>
            </a:r>
            <a:pPr indent="0" marL="0">
              <a:lnSpc>
                <a:spcPts val="1500"/>
              </a:lnSpc>
              <a:buNone/>
            </a:pPr>
            <a:r>
              <a:rPr lang="en-US" sz="1150" dirty="0">
                <a:solidFill>
                  <a:srgbClr val="EDEEE7"/>
                </a:solidFill>
                <a:latin typeface="Consolas" pitchFamily="34" charset="0"/>
                <a:ea typeface="Consolas" pitchFamily="34" charset="-122"/>
                <a:cs typeface="Consolas" pitchFamily="34" charset="-120"/>
              </a:rPr>
              <a:t>    return _service.Get...(req);
</a:t>
            </a:r>
            <a:pPr indent="0" marL="0">
              <a:lnSpc>
                <a:spcPts val="1500"/>
              </a:lnSpc>
              <a:buNone/>
            </a:pPr>
            <a:r>
              <a:rPr lang="en-US" sz="1150" dirty="0">
                <a:solidFill>
                  <a:srgbClr val="EDEEE7"/>
                </a:solidFill>
                <a:latin typeface="Consolas" pitchFamily="34" charset="0"/>
                <a:ea typeface="Consolas" pitchFamily="34" charset="-122"/>
                <a:cs typeface="Consolas" pitchFamily="34" charset="-120"/>
              </a:rPr>
              <a:t>}</a:t>
            </a:r>
            <a:endParaRPr lang="en-US" sz="1150" dirty="0"/>
          </a:p>
        </p:txBody>
      </p:sp>
      <p:sp>
        <p:nvSpPr>
          <p:cNvPr id="18" name="Shape 16"/>
          <p:cNvSpPr/>
          <p:nvPr/>
        </p:nvSpPr>
        <p:spPr>
          <a:xfrm>
            <a:off x="6035040" y="3886200"/>
            <a:ext cx="5577840" cy="2148840"/>
          </a:xfrm>
          <a:prstGeom prst="roundRect">
            <a:avLst>
              <a:gd name="adj" fmla="val 2553"/>
            </a:avLst>
          </a:prstGeom>
          <a:solidFill>
            <a:srgbClr val="E4F2EA"/>
          </a:solidFill>
          <a:ln w="12700">
            <a:solidFill>
              <a:srgbClr val="BFE0CE"/>
            </a:solidFill>
            <a:prstDash val="solid"/>
          </a:ln>
        </p:spPr>
      </p:sp>
      <p:sp>
        <p:nvSpPr>
          <p:cNvPr id="19" name="Text 17"/>
          <p:cNvSpPr/>
          <p:nvPr/>
        </p:nvSpPr>
        <p:spPr>
          <a:xfrm>
            <a:off x="6263640" y="4023360"/>
            <a:ext cx="4572000" cy="274320"/>
          </a:xfrm>
          <a:prstGeom prst="rect">
            <a:avLst/>
          </a:prstGeom>
          <a:noFill/>
          <a:ln/>
        </p:spPr>
        <p:txBody>
          <a:bodyPr wrap="square" rtlCol="0" anchor="ctr"/>
          <a:lstStyle/>
          <a:p>
            <a:pPr indent="0" marL="0">
              <a:buNone/>
            </a:pPr>
            <a:r>
              <a:rPr lang="en-US" sz="1000" b="1" spc="100" kern="0" dirty="0">
                <a:solidFill>
                  <a:srgbClr val="2F7D5C"/>
                </a:solidFill>
                <a:latin typeface="Consolas" pitchFamily="34" charset="0"/>
                <a:ea typeface="Consolas" pitchFamily="34" charset="-122"/>
                <a:cs typeface="Consolas" pitchFamily="34" charset="-120"/>
              </a:rPr>
              <a:t>THE ANSWER</a:t>
            </a:r>
            <a:endParaRPr lang="en-US" sz="1000" dirty="0"/>
          </a:p>
        </p:txBody>
      </p:sp>
      <p:sp>
        <p:nvSpPr>
          <p:cNvPr id="20" name="Text 18"/>
          <p:cNvSpPr/>
          <p:nvPr/>
        </p:nvSpPr>
        <p:spPr>
          <a:xfrm>
            <a:off x="6263640" y="4343400"/>
            <a:ext cx="5166360" cy="1600200"/>
          </a:xfrm>
          <a:prstGeom prst="rect">
            <a:avLst/>
          </a:prstGeom>
          <a:noFill/>
          <a:ln/>
        </p:spPr>
        <p:txBody>
          <a:bodyPr wrap="square" rtlCol="0" anchor="ctr"/>
          <a:lstStyle/>
          <a:p>
            <a:pPr indent="0" marL="0">
              <a:lnSpc>
                <a:spcPts val="1700"/>
              </a:lnSpc>
              <a:buNone/>
            </a:pPr>
            <a:r>
              <a:rPr lang="en-US" sz="1300" dirty="0">
                <a:solidFill>
                  <a:srgbClr val="1F3D2E"/>
                </a:solidFill>
                <a:latin typeface="Calibri" pitchFamily="34" charset="0"/>
                <a:ea typeface="Calibri" pitchFamily="34" charset="-122"/>
                <a:cs typeface="Calibri" pitchFamily="34" charset="-120"/>
              </a:rPr>
              <a:t>The controller only rejects an id below 1. A valid id with no matching document isn't an error — it flows to the repository, which filters MongoDB and returns empty. There's no “does this group exist?” check, so “valid id, no data” and “real empty report” look identical. That's the null — and docs alone wouldn't show it, code alone wouldn't explain it.</a:t>
            </a:r>
            <a:endParaRPr lang="en-US" sz="1300" dirty="0"/>
          </a:p>
        </p:txBody>
      </p:sp>
      <p:sp>
        <p:nvSpPr>
          <p:cNvPr id="21" name="Text 19"/>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22" name="Text 20"/>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indent="0" marL="0">
              <a:buNone/>
            </a:pPr>
            <a:r>
              <a:rPr lang="en-US" sz="1100" b="1" spc="200" kern="0" dirty="0">
                <a:solidFill>
                  <a:srgbClr val="B4892B"/>
                </a:solidFill>
                <a:latin typeface="Consolas" pitchFamily="34" charset="0"/>
                <a:ea typeface="Consolas" pitchFamily="34" charset="-122"/>
                <a:cs typeface="Consolas" pitchFamily="34" charset="-120"/>
              </a:rPr>
              <a:t>CASE STUDY · A DEEPER QUESTION</a:t>
            </a:r>
            <a:endParaRPr lang="en-US" sz="1100" dirty="0"/>
          </a:p>
        </p:txBody>
      </p:sp>
      <p:sp>
        <p:nvSpPr>
          <p:cNvPr id="3" name="Text 1"/>
          <p:cNvSpPr/>
          <p:nvPr/>
        </p:nvSpPr>
        <p:spPr>
          <a:xfrm>
            <a:off x="502920" y="777240"/>
            <a:ext cx="11155680" cy="731520"/>
          </a:xfrm>
          <a:prstGeom prst="rect">
            <a:avLst/>
          </a:prstGeom>
          <a:noFill/>
          <a:ln/>
        </p:spPr>
        <p:txBody>
          <a:bodyPr wrap="square" rtlCol="0" anchor="ctr"/>
          <a:lstStyle/>
          <a:p>
            <a:pPr indent="0" marL="0">
              <a:buNone/>
            </a:pPr>
            <a:r>
              <a:rPr lang="en-US" sz="2900" b="1" dirty="0">
                <a:solidFill>
                  <a:srgbClr val="1A1F1C"/>
                </a:solidFill>
                <a:latin typeface="Cambria" pitchFamily="34" charset="0"/>
                <a:ea typeface="Cambria" pitchFamily="34" charset="-122"/>
                <a:cs typeface="Cambria" pitchFamily="34" charset="-120"/>
              </a:rPr>
              <a:t>Now trace it through the layers</a:t>
            </a:r>
            <a:endParaRPr lang="en-US" sz="2900" dirty="0"/>
          </a:p>
        </p:txBody>
      </p:sp>
      <p:sp>
        <p:nvSpPr>
          <p:cNvPr id="4" name="Text 2"/>
          <p:cNvSpPr/>
          <p:nvPr/>
        </p:nvSpPr>
        <p:spPr>
          <a:xfrm>
            <a:off x="548640" y="1554480"/>
            <a:ext cx="11064240" cy="822960"/>
          </a:xfrm>
          <a:prstGeom prst="rect">
            <a:avLst/>
          </a:prstGeom>
          <a:noFill/>
          <a:ln/>
        </p:spPr>
        <p:txBody>
          <a:bodyPr wrap="square" rtlCol="0" anchor="ctr"/>
          <a:lstStyle/>
          <a:p>
            <a:pPr indent="0" marL="0">
              <a:lnSpc>
                <a:spcPts val="1900"/>
              </a:lnSpc>
              <a:buNone/>
            </a:pPr>
            <a:r>
              <a:rPr lang="en-US" sz="1400" dirty="0">
                <a:solidFill>
                  <a:srgbClr val="5A6055"/>
                </a:solidFill>
                <a:latin typeface="Calibri" pitchFamily="34" charset="0"/>
                <a:ea typeface="Calibri" pitchFamily="34" charset="-122"/>
                <a:cs typeface="Calibri" pitchFamily="34" charset="-120"/>
              </a:rPr>
              <a:t>“How does a Total Prep group-performance request flow from the controller to the MongoDB collection?” — one deep_query returns the endpoint doc, its data-store doc, and the code at each tier. The doc's Flow is the scaffold; the code grounds each step.</a:t>
            </a:r>
            <a:endParaRPr lang="en-US" sz="1400" dirty="0"/>
          </a:p>
        </p:txBody>
      </p:sp>
      <p:sp>
        <p:nvSpPr>
          <p:cNvPr id="5" name="Shape 3"/>
          <p:cNvSpPr/>
          <p:nvPr/>
        </p:nvSpPr>
        <p:spPr>
          <a:xfrm>
            <a:off x="548640" y="2651760"/>
            <a:ext cx="11064240" cy="676656"/>
          </a:xfrm>
          <a:prstGeom prst="roundRect">
            <a:avLst>
              <a:gd name="adj" fmla="val 8108"/>
            </a:avLst>
          </a:prstGeom>
          <a:solidFill>
            <a:srgbClr val="F1F3EE"/>
          </a:solidFill>
          <a:ln w="12700">
            <a:solidFill>
              <a:srgbClr val="E2E5DD"/>
            </a:solidFill>
            <a:prstDash val="solid"/>
          </a:ln>
        </p:spPr>
      </p:sp>
      <p:sp>
        <p:nvSpPr>
          <p:cNvPr id="6" name="Text 4"/>
          <p:cNvSpPr/>
          <p:nvPr/>
        </p:nvSpPr>
        <p:spPr>
          <a:xfrm>
            <a:off x="777240" y="2651760"/>
            <a:ext cx="1783080" cy="676656"/>
          </a:xfrm>
          <a:prstGeom prst="rect">
            <a:avLst/>
          </a:prstGeom>
          <a:noFill/>
          <a:ln/>
        </p:spPr>
        <p:txBody>
          <a:bodyPr wrap="square" rtlCol="0" anchor="ctr"/>
          <a:lstStyle/>
          <a:p>
            <a:pPr indent="0" marL="0">
              <a:buNone/>
            </a:pPr>
            <a:r>
              <a:rPr lang="en-US" sz="1500" b="1" dirty="0">
                <a:solidFill>
                  <a:srgbClr val="5B57A6"/>
                </a:solidFill>
                <a:latin typeface="Cambria" pitchFamily="34" charset="0"/>
                <a:ea typeface="Cambria" pitchFamily="34" charset="-122"/>
                <a:cs typeface="Cambria" pitchFamily="34" charset="-120"/>
              </a:rPr>
              <a:t>Controller</a:t>
            </a:r>
            <a:endParaRPr lang="en-US" sz="1500" dirty="0"/>
          </a:p>
        </p:txBody>
      </p:sp>
      <p:sp>
        <p:nvSpPr>
          <p:cNvPr id="7" name="Text 5"/>
          <p:cNvSpPr/>
          <p:nvPr/>
        </p:nvSpPr>
        <p:spPr>
          <a:xfrm>
            <a:off x="2606040" y="2651760"/>
            <a:ext cx="5623560" cy="676656"/>
          </a:xfrm>
          <a:prstGeom prst="rect">
            <a:avLst/>
          </a:prstGeom>
          <a:noFill/>
          <a:ln/>
        </p:spPr>
        <p:txBody>
          <a:bodyPr wrap="square" rtlCol="0" anchor="ctr"/>
          <a:lstStyle/>
          <a:p>
            <a:pPr indent="0" marL="0">
              <a:buNone/>
            </a:pPr>
            <a:r>
              <a:rPr lang="en-US" sz="1050" dirty="0">
                <a:solidFill>
                  <a:srgbClr val="1A1F1C"/>
                </a:solidFill>
                <a:latin typeface="Consolas" pitchFamily="34" charset="0"/>
                <a:ea typeface="Consolas" pitchFamily="34" charset="-122"/>
                <a:cs typeface="Consolas" pitchFamily="34" charset="-120"/>
              </a:rPr>
              <a:t>GetTotalPrepGroupPerformance · LecturePerformanceController.cs:30–37</a:t>
            </a:r>
            <a:endParaRPr lang="en-US" sz="1050" dirty="0"/>
          </a:p>
        </p:txBody>
      </p:sp>
      <p:sp>
        <p:nvSpPr>
          <p:cNvPr id="8" name="Text 6"/>
          <p:cNvSpPr/>
          <p:nvPr/>
        </p:nvSpPr>
        <p:spPr>
          <a:xfrm>
            <a:off x="8366760" y="2651760"/>
            <a:ext cx="3108960" cy="676656"/>
          </a:xfrm>
          <a:prstGeom prst="rect">
            <a:avLst/>
          </a:prstGeom>
          <a:noFill/>
          <a:ln/>
        </p:spPr>
        <p:txBody>
          <a:bodyPr wrap="square" rtlCol="0" anchor="ctr"/>
          <a:lstStyle/>
          <a:p>
            <a:pPr indent="0" marL="0">
              <a:buNone/>
            </a:pPr>
            <a:r>
              <a:rPr lang="en-US" sz="1100" dirty="0">
                <a:solidFill>
                  <a:srgbClr val="5A6055"/>
                </a:solidFill>
                <a:latin typeface="Calibri" pitchFamily="34" charset="0"/>
                <a:ea typeface="Calibri" pitchFamily="34" charset="-122"/>
                <a:cs typeface="Calibri" pitchFamily="34" charset="-120"/>
              </a:rPr>
              <a:t>rejects  FpGroupId == 0</a:t>
            </a:r>
            <a:endParaRPr lang="en-US" sz="1100" dirty="0"/>
          </a:p>
        </p:txBody>
      </p:sp>
      <p:sp>
        <p:nvSpPr>
          <p:cNvPr id="9" name="Shape 7"/>
          <p:cNvSpPr/>
          <p:nvPr/>
        </p:nvSpPr>
        <p:spPr>
          <a:xfrm>
            <a:off x="548640" y="3438144"/>
            <a:ext cx="11064240" cy="676656"/>
          </a:xfrm>
          <a:prstGeom prst="roundRect">
            <a:avLst>
              <a:gd name="adj" fmla="val 8108"/>
            </a:avLst>
          </a:prstGeom>
          <a:solidFill>
            <a:srgbClr val="F1F3EE"/>
          </a:solidFill>
          <a:ln w="12700">
            <a:solidFill>
              <a:srgbClr val="E2E5DD"/>
            </a:solidFill>
            <a:prstDash val="solid"/>
          </a:ln>
        </p:spPr>
      </p:sp>
      <p:sp>
        <p:nvSpPr>
          <p:cNvPr id="10" name="Text 8"/>
          <p:cNvSpPr/>
          <p:nvPr/>
        </p:nvSpPr>
        <p:spPr>
          <a:xfrm>
            <a:off x="777240" y="3438144"/>
            <a:ext cx="1783080" cy="676656"/>
          </a:xfrm>
          <a:prstGeom prst="rect">
            <a:avLst/>
          </a:prstGeom>
          <a:noFill/>
          <a:ln/>
        </p:spPr>
        <p:txBody>
          <a:bodyPr wrap="square" rtlCol="0" anchor="ctr"/>
          <a:lstStyle/>
          <a:p>
            <a:pPr indent="0" marL="0">
              <a:buNone/>
            </a:pPr>
            <a:r>
              <a:rPr lang="en-US" sz="1500" b="1" dirty="0">
                <a:solidFill>
                  <a:srgbClr val="5B57A6"/>
                </a:solidFill>
                <a:latin typeface="Cambria" pitchFamily="34" charset="0"/>
                <a:ea typeface="Cambria" pitchFamily="34" charset="-122"/>
                <a:cs typeface="Cambria" pitchFamily="34" charset="-120"/>
              </a:rPr>
              <a:t>Service</a:t>
            </a:r>
            <a:endParaRPr lang="en-US" sz="1500" dirty="0"/>
          </a:p>
        </p:txBody>
      </p:sp>
      <p:sp>
        <p:nvSpPr>
          <p:cNvPr id="11" name="Text 9"/>
          <p:cNvSpPr/>
          <p:nvPr/>
        </p:nvSpPr>
        <p:spPr>
          <a:xfrm>
            <a:off x="2606040" y="3438144"/>
            <a:ext cx="5623560" cy="676656"/>
          </a:xfrm>
          <a:prstGeom prst="rect">
            <a:avLst/>
          </a:prstGeom>
          <a:noFill/>
          <a:ln/>
        </p:spPr>
        <p:txBody>
          <a:bodyPr wrap="square" rtlCol="0" anchor="ctr"/>
          <a:lstStyle/>
          <a:p>
            <a:pPr indent="0" marL="0">
              <a:buNone/>
            </a:pPr>
            <a:r>
              <a:rPr lang="en-US" sz="1050" dirty="0">
                <a:solidFill>
                  <a:srgbClr val="1A1F1C"/>
                </a:solidFill>
                <a:latin typeface="Consolas" pitchFamily="34" charset="0"/>
                <a:ea typeface="Consolas" pitchFamily="34" charset="-122"/>
                <a:cs typeface="Consolas" pitchFamily="34" charset="-120"/>
              </a:rPr>
              <a:t>GetTotalPrepGroupPerformance · LecturePerformanceService.cs:23–26</a:t>
            </a:r>
            <a:endParaRPr lang="en-US" sz="1050" dirty="0"/>
          </a:p>
        </p:txBody>
      </p:sp>
      <p:sp>
        <p:nvSpPr>
          <p:cNvPr id="12" name="Text 10"/>
          <p:cNvSpPr/>
          <p:nvPr/>
        </p:nvSpPr>
        <p:spPr>
          <a:xfrm>
            <a:off x="8366760" y="3438144"/>
            <a:ext cx="3108960" cy="676656"/>
          </a:xfrm>
          <a:prstGeom prst="rect">
            <a:avLst/>
          </a:prstGeom>
          <a:noFill/>
          <a:ln/>
        </p:spPr>
        <p:txBody>
          <a:bodyPr wrap="square" rtlCol="0" anchor="ctr"/>
          <a:lstStyle/>
          <a:p>
            <a:pPr indent="0" marL="0">
              <a:buNone/>
            </a:pPr>
            <a:r>
              <a:rPr lang="en-US" sz="1100" dirty="0">
                <a:solidFill>
                  <a:srgbClr val="5A6055"/>
                </a:solidFill>
                <a:latin typeface="Calibri" pitchFamily="34" charset="0"/>
                <a:ea typeface="Calibri" pitchFamily="34" charset="-122"/>
                <a:cs typeface="Calibri" pitchFamily="34" charset="-120"/>
              </a:rPr>
              <a:t>pass-through</a:t>
            </a:r>
            <a:endParaRPr lang="en-US" sz="1100" dirty="0"/>
          </a:p>
        </p:txBody>
      </p:sp>
      <p:sp>
        <p:nvSpPr>
          <p:cNvPr id="13" name="Shape 11"/>
          <p:cNvSpPr/>
          <p:nvPr/>
        </p:nvSpPr>
        <p:spPr>
          <a:xfrm>
            <a:off x="548640" y="4224528"/>
            <a:ext cx="11064240" cy="676656"/>
          </a:xfrm>
          <a:prstGeom prst="roundRect">
            <a:avLst>
              <a:gd name="adj" fmla="val 8108"/>
            </a:avLst>
          </a:prstGeom>
          <a:solidFill>
            <a:srgbClr val="F1F3EE"/>
          </a:solidFill>
          <a:ln w="12700">
            <a:solidFill>
              <a:srgbClr val="E2E5DD"/>
            </a:solidFill>
            <a:prstDash val="solid"/>
          </a:ln>
        </p:spPr>
      </p:sp>
      <p:sp>
        <p:nvSpPr>
          <p:cNvPr id="14" name="Text 12"/>
          <p:cNvSpPr/>
          <p:nvPr/>
        </p:nvSpPr>
        <p:spPr>
          <a:xfrm>
            <a:off x="777240" y="4224528"/>
            <a:ext cx="1783080" cy="676656"/>
          </a:xfrm>
          <a:prstGeom prst="rect">
            <a:avLst/>
          </a:prstGeom>
          <a:noFill/>
          <a:ln/>
        </p:spPr>
        <p:txBody>
          <a:bodyPr wrap="square" rtlCol="0" anchor="ctr"/>
          <a:lstStyle/>
          <a:p>
            <a:pPr indent="0" marL="0">
              <a:buNone/>
            </a:pPr>
            <a:r>
              <a:rPr lang="en-US" sz="1500" b="1" dirty="0">
                <a:solidFill>
                  <a:srgbClr val="0F8A80"/>
                </a:solidFill>
                <a:latin typeface="Cambria" pitchFamily="34" charset="0"/>
                <a:ea typeface="Cambria" pitchFamily="34" charset="-122"/>
                <a:cs typeface="Cambria" pitchFamily="34" charset="-120"/>
              </a:rPr>
              <a:t>Repository</a:t>
            </a:r>
            <a:endParaRPr lang="en-US" sz="1500" dirty="0"/>
          </a:p>
        </p:txBody>
      </p:sp>
      <p:sp>
        <p:nvSpPr>
          <p:cNvPr id="15" name="Text 13"/>
          <p:cNvSpPr/>
          <p:nvPr/>
        </p:nvSpPr>
        <p:spPr>
          <a:xfrm>
            <a:off x="2606040" y="4224528"/>
            <a:ext cx="5623560" cy="676656"/>
          </a:xfrm>
          <a:prstGeom prst="rect">
            <a:avLst/>
          </a:prstGeom>
          <a:noFill/>
          <a:ln/>
        </p:spPr>
        <p:txBody>
          <a:bodyPr wrap="square" rtlCol="0" anchor="ctr"/>
          <a:lstStyle/>
          <a:p>
            <a:pPr indent="0" marL="0">
              <a:buNone/>
            </a:pPr>
            <a:r>
              <a:rPr lang="en-US" sz="1050" dirty="0">
                <a:solidFill>
                  <a:srgbClr val="1A1F1C"/>
                </a:solidFill>
                <a:latin typeface="Consolas" pitchFamily="34" charset="0"/>
                <a:ea typeface="Consolas" pitchFamily="34" charset="-122"/>
                <a:cs typeface="Consolas" pitchFamily="34" charset="-120"/>
              </a:rPr>
              <a:t>…ByFpGroupId · LecturePerformanceRepository.cs:30–38</a:t>
            </a:r>
            <a:endParaRPr lang="en-US" sz="1050" dirty="0"/>
          </a:p>
        </p:txBody>
      </p:sp>
      <p:sp>
        <p:nvSpPr>
          <p:cNvPr id="16" name="Text 14"/>
          <p:cNvSpPr/>
          <p:nvPr/>
        </p:nvSpPr>
        <p:spPr>
          <a:xfrm>
            <a:off x="8366760" y="4224528"/>
            <a:ext cx="3108960" cy="676656"/>
          </a:xfrm>
          <a:prstGeom prst="rect">
            <a:avLst/>
          </a:prstGeom>
          <a:noFill/>
          <a:ln/>
        </p:spPr>
        <p:txBody>
          <a:bodyPr wrap="square" rtlCol="0" anchor="ctr"/>
          <a:lstStyle/>
          <a:p>
            <a:pPr indent="0" marL="0">
              <a:buNone/>
            </a:pPr>
            <a:r>
              <a:rPr lang="en-US" sz="1100" dirty="0">
                <a:solidFill>
                  <a:srgbClr val="5A6055"/>
                </a:solidFill>
                <a:latin typeface="Calibri" pitchFamily="34" charset="0"/>
                <a:ea typeface="Calibri" pitchFamily="34" charset="-122"/>
                <a:cs typeface="Calibri" pitchFamily="34" charset="-120"/>
              </a:rPr>
              <a:t>Eq filters: FpGroupId, CourseId (if &gt;0), LectureReportTypeId</a:t>
            </a:r>
            <a:endParaRPr lang="en-US" sz="1100" dirty="0"/>
          </a:p>
        </p:txBody>
      </p:sp>
      <p:sp>
        <p:nvSpPr>
          <p:cNvPr id="17" name="Shape 15"/>
          <p:cNvSpPr/>
          <p:nvPr/>
        </p:nvSpPr>
        <p:spPr>
          <a:xfrm>
            <a:off x="548640" y="5010912"/>
            <a:ext cx="11064240" cy="676656"/>
          </a:xfrm>
          <a:prstGeom prst="roundRect">
            <a:avLst>
              <a:gd name="adj" fmla="val 8108"/>
            </a:avLst>
          </a:prstGeom>
          <a:solidFill>
            <a:srgbClr val="F1F3EE"/>
          </a:solidFill>
          <a:ln w="12700">
            <a:solidFill>
              <a:srgbClr val="E2E5DD"/>
            </a:solidFill>
            <a:prstDash val="solid"/>
          </a:ln>
        </p:spPr>
      </p:sp>
      <p:sp>
        <p:nvSpPr>
          <p:cNvPr id="18" name="Text 16"/>
          <p:cNvSpPr/>
          <p:nvPr/>
        </p:nvSpPr>
        <p:spPr>
          <a:xfrm>
            <a:off x="777240" y="5010912"/>
            <a:ext cx="1783080" cy="676656"/>
          </a:xfrm>
          <a:prstGeom prst="rect">
            <a:avLst/>
          </a:prstGeom>
          <a:noFill/>
          <a:ln/>
        </p:spPr>
        <p:txBody>
          <a:bodyPr wrap="square" rtlCol="0" anchor="ctr"/>
          <a:lstStyle/>
          <a:p>
            <a:pPr indent="0" marL="0">
              <a:buNone/>
            </a:pPr>
            <a:r>
              <a:rPr lang="en-US" sz="1500" b="1" dirty="0">
                <a:solidFill>
                  <a:srgbClr val="B4892B"/>
                </a:solidFill>
                <a:latin typeface="Cambria" pitchFamily="34" charset="0"/>
                <a:ea typeface="Cambria" pitchFamily="34" charset="-122"/>
                <a:cs typeface="Cambria" pitchFamily="34" charset="-120"/>
              </a:rPr>
              <a:t>Data store</a:t>
            </a:r>
            <a:endParaRPr lang="en-US" sz="1500" dirty="0"/>
          </a:p>
        </p:txBody>
      </p:sp>
      <p:sp>
        <p:nvSpPr>
          <p:cNvPr id="19" name="Text 17"/>
          <p:cNvSpPr/>
          <p:nvPr/>
        </p:nvSpPr>
        <p:spPr>
          <a:xfrm>
            <a:off x="2606040" y="5010912"/>
            <a:ext cx="5623560" cy="676656"/>
          </a:xfrm>
          <a:prstGeom prst="rect">
            <a:avLst/>
          </a:prstGeom>
          <a:noFill/>
          <a:ln/>
        </p:spPr>
        <p:txBody>
          <a:bodyPr wrap="square" rtlCol="0" anchor="ctr"/>
          <a:lstStyle/>
          <a:p>
            <a:pPr indent="0" marL="0">
              <a:buNone/>
            </a:pPr>
            <a:r>
              <a:rPr lang="en-US" sz="1050" dirty="0">
                <a:solidFill>
                  <a:srgbClr val="1A1F1C"/>
                </a:solidFill>
                <a:latin typeface="Consolas" pitchFamily="34" charset="0"/>
                <a:ea typeface="Consolas" pitchFamily="34" charset="-122"/>
                <a:cs typeface="Consolas" pitchFamily="34" charset="-120"/>
              </a:rPr>
              <a:t>self-study-lecture-group-progress  [MongoDB]</a:t>
            </a:r>
            <a:endParaRPr lang="en-US" sz="1050" dirty="0"/>
          </a:p>
        </p:txBody>
      </p:sp>
      <p:sp>
        <p:nvSpPr>
          <p:cNvPr id="20" name="Text 18"/>
          <p:cNvSpPr/>
          <p:nvPr/>
        </p:nvSpPr>
        <p:spPr>
          <a:xfrm>
            <a:off x="8366760" y="5010912"/>
            <a:ext cx="3108960" cy="676656"/>
          </a:xfrm>
          <a:prstGeom prst="rect">
            <a:avLst/>
          </a:prstGeom>
          <a:noFill/>
          <a:ln/>
        </p:spPr>
        <p:txBody>
          <a:bodyPr wrap="square" rtlCol="0" anchor="ctr"/>
          <a:lstStyle/>
          <a:p>
            <a:pPr indent="0" marL="0">
              <a:buNone/>
            </a:pPr>
            <a:r>
              <a:rPr lang="en-US" sz="1100" dirty="0">
                <a:solidFill>
                  <a:srgbClr val="5A6055"/>
                </a:solidFill>
                <a:latin typeface="Calibri" pitchFamily="34" charset="0"/>
                <a:ea typeface="Calibri" pitchFamily="34" charset="-122"/>
                <a:cs typeface="Calibri" pitchFamily="34" charset="-120"/>
              </a:rPr>
              <a:t>the collection actually read</a:t>
            </a:r>
            <a:endParaRPr lang="en-US" sz="1100" dirty="0"/>
          </a:p>
        </p:txBody>
      </p:sp>
      <p:sp>
        <p:nvSpPr>
          <p:cNvPr id="21" name="Text 19"/>
          <p:cNvSpPr/>
          <p:nvPr/>
        </p:nvSpPr>
        <p:spPr>
          <a:xfrm>
            <a:off x="548640" y="5943600"/>
            <a:ext cx="11064240" cy="548640"/>
          </a:xfrm>
          <a:prstGeom prst="rect">
            <a:avLst/>
          </a:prstGeom>
          <a:noFill/>
          <a:ln/>
        </p:spPr>
        <p:txBody>
          <a:bodyPr wrap="square" rtlCol="0" anchor="ctr"/>
          <a:lstStyle/>
          <a:p>
            <a:pPr indent="0" marL="0">
              <a:lnSpc>
                <a:spcPts val="1600"/>
              </a:lnSpc>
              <a:buNone/>
            </a:pPr>
            <a:r>
              <a:rPr lang="en-US" sz="1250" dirty="0">
                <a:solidFill>
                  <a:srgbClr val="5A6055"/>
                </a:solidFill>
                <a:latin typeface="Calibri" pitchFamily="34" charset="0"/>
                <a:ea typeface="Calibri" pitchFamily="34" charset="-122"/>
                <a:cs typeface="Calibri" pitchFamily="34" charset="-120"/>
              </a:rPr>
              <a:t>All three stores at once — technical docs supply the endpoint + data-store doc (quota-guaranteed), code grounds the controller→service→repository chain. ~3,542 tokens (real payload) — one call assembles what's otherwise a six-source hunt across Confluence and three code projects.</a:t>
            </a:r>
            <a:endParaRPr lang="en-US" sz="1250" dirty="0"/>
          </a:p>
        </p:txBody>
      </p:sp>
      <p:sp>
        <p:nvSpPr>
          <p:cNvPr id="22" name="Text 20"/>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23" name="Text 21"/>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5B57A6"/>
                </a:solidFill>
                <a:latin typeface="Consolas" pitchFamily="34" charset="0"/>
                <a:ea typeface="Consolas" pitchFamily="34" charset="-122"/>
                <a:cs typeface="Consolas" pitchFamily="34" charset="-120"/>
              </a:rPr>
              <a:t>UNDER THE HOOD · ONE CHUNK PER STORE</a:t>
            </a:r>
            <a:endParaRPr lang="en-US" sz="1100" dirty="0"/>
          </a:p>
        </p:txBody>
      </p:sp>
      <p:sp>
        <p:nvSpPr>
          <p:cNvPr id="3" name="Text 1"/>
          <p:cNvSpPr/>
          <p:nvPr/>
        </p:nvSpPr>
        <p:spPr>
          <a:xfrm>
            <a:off x="502920" y="868680"/>
            <a:ext cx="11155680" cy="777240"/>
          </a:xfrm>
          <a:prstGeom prst="rect">
            <a:avLst/>
          </a:prstGeom>
          <a:noFill/>
          <a:ln/>
        </p:spPr>
        <p:txBody>
          <a:bodyPr wrap="square" rtlCol="0" anchor="ctr"/>
          <a:lstStyle/>
          <a:p>
            <a:pPr indent="0" marL="0">
              <a:buNone/>
            </a:pPr>
            <a:r>
              <a:rPr lang="en-US" sz="2900" b="1" dirty="0">
                <a:solidFill>
                  <a:srgbClr val="1A1F1C"/>
                </a:solidFill>
                <a:latin typeface="Cambria" pitchFamily="34" charset="0"/>
                <a:ea typeface="Cambria" pitchFamily="34" charset="-122"/>
                <a:cs typeface="Cambria" pitchFamily="34" charset="-120"/>
              </a:rPr>
              <a:t>What the deep-reasoning step actually pulls</a:t>
            </a:r>
            <a:endParaRPr lang="en-US" sz="2900" dirty="0"/>
          </a:p>
        </p:txBody>
      </p:sp>
      <p:sp>
        <p:nvSpPr>
          <p:cNvPr id="4" name="Text 2"/>
          <p:cNvSpPr/>
          <p:nvPr/>
        </p:nvSpPr>
        <p:spPr>
          <a:xfrm>
            <a:off x="548640" y="1691640"/>
            <a:ext cx="10972800" cy="457200"/>
          </a:xfrm>
          <a:prstGeom prst="rect">
            <a:avLst/>
          </a:prstGeom>
          <a:noFill/>
          <a:ln/>
        </p:spPr>
        <p:txBody>
          <a:bodyPr wrap="square" rtlCol="0" anchor="ctr"/>
          <a:lstStyle/>
          <a:p>
            <a:pPr indent="0" marL="0">
              <a:buNone/>
            </a:pPr>
            <a:r>
              <a:rPr lang="en-US" sz="1400" dirty="0">
                <a:solidFill>
                  <a:srgbClr val="5A6055"/>
                </a:solidFill>
                <a:latin typeface="Calibri" pitchFamily="34" charset="0"/>
                <a:ea typeface="Calibri" pitchFamily="34" charset="-122"/>
                <a:cs typeface="Calibri" pitchFamily="34" charset="-120"/>
              </a:rPr>
              <a:t>The Total Prep trace draws a real chunk from each store — shown here as ingested, with how it's retrieved.</a:t>
            </a:r>
            <a:endParaRPr lang="en-US" sz="1400" dirty="0"/>
          </a:p>
        </p:txBody>
      </p:sp>
      <p:sp>
        <p:nvSpPr>
          <p:cNvPr id="5" name="Shape 3"/>
          <p:cNvSpPr/>
          <p:nvPr/>
        </p:nvSpPr>
        <p:spPr>
          <a:xfrm>
            <a:off x="548640" y="2286000"/>
            <a:ext cx="3611880" cy="3840480"/>
          </a:xfrm>
          <a:prstGeom prst="roundRect">
            <a:avLst>
              <a:gd name="adj" fmla="val 2025"/>
            </a:avLst>
          </a:prstGeom>
          <a:solidFill>
            <a:srgbClr val="F1F3EE"/>
          </a:solidFill>
          <a:ln w="12700">
            <a:solidFill>
              <a:srgbClr val="E2E5DD"/>
            </a:solidFill>
            <a:prstDash val="solid"/>
          </a:ln>
        </p:spPr>
      </p:sp>
      <p:sp>
        <p:nvSpPr>
          <p:cNvPr id="6" name="Text 4"/>
          <p:cNvSpPr/>
          <p:nvPr/>
        </p:nvSpPr>
        <p:spPr>
          <a:xfrm>
            <a:off x="822960" y="2468880"/>
            <a:ext cx="3154680" cy="274320"/>
          </a:xfrm>
          <a:prstGeom prst="rect">
            <a:avLst/>
          </a:prstGeom>
          <a:noFill/>
          <a:ln/>
        </p:spPr>
        <p:txBody>
          <a:bodyPr wrap="square" rtlCol="0" anchor="ctr"/>
          <a:lstStyle/>
          <a:p>
            <a:pPr indent="0" marL="0">
              <a:buNone/>
            </a:pPr>
            <a:r>
              <a:rPr lang="en-US" sz="1000" b="1" spc="100" kern="0" dirty="0">
                <a:solidFill>
                  <a:srgbClr val="B4892B"/>
                </a:solidFill>
                <a:latin typeface="Consolas" pitchFamily="34" charset="0"/>
                <a:ea typeface="Consolas" pitchFamily="34" charset="-122"/>
                <a:cs typeface="Consolas" pitchFamily="34" charset="-120"/>
              </a:rPr>
              <a:t>docs_functional · WHY</a:t>
            </a:r>
            <a:endParaRPr lang="en-US" sz="1000" dirty="0"/>
          </a:p>
        </p:txBody>
      </p:sp>
      <p:sp>
        <p:nvSpPr>
          <p:cNvPr id="7" name="Text 5"/>
          <p:cNvSpPr/>
          <p:nvPr/>
        </p:nvSpPr>
        <p:spPr>
          <a:xfrm>
            <a:off x="822960" y="2743200"/>
            <a:ext cx="3154680" cy="32004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feature-hub</a:t>
            </a:r>
            <a:endParaRPr lang="en-US" sz="1700" dirty="0"/>
          </a:p>
        </p:txBody>
      </p:sp>
      <p:sp>
        <p:nvSpPr>
          <p:cNvPr id="8" name="Text 6"/>
          <p:cNvSpPr/>
          <p:nvPr/>
        </p:nvSpPr>
        <p:spPr>
          <a:xfrm>
            <a:off x="822960" y="3163824"/>
            <a:ext cx="3154680" cy="201168"/>
          </a:xfrm>
          <a:prstGeom prst="rect">
            <a:avLst/>
          </a:prstGeom>
          <a:noFill/>
          <a:ln/>
        </p:spPr>
        <p:txBody>
          <a:bodyPr wrap="square" rtlCol="0" anchor="ctr"/>
          <a:lstStyle/>
          <a:p>
            <a:pPr indent="0" marL="0">
              <a:buNone/>
            </a:pPr>
            <a:r>
              <a:rPr lang="en-US" sz="800" spc="100" kern="0" dirty="0">
                <a:solidFill>
                  <a:srgbClr val="8A907F"/>
                </a:solidFill>
                <a:latin typeface="Consolas" pitchFamily="34" charset="0"/>
                <a:ea typeface="Consolas" pitchFamily="34" charset="-122"/>
                <a:cs typeface="Consolas" pitchFamily="34" charset="-120"/>
              </a:rPr>
              <a:t>METADATA</a:t>
            </a:r>
            <a:endParaRPr lang="en-US" sz="800" dirty="0"/>
          </a:p>
        </p:txBody>
      </p:sp>
      <p:sp>
        <p:nvSpPr>
          <p:cNvPr id="9" name="Text 7"/>
          <p:cNvSpPr/>
          <p:nvPr/>
        </p:nvSpPr>
        <p:spPr>
          <a:xfrm>
            <a:off x="822960" y="3346704"/>
            <a:ext cx="3136392" cy="566928"/>
          </a:xfrm>
          <a:prstGeom prst="rect">
            <a:avLst/>
          </a:prstGeom>
          <a:noFill/>
          <a:ln/>
        </p:spPr>
        <p:txBody>
          <a:bodyPr wrap="square" rtlCol="0" anchor="ctr"/>
          <a:lstStyle/>
          <a:p>
            <a:pPr indent="0" marL="0">
              <a:lnSpc>
                <a:spcPts val="1200"/>
              </a:lnSpc>
              <a:buNone/>
            </a:pPr>
            <a:r>
              <a:rPr lang="en-US" sz="950" dirty="0">
                <a:solidFill>
                  <a:srgbClr val="1A1F1C"/>
                </a:solidFill>
                <a:latin typeface="Consolas" pitchFamily="34" charset="0"/>
                <a:ea typeface="Consolas" pitchFamily="34" charset="-122"/>
                <a:cs typeface="Consolas" pitchFamily="34" charset="-120"/>
              </a:rPr>
              <a:t>feature: faculty-led-</a:t>
            </a:r>
            <a:endParaRPr lang="en-US" sz="950" dirty="0"/>
          </a:p>
          <a:p>
            <a:pPr indent="0" marL="0">
              <a:lnSpc>
                <a:spcPts val="1200"/>
              </a:lnSpc>
              <a:buNone/>
            </a:pPr>
            <a:r>
              <a:rPr lang="en-US" sz="950" dirty="0">
                <a:solidFill>
                  <a:srgbClr val="1A1F1C"/>
                </a:solidFill>
                <a:latin typeface="Consolas" pitchFamily="34" charset="0"/>
                <a:ea typeface="Consolas" pitchFamily="34" charset="-122"/>
                <a:cs typeface="Consolas" pitchFamily="34" charset="-120"/>
              </a:rPr>
              <a:t>         customizable-report</a:t>
            </a:r>
            <a:endParaRPr lang="en-US" sz="950" dirty="0"/>
          </a:p>
        </p:txBody>
      </p:sp>
      <p:sp>
        <p:nvSpPr>
          <p:cNvPr id="10" name="Shape 8"/>
          <p:cNvSpPr/>
          <p:nvPr/>
        </p:nvSpPr>
        <p:spPr>
          <a:xfrm>
            <a:off x="822960" y="3977640"/>
            <a:ext cx="3063240" cy="1234440"/>
          </a:xfrm>
          <a:prstGeom prst="roundRect">
            <a:avLst>
              <a:gd name="adj" fmla="val 3704"/>
            </a:avLst>
          </a:prstGeom>
          <a:solidFill>
            <a:srgbClr val="16201B"/>
          </a:solidFill>
          <a:ln/>
        </p:spPr>
      </p:sp>
      <p:sp>
        <p:nvSpPr>
          <p:cNvPr id="11" name="Text 9"/>
          <p:cNvSpPr/>
          <p:nvPr/>
        </p:nvSpPr>
        <p:spPr>
          <a:xfrm>
            <a:off x="932688" y="4041648"/>
            <a:ext cx="2862072" cy="1115568"/>
          </a:xfrm>
          <a:prstGeom prst="rect">
            <a:avLst/>
          </a:prstGeom>
          <a:noFill/>
          <a:ln/>
        </p:spPr>
        <p:txBody>
          <a:bodyPr wrap="square" rtlCol="0" anchor="t"/>
          <a:lstStyle/>
          <a:p>
            <a:pPr indent="0" marL="0">
              <a:lnSpc>
                <a:spcPts val="1200"/>
              </a:lnSpc>
              <a:buNone/>
            </a:pPr>
            <a:r>
              <a:rPr lang="en-US" sz="900" dirty="0">
                <a:solidFill>
                  <a:srgbClr val="EDEEE7"/>
                </a:solidFill>
                <a:latin typeface="Consolas" pitchFamily="34" charset="0"/>
                <a:ea typeface="Consolas" pitchFamily="34" charset="-122"/>
                <a:cs typeface="Consolas" pitchFamily="34" charset="-120"/>
              </a:rPr>
              <a:t># Faculty-Led Customizable Report</a:t>
            </a:r>
            <a:endParaRPr lang="en-US" sz="900" dirty="0"/>
          </a:p>
          <a:p>
            <a:pPr indent="0" marL="0">
              <a:lnSpc>
                <a:spcPts val="1200"/>
              </a:lnSpc>
              <a:buNone/>
            </a:pPr>
            <a:r>
              <a:rPr lang="en-US" sz="900" dirty="0">
                <a:solidFill>
                  <a:srgbClr val="EDEEE7"/>
                </a:solidFill>
                <a:latin typeface="Consolas" pitchFamily="34" charset="0"/>
                <a:ea typeface="Consolas" pitchFamily="34" charset="-122"/>
                <a:cs typeface="Consolas" pitchFamily="34" charset="-120"/>
              </a:rPr>
              <a:t>## Purpose</a:t>
            </a:r>
            <a:endParaRPr lang="en-US" sz="900" dirty="0"/>
          </a:p>
          <a:p>
            <a:pPr indent="0" marL="0">
              <a:lnSpc>
                <a:spcPts val="1200"/>
              </a:lnSpc>
              <a:buNone/>
            </a:pPr>
            <a:r>
              <a:rPr lang="en-US" sz="900" dirty="0">
                <a:solidFill>
                  <a:srgbClr val="EDEEE7"/>
                </a:solidFill>
                <a:latin typeface="Consolas" pitchFamily="34" charset="0"/>
                <a:ea typeface="Consolas" pitchFamily="34" charset="-122"/>
                <a:cs typeface="Consolas" pitchFamily="34" charset="-120"/>
              </a:rPr>
              <a:t>Customizable, faculty-facing</a:t>
            </a:r>
            <a:endParaRPr lang="en-US" sz="900" dirty="0"/>
          </a:p>
          <a:p>
            <a:pPr indent="0" marL="0">
              <a:lnSpc>
                <a:spcPts val="1200"/>
              </a:lnSpc>
              <a:buNone/>
            </a:pPr>
            <a:r>
              <a:rPr lang="en-US" sz="900" dirty="0">
                <a:solidFill>
                  <a:srgbClr val="EDEEE7"/>
                </a:solidFill>
                <a:latin typeface="Consolas" pitchFamily="34" charset="0"/>
                <a:ea typeface="Consolas" pitchFamily="34" charset="-122"/>
                <a:cs typeface="Consolas" pitchFamily="34" charset="-120"/>
              </a:rPr>
              <a:t>performance report …</a:t>
            </a:r>
            <a:endParaRPr lang="en-US" sz="900" dirty="0"/>
          </a:p>
        </p:txBody>
      </p:sp>
      <p:sp>
        <p:nvSpPr>
          <p:cNvPr id="12" name="Text 10"/>
          <p:cNvSpPr/>
          <p:nvPr/>
        </p:nvSpPr>
        <p:spPr>
          <a:xfrm>
            <a:off x="822960" y="5321808"/>
            <a:ext cx="3136392" cy="685800"/>
          </a:xfrm>
          <a:prstGeom prst="rect">
            <a:avLst/>
          </a:prstGeom>
          <a:noFill/>
          <a:ln/>
        </p:spPr>
        <p:txBody>
          <a:bodyPr wrap="square" rtlCol="0" anchor="ctr"/>
          <a:lstStyle/>
          <a:p>
            <a:pPr indent="0" marL="0">
              <a:lnSpc>
                <a:spcPts val="1300"/>
              </a:lnSpc>
              <a:buNone/>
            </a:pPr>
            <a:r>
              <a:rPr lang="en-US" sz="1050" i="1" dirty="0">
                <a:solidFill>
                  <a:srgbClr val="5A6055"/>
                </a:solidFill>
                <a:latin typeface="Calibri" pitchFamily="34" charset="0"/>
                <a:ea typeface="Calibri" pitchFamily="34" charset="-122"/>
                <a:cs typeface="Calibri" pitchFamily="34" charset="-120"/>
              </a:rPr>
              <a:t>ingest: page → section chunk, embedded.</a:t>
            </a:r>
            <a:endParaRPr lang="en-US" sz="1050" dirty="0"/>
          </a:p>
          <a:p>
            <a:pPr indent="0" marL="0">
              <a:lnSpc>
                <a:spcPts val="1300"/>
              </a:lnSpc>
              <a:buNone/>
            </a:pPr>
            <a:r>
              <a:rPr lang="en-US" sz="1050" i="1" dirty="0">
                <a:solidFill>
                  <a:srgbClr val="5A6055"/>
                </a:solidFill>
                <a:latin typeface="Calibri" pitchFamily="34" charset="0"/>
                <a:ea typeface="Calibri" pitchFamily="34" charset="-122"/>
                <a:cs typeface="Calibri" pitchFamily="34" charset="-120"/>
              </a:rPr>
              <a:t>retrieve: hybrid search + doc_type quota.</a:t>
            </a:r>
            <a:endParaRPr lang="en-US" sz="1050" dirty="0"/>
          </a:p>
        </p:txBody>
      </p:sp>
      <p:sp>
        <p:nvSpPr>
          <p:cNvPr id="13" name="Shape 11"/>
          <p:cNvSpPr/>
          <p:nvPr/>
        </p:nvSpPr>
        <p:spPr>
          <a:xfrm>
            <a:off x="4416552" y="2286000"/>
            <a:ext cx="3611880" cy="3840480"/>
          </a:xfrm>
          <a:prstGeom prst="roundRect">
            <a:avLst>
              <a:gd name="adj" fmla="val 2025"/>
            </a:avLst>
          </a:prstGeom>
          <a:solidFill>
            <a:srgbClr val="F1F3EE"/>
          </a:solidFill>
          <a:ln w="12700">
            <a:solidFill>
              <a:srgbClr val="E2E5DD"/>
            </a:solidFill>
            <a:prstDash val="solid"/>
          </a:ln>
        </p:spPr>
      </p:sp>
      <p:sp>
        <p:nvSpPr>
          <p:cNvPr id="14" name="Text 12"/>
          <p:cNvSpPr/>
          <p:nvPr/>
        </p:nvSpPr>
        <p:spPr>
          <a:xfrm>
            <a:off x="4690872" y="2468880"/>
            <a:ext cx="3154680" cy="274320"/>
          </a:xfrm>
          <a:prstGeom prst="rect">
            <a:avLst/>
          </a:prstGeom>
          <a:noFill/>
          <a:ln/>
        </p:spPr>
        <p:txBody>
          <a:bodyPr wrap="square" rtlCol="0" anchor="ctr"/>
          <a:lstStyle/>
          <a:p>
            <a:pPr indent="0" marL="0">
              <a:buNone/>
            </a:pPr>
            <a:r>
              <a:rPr lang="en-US" sz="1000" b="1" spc="100" kern="0" dirty="0">
                <a:solidFill>
                  <a:srgbClr val="0F8A80"/>
                </a:solidFill>
                <a:latin typeface="Consolas" pitchFamily="34" charset="0"/>
                <a:ea typeface="Consolas" pitchFamily="34" charset="-122"/>
                <a:cs typeface="Consolas" pitchFamily="34" charset="-120"/>
              </a:rPr>
              <a:t>docs_technical · HOW</a:t>
            </a:r>
            <a:endParaRPr lang="en-US" sz="1000" dirty="0"/>
          </a:p>
        </p:txBody>
      </p:sp>
      <p:sp>
        <p:nvSpPr>
          <p:cNvPr id="15" name="Text 13"/>
          <p:cNvSpPr/>
          <p:nvPr/>
        </p:nvSpPr>
        <p:spPr>
          <a:xfrm>
            <a:off x="4690872" y="2743200"/>
            <a:ext cx="3154680" cy="32004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endpoint</a:t>
            </a:r>
            <a:endParaRPr lang="en-US" sz="1700" dirty="0"/>
          </a:p>
        </p:txBody>
      </p:sp>
      <p:sp>
        <p:nvSpPr>
          <p:cNvPr id="16" name="Text 14"/>
          <p:cNvSpPr/>
          <p:nvPr/>
        </p:nvSpPr>
        <p:spPr>
          <a:xfrm>
            <a:off x="4690872" y="3163824"/>
            <a:ext cx="3154680" cy="201168"/>
          </a:xfrm>
          <a:prstGeom prst="rect">
            <a:avLst/>
          </a:prstGeom>
          <a:noFill/>
          <a:ln/>
        </p:spPr>
        <p:txBody>
          <a:bodyPr wrap="square" rtlCol="0" anchor="ctr"/>
          <a:lstStyle/>
          <a:p>
            <a:pPr indent="0" marL="0">
              <a:buNone/>
            </a:pPr>
            <a:r>
              <a:rPr lang="en-US" sz="800" spc="100" kern="0" dirty="0">
                <a:solidFill>
                  <a:srgbClr val="8A907F"/>
                </a:solidFill>
                <a:latin typeface="Consolas" pitchFamily="34" charset="0"/>
                <a:ea typeface="Consolas" pitchFamily="34" charset="-122"/>
                <a:cs typeface="Consolas" pitchFamily="34" charset="-120"/>
              </a:rPr>
              <a:t>METADATA</a:t>
            </a:r>
            <a:endParaRPr lang="en-US" sz="800" dirty="0"/>
          </a:p>
        </p:txBody>
      </p:sp>
      <p:sp>
        <p:nvSpPr>
          <p:cNvPr id="17" name="Text 15"/>
          <p:cNvSpPr/>
          <p:nvPr/>
        </p:nvSpPr>
        <p:spPr>
          <a:xfrm>
            <a:off x="4690872" y="3346704"/>
            <a:ext cx="3136392" cy="566928"/>
          </a:xfrm>
          <a:prstGeom prst="rect">
            <a:avLst/>
          </a:prstGeom>
          <a:noFill/>
          <a:ln/>
        </p:spPr>
        <p:txBody>
          <a:bodyPr wrap="square" rtlCol="0" anchor="ctr"/>
          <a:lstStyle/>
          <a:p>
            <a:pPr indent="0" marL="0">
              <a:lnSpc>
                <a:spcPts val="1200"/>
              </a:lnSpc>
              <a:buNone/>
            </a:pPr>
            <a:r>
              <a:rPr lang="en-US" sz="950" dirty="0">
                <a:solidFill>
                  <a:srgbClr val="1A1F1C"/>
                </a:solidFill>
                <a:latin typeface="Consolas" pitchFamily="34" charset="0"/>
                <a:ea typeface="Consolas" pitchFamily="34" charset="-122"/>
                <a:cs typeface="Consolas" pitchFamily="34" charset="-120"/>
              </a:rPr>
              <a:t>ep::reports::</a:t>
            </a:r>
            <a:endParaRPr lang="en-US" sz="950" dirty="0"/>
          </a:p>
          <a:p>
            <a:pPr indent="0" marL="0">
              <a:lnSpc>
                <a:spcPts val="1200"/>
              </a:lnSpc>
              <a:buNone/>
            </a:pPr>
            <a:r>
              <a:rPr lang="en-US" sz="950" dirty="0">
                <a:solidFill>
                  <a:srgbClr val="1A1F1C"/>
                </a:solidFill>
                <a:latin typeface="Consolas" pitchFamily="34" charset="0"/>
                <a:ea typeface="Consolas" pitchFamily="34" charset="-122"/>
                <a:cs typeface="Consolas" pitchFamily="34" charset="-120"/>
              </a:rPr>
              <a:t>  GetTotalPrepGroupPerformance</a:t>
            </a:r>
            <a:endParaRPr lang="en-US" sz="950" dirty="0"/>
          </a:p>
        </p:txBody>
      </p:sp>
      <p:sp>
        <p:nvSpPr>
          <p:cNvPr id="18" name="Shape 16"/>
          <p:cNvSpPr/>
          <p:nvPr/>
        </p:nvSpPr>
        <p:spPr>
          <a:xfrm>
            <a:off x="4690872" y="3977640"/>
            <a:ext cx="3063240" cy="1234440"/>
          </a:xfrm>
          <a:prstGeom prst="roundRect">
            <a:avLst>
              <a:gd name="adj" fmla="val 3704"/>
            </a:avLst>
          </a:prstGeom>
          <a:solidFill>
            <a:srgbClr val="16201B"/>
          </a:solidFill>
          <a:ln/>
        </p:spPr>
      </p:sp>
      <p:sp>
        <p:nvSpPr>
          <p:cNvPr id="19" name="Text 17"/>
          <p:cNvSpPr/>
          <p:nvPr/>
        </p:nvSpPr>
        <p:spPr>
          <a:xfrm>
            <a:off x="4800600" y="4041648"/>
            <a:ext cx="2862072" cy="1115568"/>
          </a:xfrm>
          <a:prstGeom prst="rect">
            <a:avLst/>
          </a:prstGeom>
          <a:noFill/>
          <a:ln/>
        </p:spPr>
        <p:txBody>
          <a:bodyPr wrap="square" rtlCol="0" anchor="t"/>
          <a:lstStyle/>
          <a:p>
            <a:pPr indent="0" marL="0">
              <a:lnSpc>
                <a:spcPts val="1200"/>
              </a:lnSpc>
              <a:buNone/>
            </a:pPr>
            <a:r>
              <a:rPr lang="en-US" sz="900" dirty="0">
                <a:solidFill>
                  <a:srgbClr val="EDEEE7"/>
                </a:solidFill>
                <a:latin typeface="Consolas" pitchFamily="34" charset="0"/>
                <a:ea typeface="Consolas" pitchFamily="34" charset="-122"/>
                <a:cs typeface="Consolas" pitchFamily="34" charset="-120"/>
              </a:rPr>
              <a:t># POST …/totalprep/group-performance</a:t>
            </a:r>
            <a:endParaRPr lang="en-US" sz="900" dirty="0"/>
          </a:p>
          <a:p>
            <a:pPr indent="0" marL="0">
              <a:lnSpc>
                <a:spcPts val="1200"/>
              </a:lnSpc>
              <a:buNone/>
            </a:pPr>
            <a:r>
              <a:rPr lang="en-US" sz="900" dirty="0">
                <a:solidFill>
                  <a:srgbClr val="EDEEE7"/>
                </a:solidFill>
                <a:latin typeface="Consolas" pitchFamily="34" charset="0"/>
                <a:ea typeface="Consolas" pitchFamily="34" charset="-122"/>
                <a:cs typeface="Consolas" pitchFamily="34" charset="-120"/>
              </a:rPr>
              <a:t>Flow:  Controller → Service →</a:t>
            </a:r>
            <a:endParaRPr lang="en-US" sz="900" dirty="0"/>
          </a:p>
          <a:p>
            <a:pPr indent="0" marL="0">
              <a:lnSpc>
                <a:spcPts val="1200"/>
              </a:lnSpc>
              <a:buNone/>
            </a:pPr>
            <a:r>
              <a:rPr lang="en-US" sz="900" dirty="0">
                <a:solidFill>
                  <a:srgbClr val="EDEEE7"/>
                </a:solidFill>
                <a:latin typeface="Consolas" pitchFamily="34" charset="0"/>
                <a:ea typeface="Consolas" pitchFamily="34" charset="-122"/>
                <a:cs typeface="Consolas" pitchFamily="34" charset="-120"/>
              </a:rPr>
              <a:t>       Repository → collection</a:t>
            </a:r>
            <a:endParaRPr lang="en-US" sz="900" dirty="0"/>
          </a:p>
        </p:txBody>
      </p:sp>
      <p:sp>
        <p:nvSpPr>
          <p:cNvPr id="20" name="Text 18"/>
          <p:cNvSpPr/>
          <p:nvPr/>
        </p:nvSpPr>
        <p:spPr>
          <a:xfrm>
            <a:off x="4690872" y="5321808"/>
            <a:ext cx="3136392" cy="685800"/>
          </a:xfrm>
          <a:prstGeom prst="rect">
            <a:avLst/>
          </a:prstGeom>
          <a:noFill/>
          <a:ln/>
        </p:spPr>
        <p:txBody>
          <a:bodyPr wrap="square" rtlCol="0" anchor="ctr"/>
          <a:lstStyle/>
          <a:p>
            <a:pPr indent="0" marL="0">
              <a:lnSpc>
                <a:spcPts val="1300"/>
              </a:lnSpc>
              <a:buNone/>
            </a:pPr>
            <a:r>
              <a:rPr lang="en-US" sz="1050" i="1" dirty="0">
                <a:solidFill>
                  <a:srgbClr val="5A6055"/>
                </a:solidFill>
                <a:latin typeface="Calibri" pitchFamily="34" charset="0"/>
                <a:ea typeface="Calibri" pitchFamily="34" charset="-122"/>
                <a:cs typeface="Calibri" pitchFamily="34" charset="-120"/>
              </a:rPr>
              <a:t>ingest: section-split, stable ids.</a:t>
            </a:r>
            <a:endParaRPr lang="en-US" sz="1050" dirty="0"/>
          </a:p>
          <a:p>
            <a:pPr indent="0" marL="0">
              <a:lnSpc>
                <a:spcPts val="1300"/>
              </a:lnSpc>
              <a:buNone/>
            </a:pPr>
            <a:r>
              <a:rPr lang="en-US" sz="1050" i="1" dirty="0">
                <a:solidFill>
                  <a:srgbClr val="5A6055"/>
                </a:solidFill>
                <a:latin typeface="Calibri" pitchFamily="34" charset="0"/>
                <a:ea typeface="Calibri" pitchFamily="34" charset="-122"/>
                <a:cs typeface="Calibri" pitchFamily="34" charset="-120"/>
              </a:rPr>
              <a:t>retrieve: its id routes the query to code.</a:t>
            </a:r>
            <a:endParaRPr lang="en-US" sz="1050" dirty="0"/>
          </a:p>
        </p:txBody>
      </p:sp>
      <p:sp>
        <p:nvSpPr>
          <p:cNvPr id="21" name="Shape 19"/>
          <p:cNvSpPr/>
          <p:nvPr/>
        </p:nvSpPr>
        <p:spPr>
          <a:xfrm>
            <a:off x="8284464" y="2286000"/>
            <a:ext cx="3611880" cy="3840480"/>
          </a:xfrm>
          <a:prstGeom prst="roundRect">
            <a:avLst>
              <a:gd name="adj" fmla="val 2025"/>
            </a:avLst>
          </a:prstGeom>
          <a:solidFill>
            <a:srgbClr val="F1F3EE"/>
          </a:solidFill>
          <a:ln w="12700">
            <a:solidFill>
              <a:srgbClr val="E2E5DD"/>
            </a:solidFill>
            <a:prstDash val="solid"/>
          </a:ln>
        </p:spPr>
      </p:sp>
      <p:sp>
        <p:nvSpPr>
          <p:cNvPr id="22" name="Text 20"/>
          <p:cNvSpPr/>
          <p:nvPr/>
        </p:nvSpPr>
        <p:spPr>
          <a:xfrm>
            <a:off x="8558784" y="2468880"/>
            <a:ext cx="3154680" cy="274320"/>
          </a:xfrm>
          <a:prstGeom prst="rect">
            <a:avLst/>
          </a:prstGeom>
          <a:noFill/>
          <a:ln/>
        </p:spPr>
        <p:txBody>
          <a:bodyPr wrap="square" rtlCol="0" anchor="ctr"/>
          <a:lstStyle/>
          <a:p>
            <a:pPr indent="0" marL="0">
              <a:buNone/>
            </a:pPr>
            <a:r>
              <a:rPr lang="en-US" sz="1000" b="1" spc="100" kern="0" dirty="0">
                <a:solidFill>
                  <a:srgbClr val="5B57A6"/>
                </a:solidFill>
                <a:latin typeface="Consolas" pitchFamily="34" charset="0"/>
                <a:ea typeface="Consolas" pitchFamily="34" charset="-122"/>
                <a:cs typeface="Consolas" pitchFamily="34" charset="-120"/>
              </a:rPr>
              <a:t>code_stores/reports · WHAT</a:t>
            </a:r>
            <a:endParaRPr lang="en-US" sz="1000" dirty="0"/>
          </a:p>
        </p:txBody>
      </p:sp>
      <p:sp>
        <p:nvSpPr>
          <p:cNvPr id="23" name="Text 21"/>
          <p:cNvSpPr/>
          <p:nvPr/>
        </p:nvSpPr>
        <p:spPr>
          <a:xfrm>
            <a:off x="8558784" y="2743200"/>
            <a:ext cx="3154680" cy="320040"/>
          </a:xfrm>
          <a:prstGeom prst="rect">
            <a:avLst/>
          </a:prstGeom>
          <a:noFill/>
          <a:ln/>
        </p:spPr>
        <p:txBody>
          <a:bodyPr wrap="square" rtlCol="0" anchor="ctr"/>
          <a:lstStyle/>
          <a:p>
            <a:pPr indent="0" marL="0">
              <a:buNone/>
            </a:pPr>
            <a:r>
              <a:rPr lang="en-US" sz="1700" b="1" dirty="0">
                <a:solidFill>
                  <a:srgbClr val="1A1F1C"/>
                </a:solidFill>
                <a:latin typeface="Cambria" pitchFamily="34" charset="0"/>
                <a:ea typeface="Cambria" pitchFamily="34" charset="-122"/>
                <a:cs typeface="Cambria" pitchFamily="34" charset="-120"/>
              </a:rPr>
              <a:t>controller method</a:t>
            </a:r>
            <a:endParaRPr lang="en-US" sz="1700" dirty="0"/>
          </a:p>
        </p:txBody>
      </p:sp>
      <p:sp>
        <p:nvSpPr>
          <p:cNvPr id="24" name="Text 22"/>
          <p:cNvSpPr/>
          <p:nvPr/>
        </p:nvSpPr>
        <p:spPr>
          <a:xfrm>
            <a:off x="8558784" y="3163824"/>
            <a:ext cx="3154680" cy="201168"/>
          </a:xfrm>
          <a:prstGeom prst="rect">
            <a:avLst/>
          </a:prstGeom>
          <a:noFill/>
          <a:ln/>
        </p:spPr>
        <p:txBody>
          <a:bodyPr wrap="square" rtlCol="0" anchor="ctr"/>
          <a:lstStyle/>
          <a:p>
            <a:pPr indent="0" marL="0">
              <a:buNone/>
            </a:pPr>
            <a:r>
              <a:rPr lang="en-US" sz="800" spc="100" kern="0" dirty="0">
                <a:solidFill>
                  <a:srgbClr val="8A907F"/>
                </a:solidFill>
                <a:latin typeface="Consolas" pitchFamily="34" charset="0"/>
                <a:ea typeface="Consolas" pitchFamily="34" charset="-122"/>
                <a:cs typeface="Consolas" pitchFamily="34" charset="-120"/>
              </a:rPr>
              <a:t>METADATA</a:t>
            </a:r>
            <a:endParaRPr lang="en-US" sz="800" dirty="0"/>
          </a:p>
        </p:txBody>
      </p:sp>
      <p:sp>
        <p:nvSpPr>
          <p:cNvPr id="25" name="Text 23"/>
          <p:cNvSpPr/>
          <p:nvPr/>
        </p:nvSpPr>
        <p:spPr>
          <a:xfrm>
            <a:off x="8558784" y="3346704"/>
            <a:ext cx="3136392" cy="566928"/>
          </a:xfrm>
          <a:prstGeom prst="rect">
            <a:avLst/>
          </a:prstGeom>
          <a:noFill/>
          <a:ln/>
        </p:spPr>
        <p:txBody>
          <a:bodyPr wrap="square" rtlCol="0" anchor="ctr"/>
          <a:lstStyle/>
          <a:p>
            <a:pPr indent="0" marL="0">
              <a:lnSpc>
                <a:spcPts val="1200"/>
              </a:lnSpc>
              <a:buNone/>
            </a:pPr>
            <a:r>
              <a:rPr lang="en-US" sz="950" dirty="0">
                <a:solidFill>
                  <a:srgbClr val="1A1F1C"/>
                </a:solidFill>
                <a:latin typeface="Consolas" pitchFamily="34" charset="0"/>
                <a:ea typeface="Consolas" pitchFamily="34" charset="-122"/>
                <a:cs typeface="Consolas" pitchFamily="34" charset="-120"/>
              </a:rPr>
              <a:t>layer: controller</a:t>
            </a:r>
            <a:endParaRPr lang="en-US" sz="950" dirty="0"/>
          </a:p>
          <a:p>
            <a:pPr indent="0" marL="0">
              <a:lnSpc>
                <a:spcPts val="1200"/>
              </a:lnSpc>
              <a:buNone/>
            </a:pPr>
            <a:r>
              <a:rPr lang="en-US" sz="950" dirty="0">
                <a:solidFill>
                  <a:srgbClr val="1A1F1C"/>
                </a:solidFill>
                <a:latin typeface="Consolas" pitchFamily="34" charset="0"/>
                <a:ea typeface="Consolas" pitchFamily="34" charset="-122"/>
                <a:cs typeface="Consolas" pitchFamily="34" charset="-120"/>
              </a:rPr>
              <a:t>Controller.cs:39–47</a:t>
            </a:r>
            <a:endParaRPr lang="en-US" sz="950" dirty="0"/>
          </a:p>
        </p:txBody>
      </p:sp>
      <p:sp>
        <p:nvSpPr>
          <p:cNvPr id="26" name="Shape 24"/>
          <p:cNvSpPr/>
          <p:nvPr/>
        </p:nvSpPr>
        <p:spPr>
          <a:xfrm>
            <a:off x="8558784" y="3977640"/>
            <a:ext cx="3063240" cy="1234440"/>
          </a:xfrm>
          <a:prstGeom prst="roundRect">
            <a:avLst>
              <a:gd name="adj" fmla="val 3704"/>
            </a:avLst>
          </a:prstGeom>
          <a:solidFill>
            <a:srgbClr val="16201B"/>
          </a:solidFill>
          <a:ln/>
        </p:spPr>
      </p:sp>
      <p:sp>
        <p:nvSpPr>
          <p:cNvPr id="27" name="Text 25"/>
          <p:cNvSpPr/>
          <p:nvPr/>
        </p:nvSpPr>
        <p:spPr>
          <a:xfrm>
            <a:off x="8668512" y="4041648"/>
            <a:ext cx="2862072" cy="1115568"/>
          </a:xfrm>
          <a:prstGeom prst="rect">
            <a:avLst/>
          </a:prstGeom>
          <a:noFill/>
          <a:ln/>
        </p:spPr>
        <p:txBody>
          <a:bodyPr wrap="square" rtlCol="0" anchor="t"/>
          <a:lstStyle/>
          <a:p>
            <a:pPr indent="0" marL="0">
              <a:lnSpc>
                <a:spcPts val="1200"/>
              </a:lnSpc>
              <a:buNone/>
            </a:pPr>
            <a:r>
              <a:rPr lang="en-US" sz="900" dirty="0">
                <a:solidFill>
                  <a:srgbClr val="EDEEE7"/>
                </a:solidFill>
                <a:latin typeface="Consolas" pitchFamily="34" charset="0"/>
                <a:ea typeface="Consolas" pitchFamily="34" charset="-122"/>
                <a:cs typeface="Consolas" pitchFamily="34" charset="-120"/>
              </a:rPr>
              <a:t>GetTotalPrepGroupPerformance(req)</a:t>
            </a:r>
            <a:endParaRPr lang="en-US" sz="900" dirty="0"/>
          </a:p>
          <a:p>
            <a:pPr indent="0" marL="0">
              <a:lnSpc>
                <a:spcPts val="1200"/>
              </a:lnSpc>
              <a:buNone/>
            </a:pPr>
            <a:r>
              <a:rPr lang="en-US" sz="900" dirty="0">
                <a:solidFill>
                  <a:srgbClr val="EDEEE7"/>
                </a:solidFill>
                <a:latin typeface="Consolas" pitchFamily="34" charset="0"/>
                <a:ea typeface="Consolas" pitchFamily="34" charset="-122"/>
                <a:cs typeface="Consolas" pitchFamily="34" charset="-120"/>
              </a:rPr>
              <a:t>  if (req.FpGroupId == 0) throw …</a:t>
            </a:r>
            <a:endParaRPr lang="en-US" sz="900" dirty="0"/>
          </a:p>
          <a:p>
            <a:pPr indent="0" marL="0">
              <a:lnSpc>
                <a:spcPts val="1200"/>
              </a:lnSpc>
              <a:buNone/>
            </a:pPr>
            <a:r>
              <a:rPr lang="en-US" sz="900" dirty="0">
                <a:solidFill>
                  <a:srgbClr val="EDEEE7"/>
                </a:solidFill>
                <a:latin typeface="Consolas" pitchFamily="34" charset="0"/>
                <a:ea typeface="Consolas" pitchFamily="34" charset="-122"/>
                <a:cs typeface="Consolas" pitchFamily="34" charset="-120"/>
              </a:rPr>
              <a:t>  return _service.Get…(req);</a:t>
            </a:r>
            <a:endParaRPr lang="en-US" sz="900" dirty="0"/>
          </a:p>
        </p:txBody>
      </p:sp>
      <p:sp>
        <p:nvSpPr>
          <p:cNvPr id="28" name="Text 26"/>
          <p:cNvSpPr/>
          <p:nvPr/>
        </p:nvSpPr>
        <p:spPr>
          <a:xfrm>
            <a:off x="8558784" y="5321808"/>
            <a:ext cx="3136392" cy="685800"/>
          </a:xfrm>
          <a:prstGeom prst="rect">
            <a:avLst/>
          </a:prstGeom>
          <a:noFill/>
          <a:ln/>
        </p:spPr>
        <p:txBody>
          <a:bodyPr wrap="square" rtlCol="0" anchor="ctr"/>
          <a:lstStyle/>
          <a:p>
            <a:pPr indent="0" marL="0">
              <a:lnSpc>
                <a:spcPts val="1300"/>
              </a:lnSpc>
              <a:buNone/>
            </a:pPr>
            <a:r>
              <a:rPr lang="en-US" sz="1050" i="1" dirty="0">
                <a:solidFill>
                  <a:srgbClr val="5A6055"/>
                </a:solidFill>
                <a:latin typeface="Calibri" pitchFamily="34" charset="0"/>
                <a:ea typeface="Calibri" pitchFamily="34" charset="-122"/>
                <a:cs typeface="Calibri" pitchFamily="34" charset="-120"/>
              </a:rPr>
              <a:t>ingest: class → method chunk, layer</a:t>
            </a:r>
            <a:endParaRPr lang="en-US" sz="1050" dirty="0"/>
          </a:p>
          <a:p>
            <a:pPr indent="0" marL="0">
              <a:lnSpc>
                <a:spcPts val="1300"/>
              </a:lnSpc>
              <a:buNone/>
            </a:pPr>
            <a:r>
              <a:rPr lang="en-US" sz="1050" i="1" dirty="0">
                <a:solidFill>
                  <a:srgbClr val="5A6055"/>
                </a:solidFill>
                <a:latin typeface="Calibri" pitchFamily="34" charset="0"/>
                <a:ea typeface="Calibri" pitchFamily="34" charset="-122"/>
                <a:cs typeface="Calibri" pitchFamily="34" charset="-120"/>
              </a:rPr>
              <a:t>from path. retrieve: via file:line hints.</a:t>
            </a:r>
            <a:endParaRPr lang="en-US" sz="1050" dirty="0"/>
          </a:p>
        </p:txBody>
      </p:sp>
      <p:sp>
        <p:nvSpPr>
          <p:cNvPr id="29" name="Text 27"/>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30" name="Text 28"/>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01B"/>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D9A93A"/>
                </a:solidFill>
                <a:latin typeface="Consolas" pitchFamily="34" charset="0"/>
                <a:ea typeface="Consolas" pitchFamily="34" charset="-122"/>
                <a:cs typeface="Consolas" pitchFamily="34" charset="-120"/>
              </a:rPr>
              <a:t>WHY THIS EXISTS · A FOCUSED QUESTION</a:t>
            </a:r>
            <a:endParaRPr lang="en-US" sz="1100" dirty="0"/>
          </a:p>
        </p:txBody>
      </p:sp>
      <p:sp>
        <p:nvSpPr>
          <p:cNvPr id="3" name="Text 1"/>
          <p:cNvSpPr/>
          <p:nvPr/>
        </p:nvSpPr>
        <p:spPr>
          <a:xfrm>
            <a:off x="502920" y="868680"/>
            <a:ext cx="10972800" cy="822960"/>
          </a:xfrm>
          <a:prstGeom prst="rect">
            <a:avLst/>
          </a:prstGeom>
          <a:noFill/>
          <a:ln/>
        </p:spPr>
        <p:txBody>
          <a:bodyPr wrap="square" rtlCol="0" anchor="ctr"/>
          <a:lstStyle/>
          <a:p>
            <a:pPr indent="0" marL="0">
              <a:buNone/>
            </a:pPr>
            <a:r>
              <a:rPr lang="en-US" sz="3200" b="1" dirty="0">
                <a:solidFill>
                  <a:srgbClr val="EDEEE7"/>
                </a:solidFill>
                <a:latin typeface="Cambria" pitchFamily="34" charset="0"/>
                <a:ea typeface="Cambria" pitchFamily="34" charset="-122"/>
                <a:cs typeface="Cambria" pitchFamily="34" charset="-120"/>
              </a:rPr>
              <a:t>Same answer, a fraction of the context</a:t>
            </a:r>
            <a:endParaRPr lang="en-US" sz="3200" dirty="0"/>
          </a:p>
        </p:txBody>
      </p:sp>
      <p:sp>
        <p:nvSpPr>
          <p:cNvPr id="4" name="Text 2"/>
          <p:cNvSpPr/>
          <p:nvPr/>
        </p:nvSpPr>
        <p:spPr>
          <a:xfrm>
            <a:off x="548640" y="1737360"/>
            <a:ext cx="7406640" cy="1005840"/>
          </a:xfrm>
          <a:prstGeom prst="rect">
            <a:avLst/>
          </a:prstGeom>
          <a:noFill/>
          <a:ln/>
        </p:spPr>
        <p:txBody>
          <a:bodyPr wrap="square" rtlCol="0" anchor="ctr"/>
          <a:lstStyle/>
          <a:p>
            <a:pPr indent="0" marL="0">
              <a:lnSpc>
                <a:spcPts val="2000"/>
              </a:lnSpc>
              <a:buNone/>
            </a:pPr>
            <a:r>
              <a:rPr lang="en-US" sz="1500" dirty="0">
                <a:solidFill>
                  <a:srgbClr val="AEB4A5"/>
                </a:solidFill>
                <a:latin typeface="Calibri" pitchFamily="34" charset="0"/>
                <a:ea typeface="Calibri" pitchFamily="34" charset="-122"/>
                <a:cs typeface="Calibri" pitchFamily="34" charset="-120"/>
              </a:rPr>
              <a:t>Answering that one question by hand means loading the Confluence page plus the controller, repository and entity source files into context. With the system, you get just the relevant chunks.</a:t>
            </a:r>
            <a:endParaRPr lang="en-US" sz="1500" dirty="0"/>
          </a:p>
        </p:txBody>
      </p:sp>
      <p:sp>
        <p:nvSpPr>
          <p:cNvPr id="5" name="Text 3"/>
          <p:cNvSpPr/>
          <p:nvPr/>
        </p:nvSpPr>
        <p:spPr>
          <a:xfrm>
            <a:off x="8138160" y="1600200"/>
            <a:ext cx="3474720" cy="1188720"/>
          </a:xfrm>
          <a:prstGeom prst="rect">
            <a:avLst/>
          </a:prstGeom>
          <a:noFill/>
          <a:ln/>
        </p:spPr>
        <p:txBody>
          <a:bodyPr wrap="square" rtlCol="0" anchor="ctr"/>
          <a:lstStyle/>
          <a:p>
            <a:pPr algn="ctr" indent="0" marL="0">
              <a:buNone/>
            </a:pPr>
            <a:r>
              <a:rPr lang="en-US" sz="6600" b="1" dirty="0">
                <a:solidFill>
                  <a:srgbClr val="D9A93A"/>
                </a:solidFill>
                <a:latin typeface="Cambria" pitchFamily="34" charset="0"/>
                <a:ea typeface="Cambria" pitchFamily="34" charset="-122"/>
                <a:cs typeface="Cambria" pitchFamily="34" charset="-120"/>
              </a:rPr>
              <a:t>~7×</a:t>
            </a:r>
            <a:endParaRPr lang="en-US" sz="6600" dirty="0"/>
          </a:p>
        </p:txBody>
      </p:sp>
      <p:sp>
        <p:nvSpPr>
          <p:cNvPr id="6" name="Text 4"/>
          <p:cNvSpPr/>
          <p:nvPr/>
        </p:nvSpPr>
        <p:spPr>
          <a:xfrm>
            <a:off x="8138160" y="2743200"/>
            <a:ext cx="3474720" cy="365760"/>
          </a:xfrm>
          <a:prstGeom prst="rect">
            <a:avLst/>
          </a:prstGeom>
          <a:noFill/>
          <a:ln/>
        </p:spPr>
        <p:txBody>
          <a:bodyPr wrap="square" rtlCol="0" anchor="ctr"/>
          <a:lstStyle/>
          <a:p>
            <a:pPr algn="ctr" indent="0" marL="0">
              <a:buNone/>
            </a:pPr>
            <a:r>
              <a:rPr lang="en-US" sz="1300" dirty="0">
                <a:solidFill>
                  <a:srgbClr val="AEB4A5"/>
                </a:solidFill>
                <a:latin typeface="Calibri" pitchFamily="34" charset="0"/>
                <a:ea typeface="Calibri" pitchFamily="34" charset="-122"/>
                <a:cs typeface="Calibri" pitchFamily="34" charset="-120"/>
              </a:rPr>
              <a:t>less context for the same answer</a:t>
            </a:r>
            <a:endParaRPr lang="en-US" sz="1300" dirty="0"/>
          </a:p>
        </p:txBody>
      </p:sp>
      <p:graphicFrame>
        <p:nvGraphicFramePr>
          <p:cNvPr id="7" name="Chart 0" descr=""/>
          <p:cNvGraphicFramePr/>
          <p:nvPr/>
        </p:nvGraphicFramePr>
        <p:xfrm>
          <a:off x="548640" y="3108960"/>
          <a:ext cx="11064240" cy="30175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48640" y="6126480"/>
            <a:ext cx="11064240" cy="320040"/>
          </a:xfrm>
          <a:prstGeom prst="rect">
            <a:avLst/>
          </a:prstGeom>
          <a:noFill/>
          <a:ln/>
        </p:spPr>
        <p:txBody>
          <a:bodyPr wrap="square" rtlCol="0" anchor="ctr"/>
          <a:lstStyle/>
          <a:p>
            <a:pPr algn="ctr" indent="0" marL="0">
              <a:buNone/>
            </a:pPr>
            <a:r>
              <a:rPr lang="en-US" sz="1200" dirty="0">
                <a:solidFill>
                  <a:srgbClr val="AEB4A5"/>
                </a:solidFill>
                <a:latin typeface="Consolas" pitchFamily="34" charset="0"/>
                <a:ea typeface="Consolas" pitchFamily="34" charset="-122"/>
                <a:cs typeface="Consolas" pitchFamily="34" charset="-120"/>
              </a:rPr>
              <a:t>≈2,246 tokens · tiktoken proxy, payload verified via live MCP call      vs      ≈15,999 tokens · 4 files by hand</a:t>
            </a:r>
            <a:endParaRPr lang="en-US" sz="1200" dirty="0"/>
          </a:p>
        </p:txBody>
      </p:sp>
      <p:sp>
        <p:nvSpPr>
          <p:cNvPr id="9" name="Text 6"/>
          <p:cNvSpPr/>
          <p:nvPr/>
        </p:nvSpPr>
        <p:spPr>
          <a:xfrm>
            <a:off x="548640" y="6455664"/>
            <a:ext cx="11064240" cy="274320"/>
          </a:xfrm>
          <a:prstGeom prst="rect">
            <a:avLst/>
          </a:prstGeom>
          <a:noFill/>
          <a:ln/>
        </p:spPr>
        <p:txBody>
          <a:bodyPr wrap="square" rtlCol="0" anchor="ctr"/>
          <a:lstStyle/>
          <a:p>
            <a:pPr algn="ctr" indent="0" marL="0">
              <a:buNone/>
            </a:pPr>
            <a:r>
              <a:rPr lang="en-US" sz="950" i="1" dirty="0">
                <a:solidFill>
                  <a:srgbClr val="AEB4A5"/>
                </a:solidFill>
                <a:latin typeface="Calibri" pitchFamily="34" charset="0"/>
                <a:ea typeface="Calibri" pitchFamily="34" charset="-122"/>
                <a:cs typeface="Calibri" pitchFamily="34" charset="-120"/>
              </a:rPr>
              <a:t>Counts use tiktoken cl100k_base — a public proxy for Claude's tokenizer, which isn't published. The payloads are the exact serialized deep_query tool response.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01B"/>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D9A93A"/>
                </a:solidFill>
                <a:latin typeface="Consolas" pitchFamily="34" charset="0"/>
                <a:ea typeface="Consolas" pitchFamily="34" charset="-122"/>
                <a:cs typeface="Consolas" pitchFamily="34" charset="-120"/>
              </a:rPr>
              <a:t>WHY THIS EXISTS · THE HARD QUESTIONS</a:t>
            </a:r>
            <a:endParaRPr lang="en-US" sz="1100" dirty="0"/>
          </a:p>
        </p:txBody>
      </p:sp>
      <p:sp>
        <p:nvSpPr>
          <p:cNvPr id="3" name="Text 1"/>
          <p:cNvSpPr/>
          <p:nvPr/>
        </p:nvSpPr>
        <p:spPr>
          <a:xfrm>
            <a:off x="502920" y="868680"/>
            <a:ext cx="10972800" cy="822960"/>
          </a:xfrm>
          <a:prstGeom prst="rect">
            <a:avLst/>
          </a:prstGeom>
          <a:noFill/>
          <a:ln/>
        </p:spPr>
        <p:txBody>
          <a:bodyPr wrap="square" rtlCol="0" anchor="ctr"/>
          <a:lstStyle/>
          <a:p>
            <a:pPr indent="0" marL="0">
              <a:buNone/>
            </a:pPr>
            <a:r>
              <a:rPr lang="en-US" sz="3200" b="1" dirty="0">
                <a:solidFill>
                  <a:srgbClr val="EDEEE7"/>
                </a:solidFill>
                <a:latin typeface="Cambria" pitchFamily="34" charset="0"/>
                <a:ea typeface="Cambria" pitchFamily="34" charset="-122"/>
                <a:cs typeface="Cambria" pitchFamily="34" charset="-120"/>
              </a:rPr>
              <a:t>Reasoning, not just retrieval</a:t>
            </a:r>
            <a:endParaRPr lang="en-US" sz="3200" dirty="0"/>
          </a:p>
        </p:txBody>
      </p:sp>
      <p:sp>
        <p:nvSpPr>
          <p:cNvPr id="4" name="Text 2"/>
          <p:cNvSpPr/>
          <p:nvPr/>
        </p:nvSpPr>
        <p:spPr>
          <a:xfrm>
            <a:off x="548640" y="1737360"/>
            <a:ext cx="7315200" cy="1097280"/>
          </a:xfrm>
          <a:prstGeom prst="rect">
            <a:avLst/>
          </a:prstGeom>
          <a:noFill/>
          <a:ln/>
        </p:spPr>
        <p:txBody>
          <a:bodyPr wrap="square" rtlCol="0" anchor="ctr"/>
          <a:lstStyle/>
          <a:p>
            <a:pPr indent="0" marL="0">
              <a:lnSpc>
                <a:spcPts val="2000"/>
              </a:lnSpc>
              <a:buNone/>
            </a:pPr>
            <a:r>
              <a:rPr lang="en-US" sz="1500" dirty="0">
                <a:solidFill>
                  <a:srgbClr val="AEB4A5"/>
                </a:solidFill>
                <a:latin typeface="Calibri" pitchFamily="34" charset="0"/>
                <a:ea typeface="Calibri" pitchFamily="34" charset="-122"/>
                <a:cs typeface="Calibri" pitchFamily="34" charset="-120"/>
              </a:rPr>
              <a:t>The bug fix was about fewer tokens. A cross-tier question is about something the token count doesn't capture — one query assembles an answer that lives in six places at once.</a:t>
            </a:r>
            <a:endParaRPr lang="en-US" sz="1500" dirty="0"/>
          </a:p>
        </p:txBody>
      </p:sp>
      <p:sp>
        <p:nvSpPr>
          <p:cNvPr id="5" name="Text 3"/>
          <p:cNvSpPr/>
          <p:nvPr/>
        </p:nvSpPr>
        <p:spPr>
          <a:xfrm>
            <a:off x="8138160" y="1600200"/>
            <a:ext cx="3474720" cy="1188720"/>
          </a:xfrm>
          <a:prstGeom prst="rect">
            <a:avLst/>
          </a:prstGeom>
          <a:noFill/>
          <a:ln/>
        </p:spPr>
        <p:txBody>
          <a:bodyPr wrap="square" rtlCol="0" anchor="ctr"/>
          <a:lstStyle/>
          <a:p>
            <a:pPr algn="ctr" indent="0" marL="0">
              <a:buNone/>
            </a:pPr>
            <a:r>
              <a:rPr lang="en-US" sz="6400" b="1" dirty="0">
                <a:solidFill>
                  <a:srgbClr val="D9A93A"/>
                </a:solidFill>
                <a:latin typeface="Cambria" pitchFamily="34" charset="0"/>
                <a:ea typeface="Cambria" pitchFamily="34" charset="-122"/>
                <a:cs typeface="Cambria" pitchFamily="34" charset="-120"/>
              </a:rPr>
              <a:t>6 → 1</a:t>
            </a:r>
            <a:endParaRPr lang="en-US" sz="6400" dirty="0"/>
          </a:p>
        </p:txBody>
      </p:sp>
      <p:sp>
        <p:nvSpPr>
          <p:cNvPr id="6" name="Text 4"/>
          <p:cNvSpPr/>
          <p:nvPr/>
        </p:nvSpPr>
        <p:spPr>
          <a:xfrm>
            <a:off x="8138160" y="2788920"/>
            <a:ext cx="3474720" cy="365760"/>
          </a:xfrm>
          <a:prstGeom prst="rect">
            <a:avLst/>
          </a:prstGeom>
          <a:noFill/>
          <a:ln/>
        </p:spPr>
        <p:txBody>
          <a:bodyPr wrap="square" rtlCol="0" anchor="ctr"/>
          <a:lstStyle/>
          <a:p>
            <a:pPr algn="ctr" indent="0" marL="0">
              <a:buNone/>
            </a:pPr>
            <a:r>
              <a:rPr lang="en-US" sz="1300" dirty="0">
                <a:solidFill>
                  <a:srgbClr val="AEB4A5"/>
                </a:solidFill>
                <a:latin typeface="Calibri" pitchFamily="34" charset="0"/>
                <a:ea typeface="Calibri" pitchFamily="34" charset="-122"/>
                <a:cs typeface="Calibri" pitchFamily="34" charset="-120"/>
              </a:rPr>
              <a:t>sources, one deep_query</a:t>
            </a:r>
            <a:endParaRPr lang="en-US" sz="1300" dirty="0"/>
          </a:p>
        </p:txBody>
      </p:sp>
      <p:sp>
        <p:nvSpPr>
          <p:cNvPr id="7" name="Shape 5"/>
          <p:cNvSpPr/>
          <p:nvPr/>
        </p:nvSpPr>
        <p:spPr>
          <a:xfrm>
            <a:off x="548640" y="3246120"/>
            <a:ext cx="3566160" cy="548640"/>
          </a:xfrm>
          <a:prstGeom prst="roundRect">
            <a:avLst>
              <a:gd name="adj" fmla="val 10000"/>
            </a:avLst>
          </a:prstGeom>
          <a:solidFill>
            <a:srgbClr val="22302A"/>
          </a:solidFill>
          <a:ln w="12700">
            <a:solidFill>
              <a:srgbClr val="3A463D"/>
            </a:solidFill>
            <a:prstDash val="solid"/>
          </a:ln>
        </p:spPr>
      </p:sp>
      <p:sp>
        <p:nvSpPr>
          <p:cNvPr id="8" name="Text 6"/>
          <p:cNvSpPr/>
          <p:nvPr/>
        </p:nvSpPr>
        <p:spPr>
          <a:xfrm>
            <a:off x="749808" y="3246120"/>
            <a:ext cx="3200400" cy="548640"/>
          </a:xfrm>
          <a:prstGeom prst="rect">
            <a:avLst/>
          </a:prstGeom>
          <a:noFill/>
          <a:ln/>
        </p:spPr>
        <p:txBody>
          <a:bodyPr wrap="square" rtlCol="0" anchor="ctr"/>
          <a:lstStyle/>
          <a:p>
            <a:pPr indent="0" marL="0">
              <a:buNone/>
            </a:pPr>
            <a:r>
              <a:rPr lang="en-US" sz="1250" dirty="0">
                <a:solidFill>
                  <a:srgbClr val="EDEEE7"/>
                </a:solidFill>
                <a:latin typeface="Consolas" pitchFamily="34" charset="0"/>
                <a:ea typeface="Consolas" pitchFamily="34" charset="-122"/>
                <a:cs typeface="Consolas" pitchFamily="34" charset="-120"/>
              </a:rPr>
              <a:t>endpoint doc</a:t>
            </a:r>
            <a:endParaRPr lang="en-US" sz="1250" dirty="0"/>
          </a:p>
        </p:txBody>
      </p:sp>
      <p:sp>
        <p:nvSpPr>
          <p:cNvPr id="9" name="Shape 7"/>
          <p:cNvSpPr/>
          <p:nvPr/>
        </p:nvSpPr>
        <p:spPr>
          <a:xfrm>
            <a:off x="4343400" y="3246120"/>
            <a:ext cx="3566160" cy="548640"/>
          </a:xfrm>
          <a:prstGeom prst="roundRect">
            <a:avLst>
              <a:gd name="adj" fmla="val 10000"/>
            </a:avLst>
          </a:prstGeom>
          <a:solidFill>
            <a:srgbClr val="22302A"/>
          </a:solidFill>
          <a:ln w="12700">
            <a:solidFill>
              <a:srgbClr val="3A463D"/>
            </a:solidFill>
            <a:prstDash val="solid"/>
          </a:ln>
        </p:spPr>
      </p:sp>
      <p:sp>
        <p:nvSpPr>
          <p:cNvPr id="10" name="Text 8"/>
          <p:cNvSpPr/>
          <p:nvPr/>
        </p:nvSpPr>
        <p:spPr>
          <a:xfrm>
            <a:off x="4544568" y="3246120"/>
            <a:ext cx="3200400" cy="548640"/>
          </a:xfrm>
          <a:prstGeom prst="rect">
            <a:avLst/>
          </a:prstGeom>
          <a:noFill/>
          <a:ln/>
        </p:spPr>
        <p:txBody>
          <a:bodyPr wrap="square" rtlCol="0" anchor="ctr"/>
          <a:lstStyle/>
          <a:p>
            <a:pPr indent="0" marL="0">
              <a:buNone/>
            </a:pPr>
            <a:r>
              <a:rPr lang="en-US" sz="1250" dirty="0">
                <a:solidFill>
                  <a:srgbClr val="EDEEE7"/>
                </a:solidFill>
                <a:latin typeface="Consolas" pitchFamily="34" charset="0"/>
                <a:ea typeface="Consolas" pitchFamily="34" charset="-122"/>
                <a:cs typeface="Consolas" pitchFamily="34" charset="-120"/>
              </a:rPr>
              <a:t>data-store doc</a:t>
            </a:r>
            <a:endParaRPr lang="en-US" sz="1250" dirty="0"/>
          </a:p>
        </p:txBody>
      </p:sp>
      <p:sp>
        <p:nvSpPr>
          <p:cNvPr id="11" name="Shape 9"/>
          <p:cNvSpPr/>
          <p:nvPr/>
        </p:nvSpPr>
        <p:spPr>
          <a:xfrm>
            <a:off x="8138160" y="3246120"/>
            <a:ext cx="3566160" cy="548640"/>
          </a:xfrm>
          <a:prstGeom prst="roundRect">
            <a:avLst>
              <a:gd name="adj" fmla="val 10000"/>
            </a:avLst>
          </a:prstGeom>
          <a:solidFill>
            <a:srgbClr val="22302A"/>
          </a:solidFill>
          <a:ln w="12700">
            <a:solidFill>
              <a:srgbClr val="3A463D"/>
            </a:solidFill>
            <a:prstDash val="solid"/>
          </a:ln>
        </p:spPr>
      </p:sp>
      <p:sp>
        <p:nvSpPr>
          <p:cNvPr id="12" name="Text 10"/>
          <p:cNvSpPr/>
          <p:nvPr/>
        </p:nvSpPr>
        <p:spPr>
          <a:xfrm>
            <a:off x="8339328" y="3246120"/>
            <a:ext cx="3200400" cy="548640"/>
          </a:xfrm>
          <a:prstGeom prst="rect">
            <a:avLst/>
          </a:prstGeom>
          <a:noFill/>
          <a:ln/>
        </p:spPr>
        <p:txBody>
          <a:bodyPr wrap="square" rtlCol="0" anchor="ctr"/>
          <a:lstStyle/>
          <a:p>
            <a:pPr indent="0" marL="0">
              <a:buNone/>
            </a:pPr>
            <a:r>
              <a:rPr lang="en-US" sz="1250" dirty="0">
                <a:solidFill>
                  <a:srgbClr val="EDEEE7"/>
                </a:solidFill>
                <a:latin typeface="Consolas" pitchFamily="34" charset="0"/>
                <a:ea typeface="Consolas" pitchFamily="34" charset="-122"/>
                <a:cs typeface="Consolas" pitchFamily="34" charset="-120"/>
              </a:rPr>
              <a:t>controller</a:t>
            </a:r>
            <a:endParaRPr lang="en-US" sz="1250" dirty="0"/>
          </a:p>
        </p:txBody>
      </p:sp>
      <p:sp>
        <p:nvSpPr>
          <p:cNvPr id="13" name="Shape 11"/>
          <p:cNvSpPr/>
          <p:nvPr/>
        </p:nvSpPr>
        <p:spPr>
          <a:xfrm>
            <a:off x="548640" y="3959352"/>
            <a:ext cx="3566160" cy="548640"/>
          </a:xfrm>
          <a:prstGeom prst="roundRect">
            <a:avLst>
              <a:gd name="adj" fmla="val 10000"/>
            </a:avLst>
          </a:prstGeom>
          <a:solidFill>
            <a:srgbClr val="22302A"/>
          </a:solidFill>
          <a:ln w="12700">
            <a:solidFill>
              <a:srgbClr val="3A463D"/>
            </a:solidFill>
            <a:prstDash val="solid"/>
          </a:ln>
        </p:spPr>
      </p:sp>
      <p:sp>
        <p:nvSpPr>
          <p:cNvPr id="14" name="Text 12"/>
          <p:cNvSpPr/>
          <p:nvPr/>
        </p:nvSpPr>
        <p:spPr>
          <a:xfrm>
            <a:off x="749808" y="3959352"/>
            <a:ext cx="3200400" cy="548640"/>
          </a:xfrm>
          <a:prstGeom prst="rect">
            <a:avLst/>
          </a:prstGeom>
          <a:noFill/>
          <a:ln/>
        </p:spPr>
        <p:txBody>
          <a:bodyPr wrap="square" rtlCol="0" anchor="ctr"/>
          <a:lstStyle/>
          <a:p>
            <a:pPr indent="0" marL="0">
              <a:buNone/>
            </a:pPr>
            <a:r>
              <a:rPr lang="en-US" sz="1250" dirty="0">
                <a:solidFill>
                  <a:srgbClr val="EDEEE7"/>
                </a:solidFill>
                <a:latin typeface="Consolas" pitchFamily="34" charset="0"/>
                <a:ea typeface="Consolas" pitchFamily="34" charset="-122"/>
                <a:cs typeface="Consolas" pitchFamily="34" charset="-120"/>
              </a:rPr>
              <a:t>service</a:t>
            </a:r>
            <a:endParaRPr lang="en-US" sz="1250" dirty="0"/>
          </a:p>
        </p:txBody>
      </p:sp>
      <p:sp>
        <p:nvSpPr>
          <p:cNvPr id="15" name="Shape 13"/>
          <p:cNvSpPr/>
          <p:nvPr/>
        </p:nvSpPr>
        <p:spPr>
          <a:xfrm>
            <a:off x="4343400" y="3959352"/>
            <a:ext cx="3566160" cy="548640"/>
          </a:xfrm>
          <a:prstGeom prst="roundRect">
            <a:avLst>
              <a:gd name="adj" fmla="val 10000"/>
            </a:avLst>
          </a:prstGeom>
          <a:solidFill>
            <a:srgbClr val="22302A"/>
          </a:solidFill>
          <a:ln w="12700">
            <a:solidFill>
              <a:srgbClr val="3A463D"/>
            </a:solidFill>
            <a:prstDash val="solid"/>
          </a:ln>
        </p:spPr>
      </p:sp>
      <p:sp>
        <p:nvSpPr>
          <p:cNvPr id="16" name="Text 14"/>
          <p:cNvSpPr/>
          <p:nvPr/>
        </p:nvSpPr>
        <p:spPr>
          <a:xfrm>
            <a:off x="4544568" y="3959352"/>
            <a:ext cx="3200400" cy="548640"/>
          </a:xfrm>
          <a:prstGeom prst="rect">
            <a:avLst/>
          </a:prstGeom>
          <a:noFill/>
          <a:ln/>
        </p:spPr>
        <p:txBody>
          <a:bodyPr wrap="square" rtlCol="0" anchor="ctr"/>
          <a:lstStyle/>
          <a:p>
            <a:pPr indent="0" marL="0">
              <a:buNone/>
            </a:pPr>
            <a:r>
              <a:rPr lang="en-US" sz="1250" dirty="0">
                <a:solidFill>
                  <a:srgbClr val="EDEEE7"/>
                </a:solidFill>
                <a:latin typeface="Consolas" pitchFamily="34" charset="0"/>
                <a:ea typeface="Consolas" pitchFamily="34" charset="-122"/>
                <a:cs typeface="Consolas" pitchFamily="34" charset="-120"/>
              </a:rPr>
              <a:t>repository</a:t>
            </a:r>
            <a:endParaRPr lang="en-US" sz="1250" dirty="0"/>
          </a:p>
        </p:txBody>
      </p:sp>
      <p:sp>
        <p:nvSpPr>
          <p:cNvPr id="17" name="Shape 15"/>
          <p:cNvSpPr/>
          <p:nvPr/>
        </p:nvSpPr>
        <p:spPr>
          <a:xfrm>
            <a:off x="8138160" y="3959352"/>
            <a:ext cx="3566160" cy="548640"/>
          </a:xfrm>
          <a:prstGeom prst="roundRect">
            <a:avLst>
              <a:gd name="adj" fmla="val 10000"/>
            </a:avLst>
          </a:prstGeom>
          <a:solidFill>
            <a:srgbClr val="22302A"/>
          </a:solidFill>
          <a:ln w="12700">
            <a:solidFill>
              <a:srgbClr val="3A463D"/>
            </a:solidFill>
            <a:prstDash val="solid"/>
          </a:ln>
        </p:spPr>
      </p:sp>
      <p:sp>
        <p:nvSpPr>
          <p:cNvPr id="18" name="Text 16"/>
          <p:cNvSpPr/>
          <p:nvPr/>
        </p:nvSpPr>
        <p:spPr>
          <a:xfrm>
            <a:off x="8339328" y="3959352"/>
            <a:ext cx="3200400" cy="548640"/>
          </a:xfrm>
          <a:prstGeom prst="rect">
            <a:avLst/>
          </a:prstGeom>
          <a:noFill/>
          <a:ln/>
        </p:spPr>
        <p:txBody>
          <a:bodyPr wrap="square" rtlCol="0" anchor="ctr"/>
          <a:lstStyle/>
          <a:p>
            <a:pPr indent="0" marL="0">
              <a:buNone/>
            </a:pPr>
            <a:r>
              <a:rPr lang="en-US" sz="1250" dirty="0">
                <a:solidFill>
                  <a:srgbClr val="EDEEE7"/>
                </a:solidFill>
                <a:latin typeface="Consolas" pitchFamily="34" charset="0"/>
                <a:ea typeface="Consolas" pitchFamily="34" charset="-122"/>
                <a:cs typeface="Consolas" pitchFamily="34" charset="-120"/>
              </a:rPr>
              <a:t>entity</a:t>
            </a:r>
            <a:endParaRPr lang="en-US" sz="1250" dirty="0"/>
          </a:p>
        </p:txBody>
      </p:sp>
      <p:sp>
        <p:nvSpPr>
          <p:cNvPr id="19" name="Text 17"/>
          <p:cNvSpPr/>
          <p:nvPr/>
        </p:nvSpPr>
        <p:spPr>
          <a:xfrm>
            <a:off x="548640" y="4846320"/>
            <a:ext cx="10972800" cy="457200"/>
          </a:xfrm>
          <a:prstGeom prst="rect">
            <a:avLst/>
          </a:prstGeom>
          <a:noFill/>
          <a:ln/>
        </p:spPr>
        <p:txBody>
          <a:bodyPr wrap="square" rtlCol="0" anchor="ctr"/>
          <a:lstStyle/>
          <a:p>
            <a:pPr indent="0" marL="0">
              <a:buNone/>
            </a:pPr>
            <a:r>
              <a:rPr lang="en-US" sz="1250" i="1" dirty="0">
                <a:solidFill>
                  <a:srgbClr val="AEB4A5"/>
                </a:solidFill>
                <a:latin typeface="Calibri" pitchFamily="34" charset="0"/>
                <a:ea typeface="Calibri" pitchFamily="34" charset="-122"/>
                <a:cs typeface="Calibri" pitchFamily="34" charset="-120"/>
              </a:rPr>
              <a:t>“How does a Total Prep group-performance request flow from the controller to the MongoDB collection?” — spanning Confluence + 3 code projects.</a:t>
            </a:r>
            <a:endParaRPr lang="en-US" sz="1250" dirty="0"/>
          </a:p>
        </p:txBody>
      </p:sp>
      <p:sp>
        <p:nvSpPr>
          <p:cNvPr id="20" name="Text 18"/>
          <p:cNvSpPr/>
          <p:nvPr/>
        </p:nvSpPr>
        <p:spPr>
          <a:xfrm>
            <a:off x="548640" y="5349240"/>
            <a:ext cx="11064240" cy="914400"/>
          </a:xfrm>
          <a:prstGeom prst="rect">
            <a:avLst/>
          </a:prstGeom>
          <a:noFill/>
          <a:ln/>
        </p:spPr>
        <p:txBody>
          <a:bodyPr wrap="square" rtlCol="0" anchor="ctr"/>
          <a:lstStyle/>
          <a:p>
            <a:pPr indent="0" marL="0">
              <a:lnSpc>
                <a:spcPts val="1800"/>
              </a:lnSpc>
              <a:buNone/>
            </a:pPr>
            <a:r>
              <a:rPr lang="en-US" sz="1300" b="1" dirty="0">
                <a:solidFill>
                  <a:srgbClr val="EDEEE7"/>
                </a:solidFill>
                <a:latin typeface="Consolas" pitchFamily="34" charset="0"/>
                <a:ea typeface="Consolas" pitchFamily="34" charset="-122"/>
                <a:cs typeface="Consolas" pitchFamily="34" charset="-120"/>
              </a:rPr>
              <a:t>~3,542 tokens</a:t>
            </a:r>
            <a:pPr indent="0" marL="0">
              <a:lnSpc>
                <a:spcPts val="1800"/>
              </a:lnSpc>
              <a:buNone/>
            </a:pPr>
            <a:r>
              <a:rPr lang="en-US" sz="1300" dirty="0">
                <a:solidFill>
                  <a:srgbClr val="AEB4A5"/>
                </a:solidFill>
                <a:latin typeface="Calibri" pitchFamily="34" charset="0"/>
                <a:ea typeface="Calibri" pitchFamily="34" charset="-122"/>
                <a:cs typeface="Calibri" pitchFamily="34" charset="-120"/>
              </a:rPr>
              <a:t> — about the same as reading those six by hand (~4,900). The win here isn't fewer tokens; it's that the model gets the whole controller → service → repository → DB answer in one call, and never hunts for which files to open.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0F8A80"/>
                </a:solidFill>
                <a:latin typeface="Consolas" pitchFamily="34" charset="0"/>
                <a:ea typeface="Consolas" pitchFamily="34" charset="-122"/>
                <a:cs typeface="Consolas" pitchFamily="34" charset="-120"/>
              </a:rPr>
              <a:t>MEASURED · COST BY QUESTION TYPE</a:t>
            </a:r>
            <a:endParaRPr lang="en-US" sz="1100" dirty="0"/>
          </a:p>
        </p:txBody>
      </p:sp>
      <p:sp>
        <p:nvSpPr>
          <p:cNvPr id="3" name="Text 1"/>
          <p:cNvSpPr/>
          <p:nvPr/>
        </p:nvSpPr>
        <p:spPr>
          <a:xfrm>
            <a:off x="502920" y="868680"/>
            <a:ext cx="11155680" cy="822960"/>
          </a:xfrm>
          <a:prstGeom prst="rect">
            <a:avLst/>
          </a:prstGeom>
          <a:noFill/>
          <a:ln/>
        </p:spPr>
        <p:txBody>
          <a:bodyPr wrap="square" rtlCol="0" anchor="ctr"/>
          <a:lstStyle/>
          <a:p>
            <a:pPr indent="0" marL="0">
              <a:buNone/>
            </a:pPr>
            <a:r>
              <a:rPr lang="en-US" sz="3000" b="1" dirty="0">
                <a:solidFill>
                  <a:srgbClr val="1A1F1C"/>
                </a:solidFill>
                <a:latin typeface="Cambria" pitchFamily="34" charset="0"/>
                <a:ea typeface="Cambria" pitchFamily="34" charset="-122"/>
                <a:cs typeface="Cambria" pitchFamily="34" charset="-120"/>
              </a:rPr>
              <a:t>Cost scales with the question — the way you'd want</a:t>
            </a:r>
            <a:endParaRPr lang="en-US" sz="3000" dirty="0"/>
          </a:p>
        </p:txBody>
      </p:sp>
      <p:sp>
        <p:nvSpPr>
          <p:cNvPr id="4" name="Text 2"/>
          <p:cNvSpPr/>
          <p:nvPr/>
        </p:nvSpPr>
        <p:spPr>
          <a:xfrm>
            <a:off x="548640" y="1737360"/>
            <a:ext cx="10972800" cy="731520"/>
          </a:xfrm>
          <a:prstGeom prst="rect">
            <a:avLst/>
          </a:prstGeom>
          <a:noFill/>
          <a:ln/>
        </p:spPr>
        <p:txBody>
          <a:bodyPr wrap="square" rtlCol="0" anchor="ctr"/>
          <a:lstStyle/>
          <a:p>
            <a:pPr indent="0" marL="0">
              <a:buNone/>
            </a:pPr>
            <a:r>
              <a:rPr lang="en-US" sz="1500" dirty="0">
                <a:solidFill>
                  <a:srgbClr val="5A6055"/>
                </a:solidFill>
                <a:latin typeface="Calibri" pitchFamily="34" charset="0"/>
                <a:ea typeface="Calibri" pitchFamily="34" charset="-122"/>
                <a:cs typeface="Calibri" pitchFamily="34" charset="-120"/>
              </a:rPr>
              <a:t>The system serves three kinds of question. A caller sizes retrieval to intent — narrow for a bug, wider to scope a feature — and the payload tracks it. Full tool-payload tokens (tiktoken proxy), one representative question each.</a:t>
            </a:r>
            <a:endParaRPr lang="en-US" sz="1500" dirty="0"/>
          </a:p>
        </p:txBody>
      </p:sp>
      <p:graphicFrame>
        <p:nvGraphicFramePr>
          <p:cNvPr id="5" name="Chart 0" descr=""/>
          <p:cNvGraphicFramePr/>
          <p:nvPr/>
        </p:nvGraphicFramePr>
        <p:xfrm>
          <a:off x="548640" y="2606040"/>
          <a:ext cx="704088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955280" y="2697480"/>
            <a:ext cx="3657600" cy="3383280"/>
          </a:xfrm>
          <a:prstGeom prst="roundRect">
            <a:avLst>
              <a:gd name="adj" fmla="val 2162"/>
            </a:avLst>
          </a:prstGeom>
          <a:solidFill>
            <a:srgbClr val="F1F3EE"/>
          </a:solidFill>
          <a:ln w="12700">
            <a:solidFill>
              <a:srgbClr val="E2E5DD"/>
            </a:solidFill>
            <a:prstDash val="solid"/>
          </a:ln>
        </p:spPr>
      </p:sp>
      <p:sp>
        <p:nvSpPr>
          <p:cNvPr id="7" name="Text 4"/>
          <p:cNvSpPr/>
          <p:nvPr/>
        </p:nvSpPr>
        <p:spPr>
          <a:xfrm>
            <a:off x="8183880" y="2880360"/>
            <a:ext cx="3200400" cy="365760"/>
          </a:xfrm>
          <a:prstGeom prst="rect">
            <a:avLst/>
          </a:prstGeom>
          <a:noFill/>
          <a:ln/>
        </p:spPr>
        <p:txBody>
          <a:bodyPr wrap="square" rtlCol="0" anchor="ctr"/>
          <a:lstStyle/>
          <a:p>
            <a:pPr indent="0" marL="0">
              <a:buNone/>
            </a:pPr>
            <a:r>
              <a:rPr lang="en-US" sz="1600" b="1" dirty="0">
                <a:solidFill>
                  <a:srgbClr val="1A1F1C"/>
                </a:solidFill>
                <a:latin typeface="Cambria" pitchFamily="34" charset="0"/>
                <a:ea typeface="Cambria" pitchFamily="34" charset="-122"/>
                <a:cs typeface="Cambria" pitchFamily="34" charset="-120"/>
              </a:rPr>
              <a:t>Why it stays cheap</a:t>
            </a:r>
            <a:endParaRPr lang="en-US" sz="1600" dirty="0"/>
          </a:p>
        </p:txBody>
      </p:sp>
      <p:sp>
        <p:nvSpPr>
          <p:cNvPr id="8" name="Text 5"/>
          <p:cNvSpPr/>
          <p:nvPr/>
        </p:nvSpPr>
        <p:spPr>
          <a:xfrm>
            <a:off x="8183880" y="3291840"/>
            <a:ext cx="3246120" cy="2651760"/>
          </a:xfrm>
          <a:prstGeom prst="rect">
            <a:avLst/>
          </a:prstGeom>
          <a:noFill/>
          <a:ln/>
        </p:spPr>
        <p:txBody>
          <a:bodyPr wrap="square" rtlCol="0" anchor="t"/>
          <a:lstStyle/>
          <a:p>
            <a:pPr indent="0" marL="0">
              <a:lnSpc>
                <a:spcPts val="1700"/>
              </a:lnSpc>
              <a:buNone/>
            </a:pPr>
            <a:r>
              <a:rPr lang="en-US" sz="1300" b="1" dirty="0">
                <a:solidFill>
                  <a:srgbClr val="1A1F1C"/>
                </a:solidFill>
                <a:latin typeface="Calibri" pitchFamily="34" charset="0"/>
                <a:ea typeface="Calibri" pitchFamily="34" charset="-122"/>
                <a:cs typeface="Calibri" pitchFamily="34" charset="-120"/>
              </a:rPr>
              <a:t>The code half stays lean</a:t>
            </a:r>
            <a:pPr indent="0" marL="0">
              <a:lnSpc>
                <a:spcPts val="1700"/>
              </a:lnSpc>
              <a:buNone/>
            </a:pPr>
            <a:r>
              <a:rPr lang="en-US" sz="1300" dirty="0">
                <a:solidFill>
                  <a:srgbClr val="5A6055"/>
                </a:solidFill>
                <a:latin typeface="Calibri" pitchFamily="34" charset="0"/>
                <a:ea typeface="Calibri" pitchFamily="34" charset="-122"/>
                <a:cs typeface="Calibri" pitchFamily="34" charset="-120"/>
              </a:rPr>
              <a:t> — citation-first retrieval inlines only the top method and cites the rest.
</a:t>
            </a:r>
            <a:pPr indent="0" marL="0">
              <a:lnSpc>
                <a:spcPts val="1700"/>
              </a:lnSpc>
              <a:buNone/>
            </a:pPr>
            <a:r>
              <a:rPr lang="en-US" sz="1300" dirty="0">
                <a:solidFill>
                  <a:srgbClr val="5A6055"/>
                </a:solidFill>
                <a:latin typeface="Calibri" pitchFamily="34" charset="0"/>
                <a:ea typeface="Calibri" pitchFamily="34" charset="-122"/>
                <a:cs typeface="Calibri" pitchFamily="34" charset="-120"/>
              </a:rPr>
              <a:t>So growth is the documentation breadth a caller </a:t>
            </a:r>
            <a:pPr indent="0" marL="0">
              <a:lnSpc>
                <a:spcPts val="1700"/>
              </a:lnSpc>
              <a:buNone/>
            </a:pPr>
            <a:r>
              <a:rPr lang="en-US" sz="1300" i="1" dirty="0">
                <a:solidFill>
                  <a:srgbClr val="1A1F1C"/>
                </a:solidFill>
                <a:latin typeface="Calibri" pitchFamily="34" charset="0"/>
                <a:ea typeface="Calibri" pitchFamily="34" charset="-122"/>
                <a:cs typeface="Calibri" pitchFamily="34" charset="-120"/>
              </a:rPr>
              <a:t>explicitly asked for</a:t>
            </a:r>
            <a:pPr indent="0" marL="0">
              <a:lnSpc>
                <a:spcPts val="1700"/>
              </a:lnSpc>
              <a:buNone/>
            </a:pPr>
            <a:r>
              <a:rPr lang="en-US" sz="1300" dirty="0">
                <a:solidFill>
                  <a:srgbClr val="5A6055"/>
                </a:solidFill>
                <a:latin typeface="Calibri" pitchFamily="34" charset="0"/>
                <a:ea typeface="Calibri" pitchFamily="34" charset="-122"/>
                <a:cs typeface="Calibri" pitchFamily="34" charset="-120"/>
              </a:rPr>
              <a:t> — never runaway cost. Even the widest scope stays ~4.5k.</a:t>
            </a:r>
            <a:endParaRPr lang="en-US" sz="1300" dirty="0"/>
          </a:p>
        </p:txBody>
      </p:sp>
      <p:sp>
        <p:nvSpPr>
          <p:cNvPr id="9" name="Text 6"/>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10" name="Text 7"/>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5B57A6"/>
                </a:solidFill>
                <a:latin typeface="Consolas" pitchFamily="34" charset="0"/>
                <a:ea typeface="Consolas" pitchFamily="34" charset="-122"/>
                <a:cs typeface="Consolas" pitchFamily="34" charset="-120"/>
              </a:rPr>
              <a:t>MEASURED · THE PAYLOAD WAS THEN SQUEEZED</a:t>
            </a:r>
            <a:endParaRPr lang="en-US" sz="1100" dirty="0"/>
          </a:p>
        </p:txBody>
      </p:sp>
      <p:sp>
        <p:nvSpPr>
          <p:cNvPr id="3" name="Text 1"/>
          <p:cNvSpPr/>
          <p:nvPr/>
        </p:nvSpPr>
        <p:spPr>
          <a:xfrm>
            <a:off x="502920" y="868680"/>
            <a:ext cx="11155680" cy="822960"/>
          </a:xfrm>
          <a:prstGeom prst="rect">
            <a:avLst/>
          </a:prstGeom>
          <a:noFill/>
          <a:ln/>
        </p:spPr>
        <p:txBody>
          <a:bodyPr wrap="square" rtlCol="0" anchor="ctr"/>
          <a:lstStyle/>
          <a:p>
            <a:pPr indent="0" marL="0">
              <a:buNone/>
            </a:pPr>
            <a:r>
              <a:rPr lang="en-US" sz="3000" b="1" dirty="0">
                <a:solidFill>
                  <a:srgbClr val="1A1F1C"/>
                </a:solidFill>
                <a:latin typeface="Cambria" pitchFamily="34" charset="0"/>
                <a:ea typeface="Cambria" pitchFamily="34" charset="-122"/>
                <a:cs typeface="Cambria" pitchFamily="34" charset="-120"/>
              </a:rPr>
              <a:t>Retrieve narrow, inline less, cap the rest</a:t>
            </a:r>
            <a:endParaRPr lang="en-US" sz="3000" dirty="0"/>
          </a:p>
        </p:txBody>
      </p:sp>
      <p:sp>
        <p:nvSpPr>
          <p:cNvPr id="4" name="Text 2"/>
          <p:cNvSpPr/>
          <p:nvPr/>
        </p:nvSpPr>
        <p:spPr>
          <a:xfrm>
            <a:off x="548640" y="1737360"/>
            <a:ext cx="10972800" cy="731520"/>
          </a:xfrm>
          <a:prstGeom prst="rect">
            <a:avLst/>
          </a:prstGeom>
          <a:noFill/>
          <a:ln/>
        </p:spPr>
        <p:txBody>
          <a:bodyPr wrap="square" rtlCol="0" anchor="ctr"/>
          <a:lstStyle/>
          <a:p>
            <a:pPr indent="0" marL="0">
              <a:buNone/>
            </a:pPr>
            <a:r>
              <a:rPr lang="en-US" sz="1500" dirty="0">
                <a:solidFill>
                  <a:srgbClr val="5A6055"/>
                </a:solidFill>
                <a:latin typeface="Calibri" pitchFamily="34" charset="0"/>
                <a:ea typeface="Calibri" pitchFamily="34" charset="-122"/>
                <a:cs typeface="Calibri" pitchFamily="34" charset="-120"/>
              </a:rPr>
              <a:t>A dedicated token-economy pass tuned how much each call returns — retrieve narrow first, inline only the top code chunks (cite the rest), drop weak hits, cap the payload. Recorded before → after:</a:t>
            </a:r>
            <a:endParaRPr lang="en-US" sz="1500" dirty="0"/>
          </a:p>
        </p:txBody>
      </p:sp>
      <p:graphicFrame>
        <p:nvGraphicFramePr>
          <p:cNvPr id="5" name="Chart 0" descr=""/>
          <p:cNvGraphicFramePr/>
          <p:nvPr/>
        </p:nvGraphicFramePr>
        <p:xfrm>
          <a:off x="548640" y="2651760"/>
          <a:ext cx="7863840" cy="34747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686800" y="2788920"/>
            <a:ext cx="2926080" cy="548640"/>
          </a:xfrm>
          <a:prstGeom prst="rect">
            <a:avLst/>
          </a:prstGeom>
          <a:noFill/>
          <a:ln/>
        </p:spPr>
        <p:txBody>
          <a:bodyPr wrap="square" rtlCol="0" anchor="ctr"/>
          <a:lstStyle/>
          <a:p>
            <a:pPr indent="0" marL="0">
              <a:buNone/>
            </a:pPr>
            <a:r>
              <a:rPr lang="en-US" sz="3400" b="1" dirty="0">
                <a:solidFill>
                  <a:srgbClr val="2F7D5C"/>
                </a:solidFill>
                <a:latin typeface="Cambria" pitchFamily="34" charset="0"/>
                <a:ea typeface="Cambria" pitchFamily="34" charset="-122"/>
                <a:cs typeface="Cambria" pitchFamily="34" charset="-120"/>
              </a:rPr>
              <a:t>−80%</a:t>
            </a:r>
            <a:endParaRPr lang="en-US" sz="3400" dirty="0"/>
          </a:p>
        </p:txBody>
      </p:sp>
      <p:sp>
        <p:nvSpPr>
          <p:cNvPr id="7" name="Text 4"/>
          <p:cNvSpPr/>
          <p:nvPr/>
        </p:nvSpPr>
        <p:spPr>
          <a:xfrm>
            <a:off x="8732520" y="3383280"/>
            <a:ext cx="2926080" cy="274320"/>
          </a:xfrm>
          <a:prstGeom prst="rect">
            <a:avLst/>
          </a:prstGeom>
          <a:noFill/>
          <a:ln/>
        </p:spPr>
        <p:txBody>
          <a:bodyPr wrap="square" rtlCol="0" anchor="ctr"/>
          <a:lstStyle/>
          <a:p>
            <a:pPr indent="0" marL="0">
              <a:buNone/>
            </a:pPr>
            <a:r>
              <a:rPr lang="en-US" sz="1200" dirty="0">
                <a:solidFill>
                  <a:srgbClr val="5A6055"/>
                </a:solidFill>
                <a:latin typeface="Calibri" pitchFamily="34" charset="0"/>
                <a:ea typeface="Calibri" pitchFamily="34" charset="-122"/>
                <a:cs typeface="Calibri" pitchFamily="34" charset="-120"/>
              </a:rPr>
              <a:t>deep_query</a:t>
            </a:r>
            <a:endParaRPr lang="en-US" sz="1200" dirty="0"/>
          </a:p>
        </p:txBody>
      </p:sp>
      <p:sp>
        <p:nvSpPr>
          <p:cNvPr id="8" name="Text 5"/>
          <p:cNvSpPr/>
          <p:nvPr/>
        </p:nvSpPr>
        <p:spPr>
          <a:xfrm>
            <a:off x="8686800" y="3886200"/>
            <a:ext cx="2926080" cy="548640"/>
          </a:xfrm>
          <a:prstGeom prst="rect">
            <a:avLst/>
          </a:prstGeom>
          <a:noFill/>
          <a:ln/>
        </p:spPr>
        <p:txBody>
          <a:bodyPr wrap="square" rtlCol="0" anchor="ctr"/>
          <a:lstStyle/>
          <a:p>
            <a:pPr indent="0" marL="0">
              <a:buNone/>
            </a:pPr>
            <a:r>
              <a:rPr lang="en-US" sz="3400" b="1" dirty="0">
                <a:solidFill>
                  <a:srgbClr val="2F7D5C"/>
                </a:solidFill>
                <a:latin typeface="Cambria" pitchFamily="34" charset="0"/>
                <a:ea typeface="Cambria" pitchFamily="34" charset="-122"/>
                <a:cs typeface="Cambria" pitchFamily="34" charset="-120"/>
              </a:rPr>
              <a:t>−71%</a:t>
            </a:r>
            <a:endParaRPr lang="en-US" sz="3400" dirty="0"/>
          </a:p>
        </p:txBody>
      </p:sp>
      <p:sp>
        <p:nvSpPr>
          <p:cNvPr id="9" name="Text 6"/>
          <p:cNvSpPr/>
          <p:nvPr/>
        </p:nvSpPr>
        <p:spPr>
          <a:xfrm>
            <a:off x="8732520" y="4480560"/>
            <a:ext cx="2926080" cy="274320"/>
          </a:xfrm>
          <a:prstGeom prst="rect">
            <a:avLst/>
          </a:prstGeom>
          <a:noFill/>
          <a:ln/>
        </p:spPr>
        <p:txBody>
          <a:bodyPr wrap="square" rtlCol="0" anchor="ctr"/>
          <a:lstStyle/>
          <a:p>
            <a:pPr indent="0" marL="0">
              <a:buNone/>
            </a:pPr>
            <a:r>
              <a:rPr lang="en-US" sz="1200" dirty="0">
                <a:solidFill>
                  <a:srgbClr val="5A6055"/>
                </a:solidFill>
                <a:latin typeface="Calibri" pitchFamily="34" charset="0"/>
                <a:ea typeface="Calibri" pitchFamily="34" charset="-122"/>
                <a:cs typeface="Calibri" pitchFamily="34" charset="-120"/>
              </a:rPr>
              <a:t>docs retrieval</a:t>
            </a:r>
            <a:endParaRPr lang="en-US" sz="1200" dirty="0"/>
          </a:p>
        </p:txBody>
      </p:sp>
      <p:sp>
        <p:nvSpPr>
          <p:cNvPr id="10" name="Text 7"/>
          <p:cNvSpPr/>
          <p:nvPr/>
        </p:nvSpPr>
        <p:spPr>
          <a:xfrm>
            <a:off x="8686800" y="4983480"/>
            <a:ext cx="2926080" cy="548640"/>
          </a:xfrm>
          <a:prstGeom prst="rect">
            <a:avLst/>
          </a:prstGeom>
          <a:noFill/>
          <a:ln/>
        </p:spPr>
        <p:txBody>
          <a:bodyPr wrap="square" rtlCol="0" anchor="ctr"/>
          <a:lstStyle/>
          <a:p>
            <a:pPr indent="0" marL="0">
              <a:buNone/>
            </a:pPr>
            <a:r>
              <a:rPr lang="en-US" sz="3400" b="1" dirty="0">
                <a:solidFill>
                  <a:srgbClr val="2F7D5C"/>
                </a:solidFill>
                <a:latin typeface="Cambria" pitchFamily="34" charset="0"/>
                <a:ea typeface="Cambria" pitchFamily="34" charset="-122"/>
                <a:cs typeface="Cambria" pitchFamily="34" charset="-120"/>
              </a:rPr>
              <a:t>−33%</a:t>
            </a:r>
            <a:endParaRPr lang="en-US" sz="3400" dirty="0"/>
          </a:p>
        </p:txBody>
      </p:sp>
      <p:sp>
        <p:nvSpPr>
          <p:cNvPr id="11" name="Text 8"/>
          <p:cNvSpPr/>
          <p:nvPr/>
        </p:nvSpPr>
        <p:spPr>
          <a:xfrm>
            <a:off x="8732520" y="5577840"/>
            <a:ext cx="2926080" cy="274320"/>
          </a:xfrm>
          <a:prstGeom prst="rect">
            <a:avLst/>
          </a:prstGeom>
          <a:noFill/>
          <a:ln/>
        </p:spPr>
        <p:txBody>
          <a:bodyPr wrap="square" rtlCol="0" anchor="ctr"/>
          <a:lstStyle/>
          <a:p>
            <a:pPr indent="0" marL="0">
              <a:buNone/>
            </a:pPr>
            <a:r>
              <a:rPr lang="en-US" sz="1200" dirty="0">
                <a:solidFill>
                  <a:srgbClr val="5A6055"/>
                </a:solidFill>
                <a:latin typeface="Calibri" pitchFamily="34" charset="0"/>
                <a:ea typeface="Calibri" pitchFamily="34" charset="-122"/>
                <a:cs typeface="Calibri" pitchFamily="34" charset="-120"/>
              </a:rPr>
              <a:t>reports eval</a:t>
            </a:r>
            <a:endParaRPr lang="en-US" sz="1200" dirty="0"/>
          </a:p>
        </p:txBody>
      </p:sp>
      <p:sp>
        <p:nvSpPr>
          <p:cNvPr id="12" name="Text 9"/>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13" name="Text 10"/>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2F7D5C"/>
                </a:solidFill>
                <a:latin typeface="Consolas" pitchFamily="34" charset="0"/>
                <a:ea typeface="Consolas" pitchFamily="34" charset="-122"/>
                <a:cs typeface="Consolas" pitchFamily="34" charset="-120"/>
              </a:rPr>
              <a:t>TRUST</a:t>
            </a:r>
            <a:endParaRPr lang="en-US" sz="1100" dirty="0"/>
          </a:p>
        </p:txBody>
      </p:sp>
      <p:sp>
        <p:nvSpPr>
          <p:cNvPr id="3" name="Text 1"/>
          <p:cNvSpPr/>
          <p:nvPr/>
        </p:nvSpPr>
        <p:spPr>
          <a:xfrm>
            <a:off x="502920" y="868680"/>
            <a:ext cx="11155680" cy="822960"/>
          </a:xfrm>
          <a:prstGeom prst="rect">
            <a:avLst/>
          </a:prstGeom>
          <a:noFill/>
          <a:ln/>
        </p:spPr>
        <p:txBody>
          <a:bodyPr wrap="square" rtlCol="0" anchor="ctr"/>
          <a:lstStyle/>
          <a:p>
            <a:pPr indent="0" marL="0">
              <a:buNone/>
            </a:pPr>
            <a:r>
              <a:rPr lang="en-US" sz="3000" b="1" dirty="0">
                <a:solidFill>
                  <a:srgbClr val="1A1F1C"/>
                </a:solidFill>
                <a:latin typeface="Cambria" pitchFamily="34" charset="0"/>
                <a:ea typeface="Cambria" pitchFamily="34" charset="-122"/>
                <a:cs typeface="Cambria" pitchFamily="34" charset="-120"/>
              </a:rPr>
              <a:t>The savings didn't come from worse answers</a:t>
            </a:r>
            <a:endParaRPr lang="en-US" sz="3000" dirty="0"/>
          </a:p>
        </p:txBody>
      </p:sp>
      <p:sp>
        <p:nvSpPr>
          <p:cNvPr id="4" name="Text 2"/>
          <p:cNvSpPr/>
          <p:nvPr/>
        </p:nvSpPr>
        <p:spPr>
          <a:xfrm>
            <a:off x="548640" y="1737360"/>
            <a:ext cx="10972800" cy="457200"/>
          </a:xfrm>
          <a:prstGeom prst="rect">
            <a:avLst/>
          </a:prstGeom>
          <a:noFill/>
          <a:ln/>
        </p:spPr>
        <p:txBody>
          <a:bodyPr wrap="square" rtlCol="0" anchor="ctr"/>
          <a:lstStyle/>
          <a:p>
            <a:pPr indent="0" marL="0">
              <a:buNone/>
            </a:pPr>
            <a:r>
              <a:rPr lang="en-US" sz="1500" dirty="0">
                <a:solidFill>
                  <a:srgbClr val="5A6055"/>
                </a:solidFill>
                <a:latin typeface="Calibri" pitchFamily="34" charset="0"/>
                <a:ea typeface="Calibri" pitchFamily="34" charset="-122"/>
                <a:cs typeface="Calibri" pitchFamily="34" charset="-120"/>
              </a:rPr>
              <a:t>Every change was verified end-to-end before it shipped — a clean wipe-and-rebuild this week reproduced all of it.</a:t>
            </a:r>
            <a:endParaRPr lang="en-US" sz="1500" dirty="0"/>
          </a:p>
        </p:txBody>
      </p:sp>
      <p:sp>
        <p:nvSpPr>
          <p:cNvPr id="5" name="Shape 3"/>
          <p:cNvSpPr/>
          <p:nvPr/>
        </p:nvSpPr>
        <p:spPr>
          <a:xfrm>
            <a:off x="548640" y="2468880"/>
            <a:ext cx="5257800" cy="1554480"/>
          </a:xfrm>
          <a:prstGeom prst="roundRect">
            <a:avLst>
              <a:gd name="adj" fmla="val 4706"/>
            </a:avLst>
          </a:prstGeom>
          <a:solidFill>
            <a:srgbClr val="F1F3EE"/>
          </a:solidFill>
          <a:ln w="12700">
            <a:solidFill>
              <a:srgbClr val="E2E5DD"/>
            </a:solidFill>
            <a:prstDash val="solid"/>
          </a:ln>
        </p:spPr>
      </p:sp>
      <p:sp>
        <p:nvSpPr>
          <p:cNvPr id="6" name="Text 4"/>
          <p:cNvSpPr/>
          <p:nvPr/>
        </p:nvSpPr>
        <p:spPr>
          <a:xfrm>
            <a:off x="822960" y="2697480"/>
            <a:ext cx="1554480" cy="1097280"/>
          </a:xfrm>
          <a:prstGeom prst="rect">
            <a:avLst/>
          </a:prstGeom>
          <a:noFill/>
          <a:ln/>
        </p:spPr>
        <p:txBody>
          <a:bodyPr wrap="square" rtlCol="0" anchor="ctr"/>
          <a:lstStyle/>
          <a:p>
            <a:pPr algn="l" indent="0" marL="0">
              <a:buNone/>
            </a:pPr>
            <a:r>
              <a:rPr lang="en-US" sz="3400" b="1" dirty="0">
                <a:solidFill>
                  <a:srgbClr val="2F7D5C"/>
                </a:solidFill>
                <a:latin typeface="Cambria" pitchFamily="34" charset="0"/>
                <a:ea typeface="Cambria" pitchFamily="34" charset="-122"/>
                <a:cs typeface="Cambria" pitchFamily="34" charset="-120"/>
              </a:rPr>
              <a:t>100%</a:t>
            </a:r>
            <a:endParaRPr lang="en-US" sz="3400" dirty="0"/>
          </a:p>
        </p:txBody>
      </p:sp>
      <p:sp>
        <p:nvSpPr>
          <p:cNvPr id="7" name="Text 5"/>
          <p:cNvSpPr/>
          <p:nvPr/>
        </p:nvSpPr>
        <p:spPr>
          <a:xfrm>
            <a:off x="2423160" y="2697480"/>
            <a:ext cx="3200400" cy="365760"/>
          </a:xfrm>
          <a:prstGeom prst="rect">
            <a:avLst/>
          </a:prstGeom>
          <a:noFill/>
          <a:ln/>
        </p:spPr>
        <p:txBody>
          <a:bodyPr wrap="square" rtlCol="0" anchor="ctr"/>
          <a:lstStyle/>
          <a:p>
            <a:pPr indent="0" marL="0">
              <a:buNone/>
            </a:pPr>
            <a:r>
              <a:rPr lang="en-US" sz="1600" b="1" dirty="0">
                <a:solidFill>
                  <a:srgbClr val="1A1F1C"/>
                </a:solidFill>
                <a:latin typeface="Cambria" pitchFamily="34" charset="0"/>
                <a:ea typeface="Cambria" pitchFamily="34" charset="-122"/>
                <a:cs typeface="Cambria" pitchFamily="34" charset="-120"/>
              </a:rPr>
              <a:t>node-id parity</a:t>
            </a:r>
            <a:endParaRPr lang="en-US" sz="1600" dirty="0"/>
          </a:p>
        </p:txBody>
      </p:sp>
      <p:sp>
        <p:nvSpPr>
          <p:cNvPr id="8" name="Text 6"/>
          <p:cNvSpPr/>
          <p:nvPr/>
        </p:nvSpPr>
        <p:spPr>
          <a:xfrm>
            <a:off x="2423160" y="3035808"/>
            <a:ext cx="3200400" cy="91440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The central engine re-ingested reports and produced identical chunk ids to the repo's old tool — proof the port is faithful.</a:t>
            </a:r>
            <a:endParaRPr lang="en-US" sz="1200" dirty="0"/>
          </a:p>
        </p:txBody>
      </p:sp>
      <p:sp>
        <p:nvSpPr>
          <p:cNvPr id="9" name="Shape 7"/>
          <p:cNvSpPr/>
          <p:nvPr/>
        </p:nvSpPr>
        <p:spPr>
          <a:xfrm>
            <a:off x="6172200" y="2468880"/>
            <a:ext cx="5257800" cy="1554480"/>
          </a:xfrm>
          <a:prstGeom prst="roundRect">
            <a:avLst>
              <a:gd name="adj" fmla="val 4706"/>
            </a:avLst>
          </a:prstGeom>
          <a:solidFill>
            <a:srgbClr val="F1F3EE"/>
          </a:solidFill>
          <a:ln w="12700">
            <a:solidFill>
              <a:srgbClr val="E2E5DD"/>
            </a:solidFill>
            <a:prstDash val="solid"/>
          </a:ln>
        </p:spPr>
      </p:sp>
      <p:sp>
        <p:nvSpPr>
          <p:cNvPr id="10" name="Text 8"/>
          <p:cNvSpPr/>
          <p:nvPr/>
        </p:nvSpPr>
        <p:spPr>
          <a:xfrm>
            <a:off x="6446520" y="2697480"/>
            <a:ext cx="1554480" cy="1097280"/>
          </a:xfrm>
          <a:prstGeom prst="rect">
            <a:avLst/>
          </a:prstGeom>
          <a:noFill/>
          <a:ln/>
        </p:spPr>
        <p:txBody>
          <a:bodyPr wrap="square" rtlCol="0" anchor="ctr"/>
          <a:lstStyle/>
          <a:p>
            <a:pPr algn="l" indent="0" marL="0">
              <a:buNone/>
            </a:pPr>
            <a:r>
              <a:rPr lang="en-US" sz="3400" b="1" dirty="0">
                <a:solidFill>
                  <a:srgbClr val="2F7D5C"/>
                </a:solidFill>
                <a:latin typeface="Cambria" pitchFamily="34" charset="0"/>
                <a:ea typeface="Cambria" pitchFamily="34" charset="-122"/>
                <a:cs typeface="Cambria" pitchFamily="34" charset="-120"/>
              </a:rPr>
              <a:t>244</a:t>
            </a:r>
            <a:endParaRPr lang="en-US" sz="3400" dirty="0"/>
          </a:p>
        </p:txBody>
      </p:sp>
      <p:sp>
        <p:nvSpPr>
          <p:cNvPr id="11" name="Text 9"/>
          <p:cNvSpPr/>
          <p:nvPr/>
        </p:nvSpPr>
        <p:spPr>
          <a:xfrm>
            <a:off x="8046720" y="2697480"/>
            <a:ext cx="3200400" cy="365760"/>
          </a:xfrm>
          <a:prstGeom prst="rect">
            <a:avLst/>
          </a:prstGeom>
          <a:noFill/>
          <a:ln/>
        </p:spPr>
        <p:txBody>
          <a:bodyPr wrap="square" rtlCol="0" anchor="ctr"/>
          <a:lstStyle/>
          <a:p>
            <a:pPr indent="0" marL="0">
              <a:buNone/>
            </a:pPr>
            <a:r>
              <a:rPr lang="en-US" sz="1600" b="1" dirty="0">
                <a:solidFill>
                  <a:srgbClr val="1A1F1C"/>
                </a:solidFill>
                <a:latin typeface="Cambria" pitchFamily="34" charset="0"/>
                <a:ea typeface="Cambria" pitchFamily="34" charset="-122"/>
                <a:cs typeface="Cambria" pitchFamily="34" charset="-120"/>
              </a:rPr>
              <a:t>code chunks</a:t>
            </a:r>
            <a:endParaRPr lang="en-US" sz="1600" dirty="0"/>
          </a:p>
        </p:txBody>
      </p:sp>
      <p:sp>
        <p:nvSpPr>
          <p:cNvPr id="12" name="Text 10"/>
          <p:cNvSpPr/>
          <p:nvPr/>
        </p:nvSpPr>
        <p:spPr>
          <a:xfrm>
            <a:off x="8046720" y="3035808"/>
            <a:ext cx="3200400" cy="91440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Migrated by copying the existing vectors — zero re-embedding — then confirmed against a full rebuild.</a:t>
            </a:r>
            <a:endParaRPr lang="en-US" sz="1200" dirty="0"/>
          </a:p>
        </p:txBody>
      </p:sp>
      <p:sp>
        <p:nvSpPr>
          <p:cNvPr id="13" name="Shape 11"/>
          <p:cNvSpPr/>
          <p:nvPr/>
        </p:nvSpPr>
        <p:spPr>
          <a:xfrm>
            <a:off x="548640" y="4251960"/>
            <a:ext cx="5257800" cy="1554480"/>
          </a:xfrm>
          <a:prstGeom prst="roundRect">
            <a:avLst>
              <a:gd name="adj" fmla="val 4706"/>
            </a:avLst>
          </a:prstGeom>
          <a:solidFill>
            <a:srgbClr val="F1F3EE"/>
          </a:solidFill>
          <a:ln w="12700">
            <a:solidFill>
              <a:srgbClr val="E2E5DD"/>
            </a:solidFill>
            <a:prstDash val="solid"/>
          </a:ln>
        </p:spPr>
      </p:sp>
      <p:sp>
        <p:nvSpPr>
          <p:cNvPr id="14" name="Text 12"/>
          <p:cNvSpPr/>
          <p:nvPr/>
        </p:nvSpPr>
        <p:spPr>
          <a:xfrm>
            <a:off x="822960" y="4480560"/>
            <a:ext cx="1554480" cy="1097280"/>
          </a:xfrm>
          <a:prstGeom prst="rect">
            <a:avLst/>
          </a:prstGeom>
          <a:noFill/>
          <a:ln/>
        </p:spPr>
        <p:txBody>
          <a:bodyPr wrap="square" rtlCol="0" anchor="ctr"/>
          <a:lstStyle/>
          <a:p>
            <a:pPr algn="l" indent="0" marL="0">
              <a:buNone/>
            </a:pPr>
            <a:r>
              <a:rPr lang="en-US" sz="3400" b="1" dirty="0">
                <a:solidFill>
                  <a:srgbClr val="2F7D5C"/>
                </a:solidFill>
                <a:latin typeface="Cambria" pitchFamily="34" charset="0"/>
                <a:ea typeface="Cambria" pitchFamily="34" charset="-122"/>
                <a:cs typeface="Cambria" pitchFamily="34" charset="-120"/>
              </a:rPr>
              <a:t>5 / 5</a:t>
            </a:r>
            <a:endParaRPr lang="en-US" sz="3400" dirty="0"/>
          </a:p>
        </p:txBody>
      </p:sp>
      <p:sp>
        <p:nvSpPr>
          <p:cNvPr id="15" name="Text 13"/>
          <p:cNvSpPr/>
          <p:nvPr/>
        </p:nvSpPr>
        <p:spPr>
          <a:xfrm>
            <a:off x="2423160" y="4480560"/>
            <a:ext cx="3200400" cy="365760"/>
          </a:xfrm>
          <a:prstGeom prst="rect">
            <a:avLst/>
          </a:prstGeom>
          <a:noFill/>
          <a:ln/>
        </p:spPr>
        <p:txBody>
          <a:bodyPr wrap="square" rtlCol="0" anchor="ctr"/>
          <a:lstStyle/>
          <a:p>
            <a:pPr indent="0" marL="0">
              <a:buNone/>
            </a:pPr>
            <a:r>
              <a:rPr lang="en-US" sz="1600" b="1" dirty="0">
                <a:solidFill>
                  <a:srgbClr val="1A1F1C"/>
                </a:solidFill>
                <a:latin typeface="Cambria" pitchFamily="34" charset="0"/>
                <a:ea typeface="Cambria" pitchFamily="34" charset="-122"/>
                <a:cs typeface="Cambria" pitchFamily="34" charset="-120"/>
              </a:rPr>
              <a:t>eval tiers pass</a:t>
            </a:r>
            <a:endParaRPr lang="en-US" sz="1600" dirty="0"/>
          </a:p>
        </p:txBody>
      </p:sp>
      <p:sp>
        <p:nvSpPr>
          <p:cNvPr id="16" name="Text 14"/>
          <p:cNvSpPr/>
          <p:nvPr/>
        </p:nvSpPr>
        <p:spPr>
          <a:xfrm>
            <a:off x="2423160" y="4818888"/>
            <a:ext cx="3200400" cy="91440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Metadata integrity, mapping, retrieval quality, expand, and orchestrator routing all green.</a:t>
            </a:r>
            <a:endParaRPr lang="en-US" sz="1200" dirty="0"/>
          </a:p>
        </p:txBody>
      </p:sp>
      <p:sp>
        <p:nvSpPr>
          <p:cNvPr id="17" name="Shape 15"/>
          <p:cNvSpPr/>
          <p:nvPr/>
        </p:nvSpPr>
        <p:spPr>
          <a:xfrm>
            <a:off x="6172200" y="4251960"/>
            <a:ext cx="5257800" cy="1554480"/>
          </a:xfrm>
          <a:prstGeom prst="roundRect">
            <a:avLst>
              <a:gd name="adj" fmla="val 4706"/>
            </a:avLst>
          </a:prstGeom>
          <a:solidFill>
            <a:srgbClr val="F1F3EE"/>
          </a:solidFill>
          <a:ln w="12700">
            <a:solidFill>
              <a:srgbClr val="E2E5DD"/>
            </a:solidFill>
            <a:prstDash val="solid"/>
          </a:ln>
        </p:spPr>
      </p:sp>
      <p:sp>
        <p:nvSpPr>
          <p:cNvPr id="18" name="Text 16"/>
          <p:cNvSpPr/>
          <p:nvPr/>
        </p:nvSpPr>
        <p:spPr>
          <a:xfrm>
            <a:off x="6446520" y="4480560"/>
            <a:ext cx="1554480" cy="1097280"/>
          </a:xfrm>
          <a:prstGeom prst="rect">
            <a:avLst/>
          </a:prstGeom>
          <a:noFill/>
          <a:ln/>
        </p:spPr>
        <p:txBody>
          <a:bodyPr wrap="square" rtlCol="0" anchor="ctr"/>
          <a:lstStyle/>
          <a:p>
            <a:pPr algn="l" indent="0" marL="0">
              <a:buNone/>
            </a:pPr>
            <a:r>
              <a:rPr lang="en-US" sz="3400" b="1" dirty="0">
                <a:solidFill>
                  <a:srgbClr val="2F7D5C"/>
                </a:solidFill>
                <a:latin typeface="Cambria" pitchFamily="34" charset="0"/>
                <a:ea typeface="Cambria" pitchFamily="34" charset="-122"/>
                <a:cs typeface="Cambria" pitchFamily="34" charset="-120"/>
              </a:rPr>
              <a:t>0</a:t>
            </a:r>
            <a:endParaRPr lang="en-US" sz="3400" dirty="0"/>
          </a:p>
        </p:txBody>
      </p:sp>
      <p:sp>
        <p:nvSpPr>
          <p:cNvPr id="19" name="Text 17"/>
          <p:cNvSpPr/>
          <p:nvPr/>
        </p:nvSpPr>
        <p:spPr>
          <a:xfrm>
            <a:off x="8046720" y="4480560"/>
            <a:ext cx="3200400" cy="365760"/>
          </a:xfrm>
          <a:prstGeom prst="rect">
            <a:avLst/>
          </a:prstGeom>
          <a:noFill/>
          <a:ln/>
        </p:spPr>
        <p:txBody>
          <a:bodyPr wrap="square" rtlCol="0" anchor="ctr"/>
          <a:lstStyle/>
          <a:p>
            <a:pPr indent="0" marL="0">
              <a:buNone/>
            </a:pPr>
            <a:r>
              <a:rPr lang="en-US" sz="1600" b="1" dirty="0">
                <a:solidFill>
                  <a:srgbClr val="1A1F1C"/>
                </a:solidFill>
                <a:latin typeface="Cambria" pitchFamily="34" charset="0"/>
                <a:ea typeface="Cambria" pitchFamily="34" charset="-122"/>
                <a:cs typeface="Cambria" pitchFamily="34" charset="-120"/>
              </a:rPr>
              <a:t>needless re-embeds</a:t>
            </a:r>
            <a:endParaRPr lang="en-US" sz="1600" dirty="0"/>
          </a:p>
        </p:txBody>
      </p:sp>
      <p:sp>
        <p:nvSpPr>
          <p:cNvPr id="20" name="Text 18"/>
          <p:cNvSpPr/>
          <p:nvPr/>
        </p:nvSpPr>
        <p:spPr>
          <a:xfrm>
            <a:off x="8046720" y="4818888"/>
            <a:ext cx="3200400" cy="91440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Delta re-ingest is content-hash + prune: a re-run touches only files that actually changed.</a:t>
            </a:r>
            <a:endParaRPr lang="en-US" sz="1200" dirty="0"/>
          </a:p>
        </p:txBody>
      </p:sp>
      <p:sp>
        <p:nvSpPr>
          <p:cNvPr id="21" name="Text 19"/>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22" name="Text 20"/>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0F8A80"/>
                </a:solidFill>
                <a:latin typeface="Consolas" pitchFamily="34" charset="0"/>
                <a:ea typeface="Consolas" pitchFamily="34" charset="-122"/>
                <a:cs typeface="Consolas" pitchFamily="34" charset="-120"/>
              </a:rPr>
              <a:t>EXTENSIBILITY</a:t>
            </a:r>
            <a:endParaRPr lang="en-US" sz="1100" dirty="0"/>
          </a:p>
        </p:txBody>
      </p:sp>
      <p:sp>
        <p:nvSpPr>
          <p:cNvPr id="3" name="Text 1"/>
          <p:cNvSpPr/>
          <p:nvPr/>
        </p:nvSpPr>
        <p:spPr>
          <a:xfrm>
            <a:off x="502920" y="868680"/>
            <a:ext cx="11155680" cy="822960"/>
          </a:xfrm>
          <a:prstGeom prst="rect">
            <a:avLst/>
          </a:prstGeom>
          <a:noFill/>
          <a:ln/>
        </p:spPr>
        <p:txBody>
          <a:bodyPr wrap="square" rtlCol="0" anchor="ctr"/>
          <a:lstStyle/>
          <a:p>
            <a:pPr indent="0" marL="0">
              <a:buNone/>
            </a:pPr>
            <a:r>
              <a:rPr lang="en-US" sz="3000" b="1" dirty="0">
                <a:solidFill>
                  <a:srgbClr val="1A1F1C"/>
                </a:solidFill>
                <a:latin typeface="Cambria" pitchFamily="34" charset="0"/>
                <a:ea typeface="Cambria" pitchFamily="34" charset="-122"/>
                <a:cs typeface="Cambria" pitchFamily="34" charset="-120"/>
              </a:rPr>
              <a:t>Onboarding a repo: one JSON and a path</a:t>
            </a:r>
            <a:endParaRPr lang="en-US" sz="3000" dirty="0"/>
          </a:p>
        </p:txBody>
      </p:sp>
      <p:sp>
        <p:nvSpPr>
          <p:cNvPr id="4" name="Text 2"/>
          <p:cNvSpPr/>
          <p:nvPr/>
        </p:nvSpPr>
        <p:spPr>
          <a:xfrm>
            <a:off x="548640" y="1737360"/>
            <a:ext cx="10972800" cy="548640"/>
          </a:xfrm>
          <a:prstGeom prst="rect">
            <a:avLst/>
          </a:prstGeom>
          <a:noFill/>
          <a:ln/>
        </p:spPr>
        <p:txBody>
          <a:bodyPr wrap="square" rtlCol="0" anchor="ctr"/>
          <a:lstStyle/>
          <a:p>
            <a:pPr indent="0" marL="0">
              <a:buNone/>
            </a:pPr>
            <a:r>
              <a:rPr lang="en-US" sz="1500" dirty="0">
                <a:solidFill>
                  <a:srgbClr val="5A6055"/>
                </a:solidFill>
                <a:latin typeface="Calibri" pitchFamily="34" charset="0"/>
                <a:ea typeface="Calibri" pitchFamily="34" charset="-122"/>
                <a:cs typeface="Calibri" pitchFamily="34" charset="-120"/>
              </a:rPr>
              <a:t>The ingestion engine lives in one shared project. Adding a repo doesn't add a tool to that repo — you describe it and point at its checkout.</a:t>
            </a:r>
            <a:endParaRPr lang="en-US" sz="1500" dirty="0"/>
          </a:p>
        </p:txBody>
      </p:sp>
      <p:sp>
        <p:nvSpPr>
          <p:cNvPr id="5" name="Shape 3"/>
          <p:cNvSpPr/>
          <p:nvPr/>
        </p:nvSpPr>
        <p:spPr>
          <a:xfrm>
            <a:off x="548640" y="2468880"/>
            <a:ext cx="3474720" cy="1691640"/>
          </a:xfrm>
          <a:prstGeom prst="roundRect">
            <a:avLst>
              <a:gd name="adj" fmla="val 4324"/>
            </a:avLst>
          </a:prstGeom>
          <a:solidFill>
            <a:srgbClr val="F1F3EE"/>
          </a:solidFill>
          <a:ln w="12700">
            <a:solidFill>
              <a:srgbClr val="E2E5DD"/>
            </a:solidFill>
            <a:prstDash val="solid"/>
          </a:ln>
        </p:spPr>
      </p:sp>
      <p:sp>
        <p:nvSpPr>
          <p:cNvPr id="6" name="Shape 4"/>
          <p:cNvSpPr/>
          <p:nvPr/>
        </p:nvSpPr>
        <p:spPr>
          <a:xfrm>
            <a:off x="822960" y="2697480"/>
            <a:ext cx="502920" cy="502920"/>
          </a:xfrm>
          <a:prstGeom prst="ellipse">
            <a:avLst/>
          </a:prstGeom>
          <a:solidFill>
            <a:srgbClr val="0F8A80"/>
          </a:solidFill>
          <a:ln/>
        </p:spPr>
      </p:sp>
      <p:sp>
        <p:nvSpPr>
          <p:cNvPr id="7" name="Text 5"/>
          <p:cNvSpPr/>
          <p:nvPr/>
        </p:nvSpPr>
        <p:spPr>
          <a:xfrm>
            <a:off x="822960" y="26974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463040" y="2743200"/>
            <a:ext cx="2468880" cy="411480"/>
          </a:xfrm>
          <a:prstGeom prst="rect">
            <a:avLst/>
          </a:prstGeom>
          <a:noFill/>
          <a:ln/>
        </p:spPr>
        <p:txBody>
          <a:bodyPr wrap="square" rtlCol="0" anchor="ctr"/>
          <a:lstStyle/>
          <a:p>
            <a:pPr indent="0" marL="0">
              <a:buNone/>
            </a:pPr>
            <a:r>
              <a:rPr lang="en-US" sz="1500" b="1" dirty="0">
                <a:solidFill>
                  <a:srgbClr val="1A1F1C"/>
                </a:solidFill>
                <a:latin typeface="Cambria" pitchFamily="34" charset="0"/>
                <a:ea typeface="Cambria" pitchFamily="34" charset="-122"/>
                <a:cs typeface="Cambria" pitchFamily="34" charset="-120"/>
              </a:rPr>
              <a:t>Describe it</a:t>
            </a:r>
            <a:endParaRPr lang="en-US" sz="1500" dirty="0"/>
          </a:p>
        </p:txBody>
      </p:sp>
      <p:sp>
        <p:nvSpPr>
          <p:cNvPr id="9" name="Text 7"/>
          <p:cNvSpPr/>
          <p:nvPr/>
        </p:nvSpPr>
        <p:spPr>
          <a:xfrm>
            <a:off x="822960" y="3337560"/>
            <a:ext cx="2971800" cy="77724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repos/&lt;key&gt;/ingest.json — language, source folders, merged over shared defaults.</a:t>
            </a:r>
            <a:endParaRPr lang="en-US" sz="1200" dirty="0"/>
          </a:p>
        </p:txBody>
      </p:sp>
      <p:sp>
        <p:nvSpPr>
          <p:cNvPr id="10" name="Shape 8"/>
          <p:cNvSpPr/>
          <p:nvPr/>
        </p:nvSpPr>
        <p:spPr>
          <a:xfrm>
            <a:off x="4251960" y="2468880"/>
            <a:ext cx="3474720" cy="1691640"/>
          </a:xfrm>
          <a:prstGeom prst="roundRect">
            <a:avLst>
              <a:gd name="adj" fmla="val 4324"/>
            </a:avLst>
          </a:prstGeom>
          <a:solidFill>
            <a:srgbClr val="F1F3EE"/>
          </a:solidFill>
          <a:ln w="12700">
            <a:solidFill>
              <a:srgbClr val="E2E5DD"/>
            </a:solidFill>
            <a:prstDash val="solid"/>
          </a:ln>
        </p:spPr>
      </p:sp>
      <p:sp>
        <p:nvSpPr>
          <p:cNvPr id="11" name="Shape 9"/>
          <p:cNvSpPr/>
          <p:nvPr/>
        </p:nvSpPr>
        <p:spPr>
          <a:xfrm>
            <a:off x="4526280" y="2697480"/>
            <a:ext cx="502920" cy="502920"/>
          </a:xfrm>
          <a:prstGeom prst="ellipse">
            <a:avLst/>
          </a:prstGeom>
          <a:solidFill>
            <a:srgbClr val="0F8A80"/>
          </a:solidFill>
          <a:ln/>
        </p:spPr>
      </p:sp>
      <p:sp>
        <p:nvSpPr>
          <p:cNvPr id="12" name="Text 10"/>
          <p:cNvSpPr/>
          <p:nvPr/>
        </p:nvSpPr>
        <p:spPr>
          <a:xfrm>
            <a:off x="4526280" y="26974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5166360" y="2743200"/>
            <a:ext cx="2468880" cy="411480"/>
          </a:xfrm>
          <a:prstGeom prst="rect">
            <a:avLst/>
          </a:prstGeom>
          <a:noFill/>
          <a:ln/>
        </p:spPr>
        <p:txBody>
          <a:bodyPr wrap="square" rtlCol="0" anchor="ctr"/>
          <a:lstStyle/>
          <a:p>
            <a:pPr indent="0" marL="0">
              <a:buNone/>
            </a:pPr>
            <a:r>
              <a:rPr lang="en-US" sz="1500" b="1" dirty="0">
                <a:solidFill>
                  <a:srgbClr val="1A1F1C"/>
                </a:solidFill>
                <a:latin typeface="Cambria" pitchFamily="34" charset="0"/>
                <a:ea typeface="Cambria" pitchFamily="34" charset="-122"/>
                <a:cs typeface="Cambria" pitchFamily="34" charset="-120"/>
              </a:rPr>
              <a:t>Point at the checkout</a:t>
            </a:r>
            <a:endParaRPr lang="en-US" sz="1500" dirty="0"/>
          </a:p>
        </p:txBody>
      </p:sp>
      <p:sp>
        <p:nvSpPr>
          <p:cNvPr id="14" name="Text 12"/>
          <p:cNvSpPr/>
          <p:nvPr/>
        </p:nvSpPr>
        <p:spPr>
          <a:xfrm>
            <a:off x="4526280" y="3337560"/>
            <a:ext cx="2971800" cy="77724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One machine-local path in config.json. Everything else ships committed.</a:t>
            </a:r>
            <a:endParaRPr lang="en-US" sz="1200" dirty="0"/>
          </a:p>
        </p:txBody>
      </p:sp>
      <p:sp>
        <p:nvSpPr>
          <p:cNvPr id="15" name="Shape 13"/>
          <p:cNvSpPr/>
          <p:nvPr/>
        </p:nvSpPr>
        <p:spPr>
          <a:xfrm>
            <a:off x="7955280" y="2468880"/>
            <a:ext cx="3474720" cy="1691640"/>
          </a:xfrm>
          <a:prstGeom prst="roundRect">
            <a:avLst>
              <a:gd name="adj" fmla="val 4324"/>
            </a:avLst>
          </a:prstGeom>
          <a:solidFill>
            <a:srgbClr val="F1F3EE"/>
          </a:solidFill>
          <a:ln w="12700">
            <a:solidFill>
              <a:srgbClr val="E2E5DD"/>
            </a:solidFill>
            <a:prstDash val="solid"/>
          </a:ln>
        </p:spPr>
      </p:sp>
      <p:sp>
        <p:nvSpPr>
          <p:cNvPr id="16" name="Shape 14"/>
          <p:cNvSpPr/>
          <p:nvPr/>
        </p:nvSpPr>
        <p:spPr>
          <a:xfrm>
            <a:off x="8229600" y="2697480"/>
            <a:ext cx="502920" cy="502920"/>
          </a:xfrm>
          <a:prstGeom prst="ellipse">
            <a:avLst/>
          </a:prstGeom>
          <a:solidFill>
            <a:srgbClr val="0F8A80"/>
          </a:solidFill>
          <a:ln/>
        </p:spPr>
      </p:sp>
      <p:sp>
        <p:nvSpPr>
          <p:cNvPr id="17" name="Text 15"/>
          <p:cNvSpPr/>
          <p:nvPr/>
        </p:nvSpPr>
        <p:spPr>
          <a:xfrm>
            <a:off x="8229600" y="26974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8869680" y="2743200"/>
            <a:ext cx="2468880" cy="411480"/>
          </a:xfrm>
          <a:prstGeom prst="rect">
            <a:avLst/>
          </a:prstGeom>
          <a:noFill/>
          <a:ln/>
        </p:spPr>
        <p:txBody>
          <a:bodyPr wrap="square" rtlCol="0" anchor="ctr"/>
          <a:lstStyle/>
          <a:p>
            <a:pPr indent="0" marL="0">
              <a:buNone/>
            </a:pPr>
            <a:r>
              <a:rPr lang="en-US" sz="1500" b="1" dirty="0">
                <a:solidFill>
                  <a:srgbClr val="1A1F1C"/>
                </a:solidFill>
                <a:latin typeface="Cambria" pitchFamily="34" charset="0"/>
                <a:ea typeface="Cambria" pitchFamily="34" charset="-122"/>
                <a:cs typeface="Cambria" pitchFamily="34" charset="-120"/>
              </a:rPr>
              <a:t>ingest-code --repo &lt;key&gt;</a:t>
            </a:r>
            <a:endParaRPr lang="en-US" sz="1500" dirty="0"/>
          </a:p>
        </p:txBody>
      </p:sp>
      <p:sp>
        <p:nvSpPr>
          <p:cNvPr id="19" name="Text 17"/>
          <p:cNvSpPr/>
          <p:nvPr/>
        </p:nvSpPr>
        <p:spPr>
          <a:xfrm>
            <a:off x="8229600" y="3337560"/>
            <a:ext cx="2971800" cy="777240"/>
          </a:xfrm>
          <a:prstGeom prst="rect">
            <a:avLst/>
          </a:prstGeom>
          <a:noFill/>
          <a:ln/>
        </p:spPr>
        <p:txBody>
          <a:bodyPr wrap="square" rtlCol="0" anchor="ctr"/>
          <a:lstStyle/>
          <a:p>
            <a:pPr indent="0" marL="0">
              <a:lnSpc>
                <a:spcPts val="1500"/>
              </a:lnSpc>
              <a:buNone/>
            </a:pPr>
            <a:r>
              <a:rPr lang="en-US" sz="1200" dirty="0">
                <a:solidFill>
                  <a:srgbClr val="5A6055"/>
                </a:solidFill>
                <a:latin typeface="Calibri" pitchFamily="34" charset="0"/>
                <a:ea typeface="Calibri" pitchFamily="34" charset="-122"/>
                <a:cs typeface="Calibri" pitchFamily="34" charset="-120"/>
              </a:rPr>
              <a:t>Builds its index; the orchestrator picks it up. --all does every repo at once.</a:t>
            </a:r>
            <a:endParaRPr lang="en-US" sz="1200" dirty="0"/>
          </a:p>
        </p:txBody>
      </p:sp>
      <p:sp>
        <p:nvSpPr>
          <p:cNvPr id="20" name="Text 18"/>
          <p:cNvSpPr/>
          <p:nvPr/>
        </p:nvSpPr>
        <p:spPr>
          <a:xfrm>
            <a:off x="548640" y="4434840"/>
            <a:ext cx="10972800" cy="365760"/>
          </a:xfrm>
          <a:prstGeom prst="rect">
            <a:avLst/>
          </a:prstGeom>
          <a:noFill/>
          <a:ln/>
        </p:spPr>
        <p:txBody>
          <a:bodyPr wrap="square" rtlCol="0" anchor="ctr"/>
          <a:lstStyle/>
          <a:p>
            <a:pPr indent="0" marL="0">
              <a:buNone/>
            </a:pPr>
            <a:r>
              <a:rPr lang="en-US" sz="1400" b="1" dirty="0">
                <a:solidFill>
                  <a:srgbClr val="1A1F1C"/>
                </a:solidFill>
                <a:latin typeface="Calibri" pitchFamily="34" charset="0"/>
                <a:ea typeface="Calibri" pitchFamily="34" charset="-122"/>
                <a:cs typeface="Calibri" pitchFamily="34" charset="-120"/>
              </a:rPr>
              <a:t>Need more than the defaults? Override just one piece — never by dragging a tool back in-tree:</a:t>
            </a:r>
            <a:endParaRPr lang="en-US" sz="1400" dirty="0"/>
          </a:p>
        </p:txBody>
      </p:sp>
      <p:sp>
        <p:nvSpPr>
          <p:cNvPr id="21" name="Shape 19"/>
          <p:cNvSpPr/>
          <p:nvPr/>
        </p:nvSpPr>
        <p:spPr>
          <a:xfrm>
            <a:off x="548640" y="4892040"/>
            <a:ext cx="11064240" cy="493776"/>
          </a:xfrm>
          <a:prstGeom prst="roundRect">
            <a:avLst>
              <a:gd name="adj" fmla="val 9259"/>
            </a:avLst>
          </a:prstGeom>
          <a:solidFill>
            <a:srgbClr val="E7EFEA"/>
          </a:solidFill>
          <a:ln/>
        </p:spPr>
      </p:sp>
      <p:sp>
        <p:nvSpPr>
          <p:cNvPr id="22" name="Text 20"/>
          <p:cNvSpPr/>
          <p:nvPr/>
        </p:nvSpPr>
        <p:spPr>
          <a:xfrm>
            <a:off x="685800" y="4892040"/>
            <a:ext cx="731520" cy="493776"/>
          </a:xfrm>
          <a:prstGeom prst="rect">
            <a:avLst/>
          </a:prstGeom>
          <a:noFill/>
          <a:ln/>
        </p:spPr>
        <p:txBody>
          <a:bodyPr wrap="square" rtlCol="0" anchor="ctr"/>
          <a:lstStyle/>
          <a:p>
            <a:pPr indent="0" marL="0">
              <a:buNone/>
            </a:pPr>
            <a:r>
              <a:rPr lang="en-US" sz="1500" b="1" dirty="0">
                <a:solidFill>
                  <a:srgbClr val="2F7D5C"/>
                </a:solidFill>
                <a:latin typeface="Consolas" pitchFamily="34" charset="0"/>
                <a:ea typeface="Consolas" pitchFamily="34" charset="-122"/>
                <a:cs typeface="Consolas" pitchFamily="34" charset="-120"/>
              </a:rPr>
              <a:t>L0</a:t>
            </a:r>
            <a:endParaRPr lang="en-US" sz="1500" dirty="0"/>
          </a:p>
        </p:txBody>
      </p:sp>
      <p:sp>
        <p:nvSpPr>
          <p:cNvPr id="23" name="Text 21"/>
          <p:cNvSpPr/>
          <p:nvPr/>
        </p:nvSpPr>
        <p:spPr>
          <a:xfrm>
            <a:off x="1463040" y="4892040"/>
            <a:ext cx="9966960" cy="493776"/>
          </a:xfrm>
          <a:prstGeom prst="rect">
            <a:avLst/>
          </a:prstGeom>
          <a:noFill/>
          <a:ln/>
        </p:spPr>
        <p:txBody>
          <a:bodyPr wrap="square" rtlCol="0" anchor="ctr"/>
          <a:lstStyle/>
          <a:p>
            <a:pPr indent="0" marL="0">
              <a:buNone/>
            </a:pPr>
            <a:r>
              <a:rPr lang="en-US" sz="1300" dirty="0">
                <a:solidFill>
                  <a:srgbClr val="1A1F1C"/>
                </a:solidFill>
                <a:latin typeface="Calibri" pitchFamily="34" charset="0"/>
                <a:ea typeface="Calibri" pitchFamily="34" charset="-122"/>
                <a:cs typeface="Calibri" pitchFamily="34" charset="-120"/>
              </a:rPr>
              <a:t>Config only — declare a language; built-ins handle it. Most repos stop here.</a:t>
            </a:r>
            <a:endParaRPr lang="en-US" sz="1300" dirty="0"/>
          </a:p>
        </p:txBody>
      </p:sp>
      <p:sp>
        <p:nvSpPr>
          <p:cNvPr id="24" name="Shape 22"/>
          <p:cNvSpPr/>
          <p:nvPr/>
        </p:nvSpPr>
        <p:spPr>
          <a:xfrm>
            <a:off x="548640" y="5458968"/>
            <a:ext cx="11064240" cy="493776"/>
          </a:xfrm>
          <a:prstGeom prst="roundRect">
            <a:avLst>
              <a:gd name="adj" fmla="val 9259"/>
            </a:avLst>
          </a:prstGeom>
          <a:solidFill>
            <a:srgbClr val="ECEBF6"/>
          </a:solidFill>
          <a:ln/>
        </p:spPr>
      </p:sp>
      <p:sp>
        <p:nvSpPr>
          <p:cNvPr id="25" name="Text 23"/>
          <p:cNvSpPr/>
          <p:nvPr/>
        </p:nvSpPr>
        <p:spPr>
          <a:xfrm>
            <a:off x="685800" y="5458968"/>
            <a:ext cx="731520" cy="493776"/>
          </a:xfrm>
          <a:prstGeom prst="rect">
            <a:avLst/>
          </a:prstGeom>
          <a:noFill/>
          <a:ln/>
        </p:spPr>
        <p:txBody>
          <a:bodyPr wrap="square" rtlCol="0" anchor="ctr"/>
          <a:lstStyle/>
          <a:p>
            <a:pPr indent="0" marL="0">
              <a:buNone/>
            </a:pPr>
            <a:r>
              <a:rPr lang="en-US" sz="1500" b="1" dirty="0">
                <a:solidFill>
                  <a:srgbClr val="5B57A6"/>
                </a:solidFill>
                <a:latin typeface="Consolas" pitchFamily="34" charset="0"/>
                <a:ea typeface="Consolas" pitchFamily="34" charset="-122"/>
                <a:cs typeface="Consolas" pitchFamily="34" charset="-120"/>
              </a:rPr>
              <a:t>L1</a:t>
            </a:r>
            <a:endParaRPr lang="en-US" sz="1500" dirty="0"/>
          </a:p>
        </p:txBody>
      </p:sp>
      <p:sp>
        <p:nvSpPr>
          <p:cNvPr id="26" name="Text 24"/>
          <p:cNvSpPr/>
          <p:nvPr/>
        </p:nvSpPr>
        <p:spPr>
          <a:xfrm>
            <a:off x="1463040" y="5458968"/>
            <a:ext cx="9966960" cy="493776"/>
          </a:xfrm>
          <a:prstGeom prst="rect">
            <a:avLst/>
          </a:prstGeom>
          <a:noFill/>
          <a:ln/>
        </p:spPr>
        <p:txBody>
          <a:bodyPr wrap="square" rtlCol="0" anchor="ctr"/>
          <a:lstStyle/>
          <a:p>
            <a:pPr indent="0" marL="0">
              <a:buNone/>
            </a:pPr>
            <a:r>
              <a:rPr lang="en-US" sz="1300" dirty="0">
                <a:solidFill>
                  <a:srgbClr val="1A1F1C"/>
                </a:solidFill>
                <a:latin typeface="Calibri" pitchFamily="34" charset="0"/>
                <a:ea typeface="Calibri" pitchFamily="34" charset="-122"/>
                <a:cs typeface="Calibri" pitchFamily="34" charset="-120"/>
              </a:rPr>
              <a:t>One custom file — a chunker or retriever module (.py) for a layout or ranking the defaults don't fit.</a:t>
            </a:r>
            <a:endParaRPr lang="en-US" sz="1300" dirty="0"/>
          </a:p>
        </p:txBody>
      </p:sp>
      <p:sp>
        <p:nvSpPr>
          <p:cNvPr id="27" name="Shape 25"/>
          <p:cNvSpPr/>
          <p:nvPr/>
        </p:nvSpPr>
        <p:spPr>
          <a:xfrm>
            <a:off x="548640" y="6025896"/>
            <a:ext cx="11064240" cy="493776"/>
          </a:xfrm>
          <a:prstGeom prst="roundRect">
            <a:avLst>
              <a:gd name="adj" fmla="val 9259"/>
            </a:avLst>
          </a:prstGeom>
          <a:solidFill>
            <a:srgbClr val="F5ECE0"/>
          </a:solidFill>
          <a:ln/>
        </p:spPr>
      </p:sp>
      <p:sp>
        <p:nvSpPr>
          <p:cNvPr id="28" name="Text 26"/>
          <p:cNvSpPr/>
          <p:nvPr/>
        </p:nvSpPr>
        <p:spPr>
          <a:xfrm>
            <a:off x="685800" y="6025896"/>
            <a:ext cx="731520" cy="493776"/>
          </a:xfrm>
          <a:prstGeom prst="rect">
            <a:avLst/>
          </a:prstGeom>
          <a:noFill/>
          <a:ln/>
        </p:spPr>
        <p:txBody>
          <a:bodyPr wrap="square" rtlCol="0" anchor="ctr"/>
          <a:lstStyle/>
          <a:p>
            <a:pPr indent="0" marL="0">
              <a:buNone/>
            </a:pPr>
            <a:r>
              <a:rPr lang="en-US" sz="1500" b="1" dirty="0">
                <a:solidFill>
                  <a:srgbClr val="B4892B"/>
                </a:solidFill>
                <a:latin typeface="Consolas" pitchFamily="34" charset="0"/>
                <a:ea typeface="Consolas" pitchFamily="34" charset="-122"/>
                <a:cs typeface="Consolas" pitchFamily="34" charset="-120"/>
              </a:rPr>
              <a:t>L2</a:t>
            </a:r>
            <a:endParaRPr lang="en-US" sz="1500" dirty="0"/>
          </a:p>
        </p:txBody>
      </p:sp>
      <p:sp>
        <p:nvSpPr>
          <p:cNvPr id="29" name="Text 27"/>
          <p:cNvSpPr/>
          <p:nvPr/>
        </p:nvSpPr>
        <p:spPr>
          <a:xfrm>
            <a:off x="1463040" y="6025896"/>
            <a:ext cx="9966960" cy="493776"/>
          </a:xfrm>
          <a:prstGeom prst="rect">
            <a:avLst/>
          </a:prstGeom>
          <a:noFill/>
          <a:ln/>
        </p:spPr>
        <p:txBody>
          <a:bodyPr wrap="square" rtlCol="0" anchor="ctr"/>
          <a:lstStyle/>
          <a:p>
            <a:pPr indent="0" marL="0">
              <a:buNone/>
            </a:pPr>
            <a:r>
              <a:rPr lang="en-US" sz="1300" dirty="0">
                <a:solidFill>
                  <a:srgbClr val="1A1F1C"/>
                </a:solidFill>
                <a:latin typeface="Calibri" pitchFamily="34" charset="0"/>
                <a:ea typeface="Calibri" pitchFamily="34" charset="-122"/>
                <a:cs typeface="Calibri" pitchFamily="34" charset="-120"/>
              </a:rPr>
              <a:t>Own server — a wholly bespoke service the orchestrator calls. The full escape hatch.</a:t>
            </a:r>
            <a:endParaRPr lang="en-US" sz="1300" dirty="0"/>
          </a:p>
        </p:txBody>
      </p:sp>
      <p:sp>
        <p:nvSpPr>
          <p:cNvPr id="30" name="Text 28"/>
          <p:cNvSpPr/>
          <p:nvPr/>
        </p:nvSpPr>
        <p:spPr>
          <a:xfrm>
            <a:off x="502920" y="6446520"/>
            <a:ext cx="3657600" cy="274320"/>
          </a:xfrm>
          <a:prstGeom prst="rect">
            <a:avLst/>
          </a:prstGeom>
          <a:noFill/>
          <a:ln/>
        </p:spPr>
        <p:txBody>
          <a:bodyPr wrap="square" rtlCol="0" anchor="ctr"/>
          <a:lstStyle/>
          <a:p>
            <a:pPr algn="l" indent="0" marL="0">
              <a:buNone/>
            </a:pPr>
            <a:r>
              <a:rPr lang="en-US" sz="900" dirty="0">
                <a:solidFill>
                  <a:srgbClr val="8A907F"/>
                </a:solidFill>
                <a:latin typeface="Consolas" pitchFamily="34" charset="0"/>
                <a:ea typeface="Consolas" pitchFamily="34" charset="-122"/>
                <a:cs typeface="Consolas" pitchFamily="34" charset="-120"/>
              </a:rPr>
              <a:t>lp-uworld-rag</a:t>
            </a:r>
            <a:endParaRPr lang="en-US" sz="900" dirty="0"/>
          </a:p>
        </p:txBody>
      </p:sp>
      <p:sp>
        <p:nvSpPr>
          <p:cNvPr id="31" name="Text 29"/>
          <p:cNvSpPr/>
          <p:nvPr/>
        </p:nvSpPr>
        <p:spPr>
          <a:xfrm>
            <a:off x="11228832" y="6446520"/>
            <a:ext cx="457200" cy="274320"/>
          </a:xfrm>
          <a:prstGeom prst="rect">
            <a:avLst/>
          </a:prstGeom>
          <a:noFill/>
          <a:ln/>
        </p:spPr>
        <p:txBody>
          <a:bodyPr wrap="square" rtlCol="0" anchor="ctr"/>
          <a:lstStyle/>
          <a:p>
            <a:pPr algn="r" indent="0" marL="0">
              <a:buNone/>
            </a:pPr>
            <a:r>
              <a:rPr lang="en-US" sz="900" dirty="0">
                <a:solidFill>
                  <a:srgbClr val="8A907F"/>
                </a:solidFill>
                <a:latin typeface="Consolas" pitchFamily="34" charset="0"/>
                <a:ea typeface="Consolas" pitchFamily="34" charset="-122"/>
                <a:cs typeface="Consola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01B"/>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rtlCol="0" anchor="ctr"/>
          <a:lstStyle/>
          <a:p>
            <a:pPr indent="0" marL="0">
              <a:buNone/>
            </a:pPr>
            <a:r>
              <a:rPr lang="en-US" sz="1100" b="1" spc="200" kern="0" dirty="0">
                <a:solidFill>
                  <a:srgbClr val="D9A93A"/>
                </a:solidFill>
                <a:latin typeface="Consolas" pitchFamily="34" charset="0"/>
                <a:ea typeface="Consolas" pitchFamily="34" charset="-122"/>
                <a:cs typeface="Consolas" pitchFamily="34" charset="-120"/>
              </a:rPr>
              <a:t>WHERE IT STANDS</a:t>
            </a:r>
            <a:endParaRPr lang="en-US" sz="1100" dirty="0"/>
          </a:p>
        </p:txBody>
      </p:sp>
      <p:sp>
        <p:nvSpPr>
          <p:cNvPr id="3" name="Text 1"/>
          <p:cNvSpPr/>
          <p:nvPr/>
        </p:nvSpPr>
        <p:spPr>
          <a:xfrm>
            <a:off x="502920" y="868680"/>
            <a:ext cx="10972800" cy="822960"/>
          </a:xfrm>
          <a:prstGeom prst="rect">
            <a:avLst/>
          </a:prstGeom>
          <a:noFill/>
          <a:ln/>
        </p:spPr>
        <p:txBody>
          <a:bodyPr wrap="square" rtlCol="0" anchor="ctr"/>
          <a:lstStyle/>
          <a:p>
            <a:pPr indent="0" marL="0">
              <a:buNone/>
            </a:pPr>
            <a:r>
              <a:rPr lang="en-US" sz="3200" b="1" dirty="0">
                <a:solidFill>
                  <a:srgbClr val="EDEEE7"/>
                </a:solidFill>
                <a:latin typeface="Cambria" pitchFamily="34" charset="0"/>
                <a:ea typeface="Cambria" pitchFamily="34" charset="-122"/>
                <a:cs typeface="Cambria" pitchFamily="34" charset="-120"/>
              </a:rPr>
              <a:t>Complete, verified, and ready to grow</a:t>
            </a:r>
            <a:endParaRPr lang="en-US" sz="3200" dirty="0"/>
          </a:p>
        </p:txBody>
      </p:sp>
      <p:sp>
        <p:nvSpPr>
          <p:cNvPr id="4" name="Text 2"/>
          <p:cNvSpPr/>
          <p:nvPr/>
        </p:nvSpPr>
        <p:spPr>
          <a:xfrm>
            <a:off x="548640" y="1783080"/>
            <a:ext cx="10972800" cy="365760"/>
          </a:xfrm>
          <a:prstGeom prst="rect">
            <a:avLst/>
          </a:prstGeom>
          <a:noFill/>
          <a:ln/>
        </p:spPr>
        <p:txBody>
          <a:bodyPr wrap="square" rtlCol="0" anchor="ctr"/>
          <a:lstStyle/>
          <a:p>
            <a:pPr indent="0" marL="0">
              <a:buNone/>
            </a:pPr>
            <a:r>
              <a:rPr lang="en-US" sz="1400" dirty="0">
                <a:solidFill>
                  <a:srgbClr val="AEB4A5"/>
                </a:solidFill>
                <a:latin typeface="Calibri" pitchFamily="34" charset="0"/>
                <a:ea typeface="Calibri" pitchFamily="34" charset="-122"/>
                <a:cs typeface="Calibri" pitchFamily="34" charset="-120"/>
              </a:rPr>
              <a:t>Deliberately deferred — known next steps held back until there's a concrete need, not gaps:</a:t>
            </a:r>
            <a:endParaRPr lang="en-US" sz="1400" dirty="0"/>
          </a:p>
        </p:txBody>
      </p:sp>
      <p:sp>
        <p:nvSpPr>
          <p:cNvPr id="5" name="Text 3"/>
          <p:cNvSpPr/>
          <p:nvPr/>
        </p:nvSpPr>
        <p:spPr>
          <a:xfrm>
            <a:off x="640080" y="2240280"/>
            <a:ext cx="10972800" cy="1828800"/>
          </a:xfrm>
          <a:prstGeom prst="rect">
            <a:avLst/>
          </a:prstGeom>
          <a:noFill/>
          <a:ln/>
        </p:spPr>
        <p:txBody>
          <a:bodyPr wrap="square" rtlCol="0" anchor="ctr"/>
          <a:lstStyle/>
          <a:p>
            <a:pPr marL="342900" indent="-342900">
              <a:lnSpc>
                <a:spcPts val="1800"/>
              </a:lnSpc>
              <a:spcAft>
                <a:spcPts val="600"/>
              </a:spcAft>
              <a:buSzPct val="100000"/>
              <a:buChar char="•"/>
            </a:pPr>
            <a:r>
              <a:rPr lang="en-US" sz="1400" dirty="0">
                <a:solidFill>
                  <a:srgbClr val="EDEEE7"/>
                </a:solidFill>
                <a:latin typeface="Calibri" pitchFamily="34" charset="0"/>
                <a:ea typeface="Calibri" pitchFamily="34" charset="-122"/>
                <a:cs typeface="Calibri" pitchFamily="34" charset="-120"/>
              </a:rPr>
              <a:t>Consolidate the two doc stores into one database — operational tidiness, no token/quality effect</a:t>
            </a:r>
            <a:endParaRPr lang="en-US" sz="1400" dirty="0"/>
          </a:p>
          <a:p>
            <a:pPr marL="342900" indent="-342900">
              <a:lnSpc>
                <a:spcPts val="1800"/>
              </a:lnSpc>
              <a:spcAft>
                <a:spcPts val="600"/>
              </a:spcAft>
              <a:buSzPct val="100000"/>
              <a:buChar char="•"/>
            </a:pPr>
            <a:r>
              <a:rPr lang="en-US" sz="1400" dirty="0">
                <a:solidFill>
                  <a:srgbClr val="EDEEE7"/>
                </a:solidFill>
                <a:latin typeface="Calibri" pitchFamily="34" charset="0"/>
                <a:ea typeface="Calibri" pitchFamily="34" charset="-122"/>
                <a:cs typeface="Calibri" pitchFamily="34" charset="-120"/>
              </a:rPr>
              <a:t>Formal ingestor/retriever interface layer — only pays off at a second, different source type</a:t>
            </a:r>
            <a:endParaRPr lang="en-US" sz="1400" dirty="0"/>
          </a:p>
          <a:p>
            <a:pPr marL="342900" indent="-342900">
              <a:lnSpc>
                <a:spcPts val="1800"/>
              </a:lnSpc>
              <a:spcAft>
                <a:spcPts val="600"/>
              </a:spcAft>
              <a:buSzPct val="100000"/>
              <a:buChar char="•"/>
            </a:pPr>
            <a:r>
              <a:rPr lang="en-US" sz="1400" dirty="0">
                <a:solidFill>
                  <a:srgbClr val="EDEEE7"/>
                </a:solidFill>
                <a:latin typeface="Calibri" pitchFamily="34" charset="0"/>
                <a:ea typeface="Calibri" pitchFamily="34" charset="-122"/>
                <a:cs typeface="Calibri" pitchFamily="34" charset="-120"/>
              </a:rPr>
              <a:t>Onboard more repos — the pattern is proven on reports; each is one JSON + a path</a:t>
            </a:r>
            <a:endParaRPr lang="en-US" sz="1400" dirty="0"/>
          </a:p>
          <a:p>
            <a:pPr marL="342900" indent="-342900">
              <a:lnSpc>
                <a:spcPts val="1800"/>
              </a:lnSpc>
              <a:spcAft>
                <a:spcPts val="600"/>
              </a:spcAft>
              <a:buSzPct val="100000"/>
              <a:buChar char="•"/>
            </a:pPr>
            <a:r>
              <a:rPr lang="en-US" sz="1400" dirty="0">
                <a:solidFill>
                  <a:srgbClr val="EDEEE7"/>
                </a:solidFill>
                <a:latin typeface="Calibri" pitchFamily="34" charset="0"/>
                <a:ea typeface="Calibri" pitchFamily="34" charset="-122"/>
                <a:cs typeface="Calibri" pitchFamily="34" charset="-120"/>
              </a:rPr>
              <a:t>Confluence content cleanup — trim duplicated boilerplate for even leaner retrieval</a:t>
            </a:r>
            <a:endParaRPr lang="en-US" sz="1400" dirty="0"/>
          </a:p>
        </p:txBody>
      </p:sp>
      <p:sp>
        <p:nvSpPr>
          <p:cNvPr id="6" name="Text 4"/>
          <p:cNvSpPr/>
          <p:nvPr/>
        </p:nvSpPr>
        <p:spPr>
          <a:xfrm>
            <a:off x="548640" y="4343400"/>
            <a:ext cx="7315200" cy="274320"/>
          </a:xfrm>
          <a:prstGeom prst="rect">
            <a:avLst/>
          </a:prstGeom>
          <a:noFill/>
          <a:ln/>
        </p:spPr>
        <p:txBody>
          <a:bodyPr wrap="square" rtlCol="0" anchor="ctr"/>
          <a:lstStyle/>
          <a:p>
            <a:pPr indent="0" marL="0">
              <a:buNone/>
            </a:pPr>
            <a:r>
              <a:rPr lang="en-US" sz="1100" b="1" spc="100" kern="0" dirty="0">
                <a:solidFill>
                  <a:srgbClr val="D9A93A"/>
                </a:solidFill>
                <a:latin typeface="Consolas" pitchFamily="34" charset="0"/>
                <a:ea typeface="Consolas" pitchFamily="34" charset="-122"/>
                <a:cs typeface="Consolas" pitchFamily="34" charset="-120"/>
              </a:rPr>
              <a:t>EXPLORE THE LIVE DOCS</a:t>
            </a:r>
            <a:endParaRPr lang="en-US" sz="1100" dirty="0"/>
          </a:p>
        </p:txBody>
      </p:sp>
      <p:sp>
        <p:nvSpPr>
          <p:cNvPr id="7" name="Shape 5"/>
          <p:cNvSpPr/>
          <p:nvPr/>
        </p:nvSpPr>
        <p:spPr>
          <a:xfrm>
            <a:off x="548640" y="4754880"/>
            <a:ext cx="2606040" cy="868680"/>
          </a:xfrm>
          <a:prstGeom prst="roundRect">
            <a:avLst>
              <a:gd name="adj" fmla="val 8421"/>
            </a:avLst>
          </a:prstGeom>
          <a:solidFill>
            <a:srgbClr val="22302A"/>
          </a:solidFill>
          <a:ln w="12700">
            <a:solidFill>
              <a:srgbClr val="3A463D"/>
            </a:solidFill>
            <a:prstDash val="solid"/>
          </a:ln>
        </p:spPr>
      </p:sp>
      <p:sp>
        <p:nvSpPr>
          <p:cNvPr id="8" name="Text 6">
            <a:hlinkClick r:id="rId1" tooltip=""/>
          </p:cNvPr>
          <p:cNvSpPr/>
          <p:nvPr/>
        </p:nvSpPr>
        <p:spPr>
          <a:xfrm>
            <a:off x="594360" y="4892040"/>
            <a:ext cx="2514600" cy="365760"/>
          </a:xfrm>
          <a:prstGeom prst="rect">
            <a:avLst/>
          </a:prstGeom>
          <a:noFill/>
          <a:ln/>
        </p:spPr>
        <p:txBody>
          <a:bodyPr wrap="square" rtlCol="0" anchor="ctr"/>
          <a:lstStyle/>
          <a:p>
            <a:pPr algn="ctr" indent="0" marL="0">
              <a:buNone/>
            </a:pPr>
            <a:r>
              <a:rPr lang="en-US" sz="1600" b="1" u="sng" dirty="0">
                <a:solidFill>
                  <a:srgbClr val="EDEEE7"/>
                </a:solidFill>
                <a:latin typeface="Cambria" pitchFamily="34" charset="0"/>
                <a:ea typeface="Cambria" pitchFamily="34" charset="-122"/>
                <a:cs typeface="Cambria" pitchFamily="34" charset="-120"/>
                <a:hlinkClick r:id="rId1" invalidUrl="" action="" tgtFrame="" tooltip="" history="1" highlightClick="0" endSnd="0">
                  <a:extLst>
                    <a:ext uri="{A12FA001-AC4F-418D-AE19-62706E023703}">
                      <ahyp:hlinkClr xmlns:ahyp="http://schemas.microsoft.com/office/drawing/2018/hyperlinkcolor" val="tx"/>
                    </a:ext>
                  </a:extLst>
                </a:hlinkClick>
              </a:rPr>
              <a:t>Overview</a:t>
            </a:r>
            <a:endParaRPr lang="en-US" sz="1600" dirty="0"/>
          </a:p>
        </p:txBody>
      </p:sp>
      <p:sp>
        <p:nvSpPr>
          <p:cNvPr id="9" name="Text 7">
            <a:hlinkClick r:id="rId2" tooltip=""/>
          </p:cNvPr>
          <p:cNvSpPr/>
          <p:nvPr/>
        </p:nvSpPr>
        <p:spPr>
          <a:xfrm>
            <a:off x="594360" y="5230368"/>
            <a:ext cx="2514600" cy="274320"/>
          </a:xfrm>
          <a:prstGeom prst="rect">
            <a:avLst/>
          </a:prstGeom>
          <a:noFill/>
          <a:ln/>
        </p:spPr>
        <p:txBody>
          <a:bodyPr wrap="square" rtlCol="0" anchor="ctr"/>
          <a:lstStyle/>
          <a:p>
            <a:pPr algn="ctr" indent="0" marL="0">
              <a:buNone/>
            </a:pPr>
            <a:r>
              <a:rPr lang="en-US" sz="1000" u="sng" dirty="0">
                <a:solidFill>
                  <a:srgbClr val="0F8A80"/>
                </a:solidFill>
                <a:latin typeface="Consolas" pitchFamily="34" charset="0"/>
                <a:ea typeface="Consolas" pitchFamily="34" charset="-122"/>
                <a:cs typeface="Consola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a:t>
            </a:r>
            <a:endParaRPr lang="en-US" sz="1000" dirty="0"/>
          </a:p>
        </p:txBody>
      </p:sp>
      <p:sp>
        <p:nvSpPr>
          <p:cNvPr id="10" name="Shape 8"/>
          <p:cNvSpPr/>
          <p:nvPr/>
        </p:nvSpPr>
        <p:spPr>
          <a:xfrm>
            <a:off x="3337560" y="4754880"/>
            <a:ext cx="2606040" cy="868680"/>
          </a:xfrm>
          <a:prstGeom prst="roundRect">
            <a:avLst>
              <a:gd name="adj" fmla="val 8421"/>
            </a:avLst>
          </a:prstGeom>
          <a:solidFill>
            <a:srgbClr val="22302A"/>
          </a:solidFill>
          <a:ln w="12700">
            <a:solidFill>
              <a:srgbClr val="3A463D"/>
            </a:solidFill>
            <a:prstDash val="solid"/>
          </a:ln>
        </p:spPr>
      </p:sp>
      <p:sp>
        <p:nvSpPr>
          <p:cNvPr id="11" name="Text 9">
            <a:hlinkClick r:id="rId3" tooltip=""/>
          </p:cNvPr>
          <p:cNvSpPr/>
          <p:nvPr/>
        </p:nvSpPr>
        <p:spPr>
          <a:xfrm>
            <a:off x="3383280" y="4892040"/>
            <a:ext cx="2514600" cy="365760"/>
          </a:xfrm>
          <a:prstGeom prst="rect">
            <a:avLst/>
          </a:prstGeom>
          <a:noFill/>
          <a:ln/>
        </p:spPr>
        <p:txBody>
          <a:bodyPr wrap="square" rtlCol="0" anchor="ctr"/>
          <a:lstStyle/>
          <a:p>
            <a:pPr algn="ctr" indent="0" marL="0">
              <a:buNone/>
            </a:pPr>
            <a:r>
              <a:rPr lang="en-US" sz="1600" b="1" u="sng" dirty="0">
                <a:solidFill>
                  <a:srgbClr val="EDEEE7"/>
                </a:solidFill>
                <a:latin typeface="Cambria" pitchFamily="34" charset="0"/>
                <a:ea typeface="Cambria" pitchFamily="34" charset="-122"/>
                <a:cs typeface="Cambria" pitchFamily="34" charset="-120"/>
                <a:hlinkClick r:id="rId3" invalidUrl="" action="" tgtFrame="" tooltip="" history="1" highlightClick="0" endSnd="0">
                  <a:extLst>
                    <a:ext uri="{A12FA001-AC4F-418D-AE19-62706E023703}">
                      <ahyp:hlinkClr xmlns:ahyp="http://schemas.microsoft.com/office/drawing/2018/hyperlinkcolor" val="tx"/>
                    </a:ext>
                  </a:extLst>
                </a:hlinkClick>
              </a:rPr>
              <a:t>Architecture</a:t>
            </a:r>
            <a:endParaRPr lang="en-US" sz="1600" dirty="0"/>
          </a:p>
        </p:txBody>
      </p:sp>
      <p:sp>
        <p:nvSpPr>
          <p:cNvPr id="12" name="Text 10">
            <a:hlinkClick r:id="rId4" tooltip=""/>
          </p:cNvPr>
          <p:cNvSpPr/>
          <p:nvPr/>
        </p:nvSpPr>
        <p:spPr>
          <a:xfrm>
            <a:off x="3383280" y="5230368"/>
            <a:ext cx="2514600" cy="274320"/>
          </a:xfrm>
          <a:prstGeom prst="rect">
            <a:avLst/>
          </a:prstGeom>
          <a:noFill/>
          <a:ln/>
        </p:spPr>
        <p:txBody>
          <a:bodyPr wrap="square" rtlCol="0" anchor="ctr"/>
          <a:lstStyle/>
          <a:p>
            <a:pPr algn="ctr" indent="0" marL="0">
              <a:buNone/>
            </a:pPr>
            <a:r>
              <a:rPr lang="en-US" sz="1000" u="sng" dirty="0">
                <a:solidFill>
                  <a:srgbClr val="5B57A6"/>
                </a:solidFill>
                <a:latin typeface="Consolas" pitchFamily="34" charset="0"/>
                <a:ea typeface="Consolas" pitchFamily="34" charset="-122"/>
                <a:cs typeface="Consolas" pitchFamily="34" charset="-120"/>
                <a:hlinkClick r:id="rId4" invalidUrl="" action="" tgtFrame="" tooltip="" history="1" highlightClick="0" endSnd="0">
                  <a:extLst>
                    <a:ext uri="{A12FA001-AC4F-418D-AE19-62706E023703}">
                      <ahyp:hlinkClr xmlns:ahyp="http://schemas.microsoft.com/office/drawing/2018/hyperlinkcolor" val="tx"/>
                    </a:ext>
                  </a:extLst>
                </a:hlinkClick>
              </a:rPr>
              <a:t>open →</a:t>
            </a:r>
            <a:endParaRPr lang="en-US" sz="1000" dirty="0"/>
          </a:p>
        </p:txBody>
      </p:sp>
      <p:sp>
        <p:nvSpPr>
          <p:cNvPr id="13" name="Shape 11"/>
          <p:cNvSpPr/>
          <p:nvPr/>
        </p:nvSpPr>
        <p:spPr>
          <a:xfrm>
            <a:off x="6126480" y="4754880"/>
            <a:ext cx="2606040" cy="868680"/>
          </a:xfrm>
          <a:prstGeom prst="roundRect">
            <a:avLst>
              <a:gd name="adj" fmla="val 8421"/>
            </a:avLst>
          </a:prstGeom>
          <a:solidFill>
            <a:srgbClr val="22302A"/>
          </a:solidFill>
          <a:ln w="12700">
            <a:solidFill>
              <a:srgbClr val="3A463D"/>
            </a:solidFill>
            <a:prstDash val="solid"/>
          </a:ln>
        </p:spPr>
      </p:sp>
      <p:sp>
        <p:nvSpPr>
          <p:cNvPr id="14" name="Text 12">
            <a:hlinkClick r:id="rId5" tooltip=""/>
          </p:cNvPr>
          <p:cNvSpPr/>
          <p:nvPr/>
        </p:nvSpPr>
        <p:spPr>
          <a:xfrm>
            <a:off x="6172200" y="4892040"/>
            <a:ext cx="2514600" cy="365760"/>
          </a:xfrm>
          <a:prstGeom prst="rect">
            <a:avLst/>
          </a:prstGeom>
          <a:noFill/>
          <a:ln/>
        </p:spPr>
        <p:txBody>
          <a:bodyPr wrap="square" rtlCol="0" anchor="ctr"/>
          <a:lstStyle/>
          <a:p>
            <a:pPr algn="ctr" indent="0" marL="0">
              <a:buNone/>
            </a:pPr>
            <a:r>
              <a:rPr lang="en-US" sz="1600" b="1" u="sng" dirty="0">
                <a:solidFill>
                  <a:srgbClr val="EDEEE7"/>
                </a:solidFill>
                <a:latin typeface="Cambria" pitchFamily="34" charset="0"/>
                <a:ea typeface="Cambria" pitchFamily="34" charset="-122"/>
                <a:cs typeface="Cambria"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Contract</a:t>
            </a:r>
            <a:endParaRPr lang="en-US" sz="1600" dirty="0"/>
          </a:p>
        </p:txBody>
      </p:sp>
      <p:sp>
        <p:nvSpPr>
          <p:cNvPr id="15" name="Text 13">
            <a:hlinkClick r:id="rId6" tooltip=""/>
          </p:cNvPr>
          <p:cNvSpPr/>
          <p:nvPr/>
        </p:nvSpPr>
        <p:spPr>
          <a:xfrm>
            <a:off x="6172200" y="5230368"/>
            <a:ext cx="2514600" cy="274320"/>
          </a:xfrm>
          <a:prstGeom prst="rect">
            <a:avLst/>
          </a:prstGeom>
          <a:noFill/>
          <a:ln/>
        </p:spPr>
        <p:txBody>
          <a:bodyPr wrap="square" rtlCol="0" anchor="ctr"/>
          <a:lstStyle/>
          <a:p>
            <a:pPr algn="ctr" indent="0" marL="0">
              <a:buNone/>
            </a:pPr>
            <a:r>
              <a:rPr lang="en-US" sz="1000" u="sng" dirty="0">
                <a:solidFill>
                  <a:srgbClr val="B4892B"/>
                </a:solidFill>
                <a:latin typeface="Consolas" pitchFamily="34" charset="0"/>
                <a:ea typeface="Consolas" pitchFamily="34" charset="-122"/>
                <a:cs typeface="Consolas" pitchFamily="34" charset="-120"/>
                <a:hlinkClick r:id="rId6" invalidUrl="" action="" tgtFrame="" tooltip="" history="1" highlightClick="0" endSnd="0">
                  <a:extLst>
                    <a:ext uri="{A12FA001-AC4F-418D-AE19-62706E023703}">
                      <ahyp:hlinkClr xmlns:ahyp="http://schemas.microsoft.com/office/drawing/2018/hyperlinkcolor" val="tx"/>
                    </a:ext>
                  </a:extLst>
                </a:hlinkClick>
              </a:rPr>
              <a:t>open →</a:t>
            </a:r>
            <a:endParaRPr lang="en-US" sz="1000" dirty="0"/>
          </a:p>
        </p:txBody>
      </p:sp>
      <p:sp>
        <p:nvSpPr>
          <p:cNvPr id="16" name="Shape 14"/>
          <p:cNvSpPr/>
          <p:nvPr/>
        </p:nvSpPr>
        <p:spPr>
          <a:xfrm>
            <a:off x="8915400" y="4754880"/>
            <a:ext cx="2606040" cy="868680"/>
          </a:xfrm>
          <a:prstGeom prst="roundRect">
            <a:avLst>
              <a:gd name="adj" fmla="val 8421"/>
            </a:avLst>
          </a:prstGeom>
          <a:solidFill>
            <a:srgbClr val="22302A"/>
          </a:solidFill>
          <a:ln w="12700">
            <a:solidFill>
              <a:srgbClr val="3A463D"/>
            </a:solidFill>
            <a:prstDash val="solid"/>
          </a:ln>
        </p:spPr>
      </p:sp>
      <p:sp>
        <p:nvSpPr>
          <p:cNvPr id="17" name="Text 15">
            <a:hlinkClick r:id="rId7" tooltip=""/>
          </p:cNvPr>
          <p:cNvSpPr/>
          <p:nvPr/>
        </p:nvSpPr>
        <p:spPr>
          <a:xfrm>
            <a:off x="8961120" y="4892040"/>
            <a:ext cx="2514600" cy="365760"/>
          </a:xfrm>
          <a:prstGeom prst="rect">
            <a:avLst/>
          </a:prstGeom>
          <a:noFill/>
          <a:ln/>
        </p:spPr>
        <p:txBody>
          <a:bodyPr wrap="square" rtlCol="0" anchor="ctr"/>
          <a:lstStyle/>
          <a:p>
            <a:pPr algn="ctr" indent="0" marL="0">
              <a:buNone/>
            </a:pPr>
            <a:r>
              <a:rPr lang="en-US" sz="1600" b="1" u="sng" dirty="0">
                <a:solidFill>
                  <a:srgbClr val="EDEEE7"/>
                </a:solidFill>
                <a:latin typeface="Cambria" pitchFamily="34" charset="0"/>
                <a:ea typeface="Cambria" pitchFamily="34" charset="-122"/>
                <a:cs typeface="Cambria" pitchFamily="34" charset="-120"/>
                <a:hlinkClick r:id="rId7" invalidUrl="" action="" tgtFrame="" tooltip="" history="1" highlightClick="0" endSnd="0">
                  <a:extLst>
                    <a:ext uri="{A12FA001-AC4F-418D-AE19-62706E023703}">
                      <ahyp:hlinkClr xmlns:ahyp="http://schemas.microsoft.com/office/drawing/2018/hyperlinkcolor" val="tx"/>
                    </a:ext>
                  </a:extLst>
                </a:hlinkClick>
              </a:rPr>
              <a:t>Chunking</a:t>
            </a:r>
            <a:endParaRPr lang="en-US" sz="1600" dirty="0"/>
          </a:p>
        </p:txBody>
      </p:sp>
      <p:sp>
        <p:nvSpPr>
          <p:cNvPr id="18" name="Text 16">
            <a:hlinkClick r:id="rId8" tooltip=""/>
          </p:cNvPr>
          <p:cNvSpPr/>
          <p:nvPr/>
        </p:nvSpPr>
        <p:spPr>
          <a:xfrm>
            <a:off x="8961120" y="5230368"/>
            <a:ext cx="2514600" cy="274320"/>
          </a:xfrm>
          <a:prstGeom prst="rect">
            <a:avLst/>
          </a:prstGeom>
          <a:noFill/>
          <a:ln/>
        </p:spPr>
        <p:txBody>
          <a:bodyPr wrap="square" rtlCol="0" anchor="ctr"/>
          <a:lstStyle/>
          <a:p>
            <a:pPr algn="ctr" indent="0" marL="0">
              <a:buNone/>
            </a:pPr>
            <a:r>
              <a:rPr lang="en-US" sz="1000" u="sng" dirty="0">
                <a:solidFill>
                  <a:srgbClr val="0F8A80"/>
                </a:solidFill>
                <a:latin typeface="Consolas" pitchFamily="34" charset="0"/>
                <a:ea typeface="Consolas" pitchFamily="34" charset="-122"/>
                <a:cs typeface="Consolas"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open →</a:t>
            </a:r>
            <a:endParaRPr lang="en-US" sz="1000" dirty="0"/>
          </a:p>
        </p:txBody>
      </p:sp>
      <p:sp>
        <p:nvSpPr>
          <p:cNvPr id="19" name="Text 17"/>
          <p:cNvSpPr/>
          <p:nvPr/>
        </p:nvSpPr>
        <p:spPr>
          <a:xfrm>
            <a:off x="548640" y="6035040"/>
            <a:ext cx="10972800" cy="320040"/>
          </a:xfrm>
          <a:prstGeom prst="rect">
            <a:avLst/>
          </a:prstGeom>
          <a:noFill/>
          <a:ln/>
        </p:spPr>
        <p:txBody>
          <a:bodyPr wrap="square" rtlCol="0" anchor="ctr"/>
          <a:lstStyle/>
          <a:p>
            <a:pPr indent="0" marL="0">
              <a:buNone/>
            </a:pPr>
            <a:r>
              <a:rPr lang="en-US" sz="1100" dirty="0">
                <a:solidFill>
                  <a:srgbClr val="AEB4A5"/>
                </a:solidFill>
                <a:latin typeface="Consolas" pitchFamily="34" charset="0"/>
                <a:ea typeface="Consolas" pitchFamily="34" charset="-122"/>
                <a:cs typeface="Consolas" pitchFamily="34" charset="-120"/>
              </a:rPr>
              <a:t>lp-uworld-rag · one question, both answers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2026-07-13T09:37:06Z</dcterms:created>
  <dcterms:modified xsi:type="dcterms:W3CDTF">2026-07-13T09:37:06Z</dcterms:modified>
</cp:coreProperties>
</file>